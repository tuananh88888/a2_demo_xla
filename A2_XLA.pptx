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70" r:id="rId4"/>
    <p:sldId id="258" r:id="rId5"/>
    <p:sldId id="266" r:id="rId6"/>
    <p:sldId id="267" r:id="rId7"/>
    <p:sldId id="268" r:id="rId8"/>
    <p:sldId id="271" r:id="rId9"/>
    <p:sldId id="272" r:id="rId10"/>
    <p:sldId id="276" r:id="rId11"/>
    <p:sldId id="277" r:id="rId12"/>
    <p:sldId id="278" r:id="rId13"/>
    <p:sldId id="279" r:id="rId14"/>
    <p:sldId id="280" r:id="rId15"/>
    <p:sldId id="273" r:id="rId16"/>
    <p:sldId id="282" r:id="rId17"/>
    <p:sldId id="283" r:id="rId18"/>
    <p:sldId id="281" r:id="rId19"/>
    <p:sldId id="274" r:id="rId20"/>
    <p:sldId id="284" r:id="rId21"/>
    <p:sldId id="275" r:id="rId22"/>
    <p:sldId id="287" r:id="rId23"/>
    <p:sldId id="288" r:id="rId24"/>
    <p:sldId id="289" r:id="rId25"/>
    <p:sldId id="290" r:id="rId26"/>
    <p:sldId id="292" r:id="rId27"/>
    <p:sldId id="293" r:id="rId28"/>
    <p:sldId id="291" r:id="rId29"/>
    <p:sldId id="296" r:id="rId30"/>
    <p:sldId id="294" r:id="rId31"/>
    <p:sldId id="285" r:id="rId32"/>
    <p:sldId id="297" r:id="rId33"/>
    <p:sldId id="298" r:id="rId34"/>
    <p:sldId id="286" r:id="rId35"/>
    <p:sldId id="300" r:id="rId36"/>
    <p:sldId id="299" r:id="rId37"/>
    <p:sldId id="301" r:id="rId38"/>
    <p:sldId id="302" r:id="rId39"/>
    <p:sldId id="303" r:id="rId40"/>
    <p:sldId id="305" r:id="rId41"/>
    <p:sldId id="304" r:id="rId42"/>
    <p:sldId id="306" r:id="rId43"/>
    <p:sldId id="307" r:id="rId44"/>
    <p:sldId id="265" r:id="rId45"/>
  </p:sldIdLst>
  <p:sldSz cx="18288000" cy="10287000"/>
  <p:notesSz cx="6858000" cy="9144000"/>
  <p:embeddedFontLst>
    <p:embeddedFont>
      <p:font typeface="Noto Sans" panose="020B0502040504020204" pitchFamily="34" charset="0"/>
      <p:regular r:id="rId46"/>
      <p:bold r:id="rId47"/>
      <p:italic r:id="rId48"/>
      <p:boldItalic r:id="rId49"/>
    </p:embeddedFont>
    <p:embeddedFont>
      <p:font typeface="Noto Sans Bold" panose="020B0802040504020204" charset="0"/>
      <p:regular r:id="rId50"/>
    </p:embeddedFont>
    <p:embeddedFont>
      <p:font typeface="Noto Sans Italics" panose="020B0604020202020204" charset="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1862" y="-11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 Id="rId9" Type="http://schemas.openxmlformats.org/officeDocument/2006/relationships/image" Target="../media/image17.png"/></Relationships>
</file>

<file path=ppt/slides/_rels/slide13.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 Id="rId9" Type="http://schemas.openxmlformats.org/officeDocument/2006/relationships/image" Target="../media/image18.png"/></Relationships>
</file>

<file path=ppt/slides/_rels/slide14.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 Id="rId9" Type="http://schemas.openxmlformats.org/officeDocument/2006/relationships/image" Target="../media/image25.png"/></Relationships>
</file>

<file path=ppt/slides/_rels/slide23.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 Id="rId9" Type="http://schemas.openxmlformats.org/officeDocument/2006/relationships/image" Target="../media/image26.png"/></Relationships>
</file>

<file path=ppt/slides/_rels/slide24.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s>
</file>

<file path=ppt/slides/_rels/slide25.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10" Type="http://schemas.openxmlformats.org/officeDocument/2006/relationships/image" Target="../media/image28.png"/><Relationship Id="rId4" Type="http://schemas.openxmlformats.org/officeDocument/2006/relationships/image" Target="../media/image3.svg"/><Relationship Id="rId9" Type="http://schemas.openxmlformats.org/officeDocument/2006/relationships/image" Target="../media/image27.png"/></Relationships>
</file>

<file path=ppt/slides/_rels/slide26.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10" Type="http://schemas.openxmlformats.org/officeDocument/2006/relationships/image" Target="../media/image30.png"/><Relationship Id="rId4" Type="http://schemas.openxmlformats.org/officeDocument/2006/relationships/image" Target="../media/image3.svg"/><Relationship Id="rId9" Type="http://schemas.openxmlformats.org/officeDocument/2006/relationships/image" Target="../media/image29.png"/></Relationships>
</file>

<file path=ppt/slides/_rels/slide27.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 Id="rId9" Type="http://schemas.openxmlformats.org/officeDocument/2006/relationships/image" Target="../media/image31.png"/></Relationships>
</file>

<file path=ppt/slides/_rels/slide28.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s>
</file>

<file path=ppt/slides/_rels/slide29.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10" Type="http://schemas.openxmlformats.org/officeDocument/2006/relationships/image" Target="../media/image33.png"/><Relationship Id="rId4" Type="http://schemas.openxmlformats.org/officeDocument/2006/relationships/image" Target="../media/image3.svg"/><Relationship Id="rId9" Type="http://schemas.openxmlformats.org/officeDocument/2006/relationships/image" Target="../media/image32.png"/></Relationships>
</file>

<file path=ppt/slides/_rels/slide30.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s>
</file>

<file path=ppt/slides/_rels/slide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33.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 Id="rId9"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40.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s>
</file>

<file path=ppt/slides/_rels/slide4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922672" y="-453259"/>
            <a:ext cx="13716000" cy="10287000"/>
            <a:chOff x="0" y="0"/>
            <a:chExt cx="812800" cy="609600"/>
          </a:xfrm>
        </p:grpSpPr>
        <p:sp>
          <p:nvSpPr>
            <p:cNvPr id="3" name="Freeform 3"/>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547945" y="9833741"/>
            <a:ext cx="13716000" cy="10287000"/>
            <a:chOff x="0" y="0"/>
            <a:chExt cx="812800" cy="609600"/>
          </a:xfrm>
        </p:grpSpPr>
        <p:sp>
          <p:nvSpPr>
            <p:cNvPr id="6" name="Freeform 6"/>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7168055" y="9833741"/>
            <a:ext cx="2046714" cy="1535036"/>
            <a:chOff x="0" y="0"/>
            <a:chExt cx="812800" cy="609600"/>
          </a:xfrm>
        </p:grpSpPr>
        <p:sp>
          <p:nvSpPr>
            <p:cNvPr id="9" name="Freeform 9"/>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869999" y="9833741"/>
            <a:ext cx="2046714" cy="1535036"/>
            <a:chOff x="0" y="0"/>
            <a:chExt cx="812800" cy="609600"/>
          </a:xfrm>
        </p:grpSpPr>
        <p:sp>
          <p:nvSpPr>
            <p:cNvPr id="12" name="Freeform 12"/>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p:cNvSpPr/>
          <p:nvPr/>
        </p:nvSpPr>
        <p:spPr>
          <a:xfrm>
            <a:off x="1028700" y="3305184"/>
            <a:ext cx="10138495" cy="0"/>
          </a:xfrm>
          <a:prstGeom prst="line">
            <a:avLst/>
          </a:prstGeom>
          <a:ln w="28575" cap="flat">
            <a:solidFill>
              <a:srgbClr val="000000"/>
            </a:solidFill>
            <a:prstDash val="sysDot"/>
            <a:headEnd type="triangle" w="lg" len="med"/>
            <a:tailEnd type="triangle" w="lg" len="med"/>
          </a:ln>
        </p:spPr>
      </p:sp>
      <p:grpSp>
        <p:nvGrpSpPr>
          <p:cNvPr id="15" name="Group 15"/>
          <p:cNvGrpSpPr/>
          <p:nvPr/>
        </p:nvGrpSpPr>
        <p:grpSpPr>
          <a:xfrm>
            <a:off x="1028700" y="1051515"/>
            <a:ext cx="4675461" cy="649857"/>
            <a:chOff x="0" y="0"/>
            <a:chExt cx="1427911" cy="198470"/>
          </a:xfrm>
        </p:grpSpPr>
        <p:sp>
          <p:nvSpPr>
            <p:cNvPr id="16" name="Freeform 16"/>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17" name="TextBox 17"/>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18" name="Freeform 18"/>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9" name="Group 19"/>
          <p:cNvGrpSpPr/>
          <p:nvPr/>
        </p:nvGrpSpPr>
        <p:grpSpPr>
          <a:xfrm>
            <a:off x="1028700" y="4704373"/>
            <a:ext cx="553764" cy="55376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2" name="Freeform 22"/>
          <p:cNvSpPr/>
          <p:nvPr/>
        </p:nvSpPr>
        <p:spPr>
          <a:xfrm>
            <a:off x="1147537" y="4807753"/>
            <a:ext cx="316090" cy="347005"/>
          </a:xfrm>
          <a:custGeom>
            <a:avLst/>
            <a:gdLst/>
            <a:ahLst/>
            <a:cxnLst/>
            <a:rect l="l" t="t" r="r" b="b"/>
            <a:pathLst>
              <a:path w="316090" h="347005">
                <a:moveTo>
                  <a:pt x="0" y="0"/>
                </a:moveTo>
                <a:lnTo>
                  <a:pt x="316090" y="0"/>
                </a:lnTo>
                <a:lnTo>
                  <a:pt x="316090" y="347005"/>
                </a:lnTo>
                <a:lnTo>
                  <a:pt x="0" y="34700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23" name="Group 23"/>
          <p:cNvGrpSpPr/>
          <p:nvPr/>
        </p:nvGrpSpPr>
        <p:grpSpPr>
          <a:xfrm>
            <a:off x="1028700" y="5329858"/>
            <a:ext cx="553764" cy="55376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6" name="Freeform 26"/>
          <p:cNvSpPr/>
          <p:nvPr/>
        </p:nvSpPr>
        <p:spPr>
          <a:xfrm>
            <a:off x="1115909" y="5470865"/>
            <a:ext cx="379346" cy="271749"/>
          </a:xfrm>
          <a:custGeom>
            <a:avLst/>
            <a:gdLst/>
            <a:ahLst/>
            <a:cxnLst/>
            <a:rect l="l" t="t" r="r" b="b"/>
            <a:pathLst>
              <a:path w="379346" h="271749">
                <a:moveTo>
                  <a:pt x="0" y="0"/>
                </a:moveTo>
                <a:lnTo>
                  <a:pt x="379346" y="0"/>
                </a:lnTo>
                <a:lnTo>
                  <a:pt x="379346" y="271749"/>
                </a:lnTo>
                <a:lnTo>
                  <a:pt x="0" y="27174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27" name="Group 27"/>
          <p:cNvGrpSpPr/>
          <p:nvPr/>
        </p:nvGrpSpPr>
        <p:grpSpPr>
          <a:xfrm>
            <a:off x="1028700" y="6021094"/>
            <a:ext cx="10060946" cy="3560770"/>
            <a:chOff x="0" y="0"/>
            <a:chExt cx="2137363" cy="755899"/>
          </a:xfrm>
        </p:grpSpPr>
        <p:sp>
          <p:nvSpPr>
            <p:cNvPr id="28" name="Freeform 28"/>
            <p:cNvSpPr/>
            <p:nvPr/>
          </p:nvSpPr>
          <p:spPr>
            <a:xfrm>
              <a:off x="0" y="0"/>
              <a:ext cx="2137363" cy="755899"/>
            </a:xfrm>
            <a:custGeom>
              <a:avLst/>
              <a:gdLst/>
              <a:ahLst/>
              <a:cxnLst/>
              <a:rect l="l" t="t" r="r" b="b"/>
              <a:pathLst>
                <a:path w="2137363" h="755899">
                  <a:moveTo>
                    <a:pt x="22125" y="0"/>
                  </a:moveTo>
                  <a:lnTo>
                    <a:pt x="2115238" y="0"/>
                  </a:lnTo>
                  <a:cubicBezTo>
                    <a:pt x="2127457" y="0"/>
                    <a:pt x="2137363" y="9906"/>
                    <a:pt x="2137363" y="22125"/>
                  </a:cubicBezTo>
                  <a:lnTo>
                    <a:pt x="2137363" y="733774"/>
                  </a:lnTo>
                  <a:cubicBezTo>
                    <a:pt x="2137363" y="745993"/>
                    <a:pt x="2127457" y="755899"/>
                    <a:pt x="2115238" y="755899"/>
                  </a:cubicBezTo>
                  <a:lnTo>
                    <a:pt x="22125" y="755899"/>
                  </a:lnTo>
                  <a:cubicBezTo>
                    <a:pt x="9906" y="755899"/>
                    <a:pt x="0" y="745993"/>
                    <a:pt x="0" y="733774"/>
                  </a:cubicBezTo>
                  <a:lnTo>
                    <a:pt x="0" y="22125"/>
                  </a:lnTo>
                  <a:cubicBezTo>
                    <a:pt x="0" y="9906"/>
                    <a:pt x="9906" y="0"/>
                    <a:pt x="22125" y="0"/>
                  </a:cubicBezTo>
                  <a:close/>
                </a:path>
              </a:pathLst>
            </a:custGeom>
            <a:solidFill>
              <a:srgbClr val="FFFFFF"/>
            </a:solidFill>
            <a:ln w="19050" cap="sq">
              <a:solidFill>
                <a:srgbClr val="BA97FC"/>
              </a:solidFill>
              <a:prstDash val="solid"/>
              <a:miter/>
            </a:ln>
          </p:spPr>
        </p:sp>
        <p:sp>
          <p:nvSpPr>
            <p:cNvPr id="29" name="TextBox 29"/>
            <p:cNvSpPr txBox="1"/>
            <p:nvPr/>
          </p:nvSpPr>
          <p:spPr>
            <a:xfrm>
              <a:off x="0" y="-38100"/>
              <a:ext cx="2137363" cy="793999"/>
            </a:xfrm>
            <a:prstGeom prst="rect">
              <a:avLst/>
            </a:prstGeom>
          </p:spPr>
          <p:txBody>
            <a:bodyPr lIns="50800" tIns="50800" rIns="50800" bIns="50800" rtlCol="0" anchor="ctr"/>
            <a:lstStyle/>
            <a:p>
              <a:pPr algn="ctr">
                <a:lnSpc>
                  <a:spcPts val="2659"/>
                </a:lnSpc>
              </a:pPr>
              <a:endParaRPr/>
            </a:p>
          </p:txBody>
        </p:sp>
      </p:grpSp>
      <p:sp>
        <p:nvSpPr>
          <p:cNvPr id="30" name="AutoShape 30"/>
          <p:cNvSpPr/>
          <p:nvPr/>
        </p:nvSpPr>
        <p:spPr>
          <a:xfrm>
            <a:off x="1382114" y="7083149"/>
            <a:ext cx="6291621" cy="0"/>
          </a:xfrm>
          <a:prstGeom prst="line">
            <a:avLst/>
          </a:prstGeom>
          <a:ln w="19050" cap="flat">
            <a:solidFill>
              <a:srgbClr val="BA97FC"/>
            </a:solidFill>
            <a:prstDash val="solid"/>
            <a:headEnd type="none" w="sm" len="sm"/>
            <a:tailEnd type="none" w="sm" len="sm"/>
          </a:ln>
        </p:spPr>
      </p:sp>
      <p:sp>
        <p:nvSpPr>
          <p:cNvPr id="31" name="AutoShape 31"/>
          <p:cNvSpPr/>
          <p:nvPr/>
        </p:nvSpPr>
        <p:spPr>
          <a:xfrm>
            <a:off x="1382114" y="7584212"/>
            <a:ext cx="6291621" cy="0"/>
          </a:xfrm>
          <a:prstGeom prst="line">
            <a:avLst/>
          </a:prstGeom>
          <a:ln w="19050" cap="flat">
            <a:solidFill>
              <a:srgbClr val="BA97FC"/>
            </a:solidFill>
            <a:prstDash val="solid"/>
            <a:headEnd type="none" w="sm" len="sm"/>
            <a:tailEnd type="none" w="sm" len="sm"/>
          </a:ln>
        </p:spPr>
      </p:sp>
      <p:sp>
        <p:nvSpPr>
          <p:cNvPr id="32" name="AutoShape 32"/>
          <p:cNvSpPr/>
          <p:nvPr/>
        </p:nvSpPr>
        <p:spPr>
          <a:xfrm>
            <a:off x="1382114" y="8085274"/>
            <a:ext cx="6291621" cy="0"/>
          </a:xfrm>
          <a:prstGeom prst="line">
            <a:avLst/>
          </a:prstGeom>
          <a:ln w="19050" cap="flat">
            <a:solidFill>
              <a:srgbClr val="BA97FC"/>
            </a:solidFill>
            <a:prstDash val="solid"/>
            <a:headEnd type="none" w="sm" len="sm"/>
            <a:tailEnd type="none" w="sm" len="sm"/>
          </a:ln>
        </p:spPr>
      </p:sp>
      <p:grpSp>
        <p:nvGrpSpPr>
          <p:cNvPr id="34" name="Group 34"/>
          <p:cNvGrpSpPr/>
          <p:nvPr/>
        </p:nvGrpSpPr>
        <p:grpSpPr>
          <a:xfrm>
            <a:off x="1354714" y="6742435"/>
            <a:ext cx="298614" cy="298614"/>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B9FF"/>
            </a:solidFill>
          </p:spPr>
        </p:sp>
        <p:sp>
          <p:nvSpPr>
            <p:cNvPr id="36" name="TextBox 3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7" name="Freeform 37"/>
          <p:cNvSpPr/>
          <p:nvPr/>
        </p:nvSpPr>
        <p:spPr>
          <a:xfrm>
            <a:off x="1425873" y="6789877"/>
            <a:ext cx="160761" cy="203729"/>
          </a:xfrm>
          <a:custGeom>
            <a:avLst/>
            <a:gdLst/>
            <a:ahLst/>
            <a:cxnLst/>
            <a:rect l="l" t="t" r="r" b="b"/>
            <a:pathLst>
              <a:path w="160761" h="203729">
                <a:moveTo>
                  <a:pt x="0" y="0"/>
                </a:moveTo>
                <a:lnTo>
                  <a:pt x="160761" y="0"/>
                </a:lnTo>
                <a:lnTo>
                  <a:pt x="160761" y="203729"/>
                </a:lnTo>
                <a:lnTo>
                  <a:pt x="0" y="203729"/>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38" name="Group 38"/>
          <p:cNvGrpSpPr/>
          <p:nvPr/>
        </p:nvGrpSpPr>
        <p:grpSpPr>
          <a:xfrm>
            <a:off x="1356946" y="7239218"/>
            <a:ext cx="298614" cy="298614"/>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B9FF"/>
            </a:solidFill>
          </p:spPr>
        </p:sp>
        <p:sp>
          <p:nvSpPr>
            <p:cNvPr id="40" name="TextBox 4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41" name="Freeform 41"/>
          <p:cNvSpPr/>
          <p:nvPr/>
        </p:nvSpPr>
        <p:spPr>
          <a:xfrm>
            <a:off x="1409501" y="7327483"/>
            <a:ext cx="193505" cy="122084"/>
          </a:xfrm>
          <a:custGeom>
            <a:avLst/>
            <a:gdLst/>
            <a:ahLst/>
            <a:cxnLst/>
            <a:rect l="l" t="t" r="r" b="b"/>
            <a:pathLst>
              <a:path w="193505" h="122084">
                <a:moveTo>
                  <a:pt x="0" y="0"/>
                </a:moveTo>
                <a:lnTo>
                  <a:pt x="193505" y="0"/>
                </a:lnTo>
                <a:lnTo>
                  <a:pt x="193505" y="122084"/>
                </a:lnTo>
                <a:lnTo>
                  <a:pt x="0" y="122084"/>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42" name="Group 42"/>
          <p:cNvGrpSpPr/>
          <p:nvPr/>
        </p:nvGrpSpPr>
        <p:grpSpPr>
          <a:xfrm>
            <a:off x="1356946" y="7740280"/>
            <a:ext cx="298614" cy="298614"/>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B9FF"/>
            </a:solidFill>
          </p:spPr>
        </p:sp>
        <p:sp>
          <p:nvSpPr>
            <p:cNvPr id="44" name="TextBox 4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45" name="Freeform 45"/>
          <p:cNvSpPr/>
          <p:nvPr/>
        </p:nvSpPr>
        <p:spPr>
          <a:xfrm>
            <a:off x="1425873" y="7787723"/>
            <a:ext cx="160761" cy="203729"/>
          </a:xfrm>
          <a:custGeom>
            <a:avLst/>
            <a:gdLst/>
            <a:ahLst/>
            <a:cxnLst/>
            <a:rect l="l" t="t" r="r" b="b"/>
            <a:pathLst>
              <a:path w="160761" h="203729">
                <a:moveTo>
                  <a:pt x="0" y="0"/>
                </a:moveTo>
                <a:lnTo>
                  <a:pt x="160761" y="0"/>
                </a:lnTo>
                <a:lnTo>
                  <a:pt x="160761" y="203729"/>
                </a:lnTo>
                <a:lnTo>
                  <a:pt x="0" y="203729"/>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50" name="Group 50"/>
          <p:cNvGrpSpPr/>
          <p:nvPr/>
        </p:nvGrpSpPr>
        <p:grpSpPr>
          <a:xfrm>
            <a:off x="11640961" y="304912"/>
            <a:ext cx="11731896" cy="8798922"/>
            <a:chOff x="0" y="0"/>
            <a:chExt cx="812800" cy="609600"/>
          </a:xfrm>
        </p:grpSpPr>
        <p:sp>
          <p:nvSpPr>
            <p:cNvPr id="51" name="Freeform 51"/>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52" name="TextBox 52"/>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53" name="TextBox 53"/>
          <p:cNvSpPr txBox="1"/>
          <p:nvPr/>
        </p:nvSpPr>
        <p:spPr>
          <a:xfrm>
            <a:off x="1028700" y="2129997"/>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XỬ LÝ ẢNH VÀ THỊ GIÁC MÁY TÍNH</a:t>
            </a:r>
          </a:p>
        </p:txBody>
      </p:sp>
      <p:grpSp>
        <p:nvGrpSpPr>
          <p:cNvPr id="54" name="Group 54"/>
          <p:cNvGrpSpPr/>
          <p:nvPr/>
        </p:nvGrpSpPr>
        <p:grpSpPr>
          <a:xfrm>
            <a:off x="12069673" y="782942"/>
            <a:ext cx="11731896" cy="8798922"/>
            <a:chOff x="0" y="0"/>
            <a:chExt cx="812800" cy="609600"/>
          </a:xfrm>
        </p:grpSpPr>
        <p:sp>
          <p:nvSpPr>
            <p:cNvPr id="55" name="Freeform 55"/>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56" name="TextBox 56"/>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57" name="Freeform 57"/>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8" name="Freeform 58"/>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8">
              <a:alphaModFix amt="16000"/>
            </a:blip>
            <a:stretch>
              <a:fillRect/>
            </a:stretch>
          </a:blipFill>
        </p:spPr>
      </p:sp>
      <p:sp>
        <p:nvSpPr>
          <p:cNvPr id="59" name="TextBox 59"/>
          <p:cNvSpPr txBox="1"/>
          <p:nvPr/>
        </p:nvSpPr>
        <p:spPr>
          <a:xfrm>
            <a:off x="2295314" y="1141458"/>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Logo</a:t>
            </a:r>
          </a:p>
        </p:txBody>
      </p:sp>
      <p:sp>
        <p:nvSpPr>
          <p:cNvPr id="60" name="TextBox 60"/>
          <p:cNvSpPr txBox="1"/>
          <p:nvPr/>
        </p:nvSpPr>
        <p:spPr>
          <a:xfrm>
            <a:off x="1816223" y="6704335"/>
            <a:ext cx="1381347" cy="359073"/>
          </a:xfrm>
          <a:prstGeom prst="rect">
            <a:avLst/>
          </a:prstGeom>
        </p:spPr>
        <p:txBody>
          <a:bodyPr lIns="0" tIns="0" rIns="0" bIns="0" rtlCol="0" anchor="t">
            <a:spAutoFit/>
          </a:bodyPr>
          <a:lstStyle/>
          <a:p>
            <a:pPr algn="l">
              <a:lnSpc>
                <a:spcPts val="2786"/>
              </a:lnSpc>
            </a:pPr>
            <a:r>
              <a:rPr lang="en-US" sz="2400" i="1">
                <a:solidFill>
                  <a:srgbClr val="000000"/>
                </a:solidFill>
                <a:latin typeface="Noto Sans Italics"/>
                <a:ea typeface="Noto Sans Italics"/>
                <a:cs typeface="Noto Sans Italics"/>
                <a:sym typeface="Noto Sans Italics"/>
              </a:rPr>
              <a:t>Sinh viên</a:t>
            </a:r>
          </a:p>
        </p:txBody>
      </p:sp>
      <p:sp>
        <p:nvSpPr>
          <p:cNvPr id="61" name="TextBox 61"/>
          <p:cNvSpPr txBox="1"/>
          <p:nvPr/>
        </p:nvSpPr>
        <p:spPr>
          <a:xfrm>
            <a:off x="1028700" y="3548071"/>
            <a:ext cx="10907623" cy="596900"/>
          </a:xfrm>
          <a:prstGeom prst="rect">
            <a:avLst/>
          </a:prstGeom>
        </p:spPr>
        <p:txBody>
          <a:bodyPr lIns="0" tIns="0" rIns="0" bIns="0" rtlCol="0" anchor="t">
            <a:spAutoFit/>
          </a:bodyPr>
          <a:lstStyle/>
          <a:p>
            <a:pPr algn="l">
              <a:lnSpc>
                <a:spcPts val="4900"/>
              </a:lnSpc>
            </a:pPr>
            <a:r>
              <a:rPr lang="vi-VN" sz="3500" b="1">
                <a:solidFill>
                  <a:srgbClr val="5F0EFF"/>
                </a:solidFill>
                <a:latin typeface="Noto Sans Bold"/>
                <a:ea typeface="Noto Sans Bold"/>
                <a:cs typeface="Noto Sans Bold"/>
                <a:sym typeface="Noto Sans Bold"/>
              </a:rPr>
              <a:t>HISTOGRAM VÀ TĂNG CƯỜNG CHẤT LƯỢNG ẢNH</a:t>
            </a:r>
            <a:endParaRPr lang="en-US" sz="3500" b="1">
              <a:solidFill>
                <a:srgbClr val="5F0EFF"/>
              </a:solidFill>
              <a:latin typeface="Noto Sans Bold"/>
              <a:ea typeface="Noto Sans Bold"/>
              <a:cs typeface="Noto Sans Bold"/>
              <a:sym typeface="Noto Sans Bold"/>
            </a:endParaRPr>
          </a:p>
        </p:txBody>
      </p:sp>
      <p:sp>
        <p:nvSpPr>
          <p:cNvPr id="62" name="TextBox 62"/>
          <p:cNvSpPr txBox="1"/>
          <p:nvPr/>
        </p:nvSpPr>
        <p:spPr>
          <a:xfrm>
            <a:off x="1753009" y="4760128"/>
            <a:ext cx="6981178" cy="422275"/>
          </a:xfrm>
          <a:prstGeom prst="rect">
            <a:avLst/>
          </a:prstGeom>
        </p:spPr>
        <p:txBody>
          <a:bodyPr lIns="0" tIns="0" rIns="0" bIns="0" rtlCol="0" anchor="t">
            <a:spAutoFit/>
          </a:bodyPr>
          <a:lstStyle/>
          <a:p>
            <a:pPr algn="l">
              <a:lnSpc>
                <a:spcPts val="3499"/>
              </a:lnSpc>
            </a:pPr>
            <a:r>
              <a:rPr lang="en-US" sz="2499">
                <a:solidFill>
                  <a:srgbClr val="000000"/>
                </a:solidFill>
                <a:latin typeface="Noto Sans"/>
                <a:ea typeface="Noto Sans"/>
                <a:cs typeface="Noto Sans"/>
                <a:sym typeface="Noto Sans"/>
              </a:rPr>
              <a:t>TRƯỜNG ĐẠI HỌC SƯ PHẠM HÀ NỘI 2</a:t>
            </a:r>
          </a:p>
        </p:txBody>
      </p:sp>
      <p:sp>
        <p:nvSpPr>
          <p:cNvPr id="63" name="TextBox 63"/>
          <p:cNvSpPr txBox="1"/>
          <p:nvPr/>
        </p:nvSpPr>
        <p:spPr>
          <a:xfrm>
            <a:off x="1784782" y="5371790"/>
            <a:ext cx="7131932" cy="422275"/>
          </a:xfrm>
          <a:prstGeom prst="rect">
            <a:avLst/>
          </a:prstGeom>
        </p:spPr>
        <p:txBody>
          <a:bodyPr lIns="0" tIns="0" rIns="0" bIns="0" rtlCol="0" anchor="t">
            <a:spAutoFit/>
          </a:bodyPr>
          <a:lstStyle/>
          <a:p>
            <a:pPr algn="l">
              <a:lnSpc>
                <a:spcPts val="3499"/>
              </a:lnSpc>
            </a:pPr>
            <a:r>
              <a:rPr lang="en-US" sz="2499">
                <a:solidFill>
                  <a:srgbClr val="000000"/>
                </a:solidFill>
                <a:latin typeface="Noto Sans"/>
                <a:ea typeface="Noto Sans"/>
                <a:cs typeface="Noto Sans"/>
                <a:sym typeface="Noto Sans"/>
              </a:rPr>
              <a:t>K49.CNTT</a:t>
            </a:r>
          </a:p>
        </p:txBody>
      </p:sp>
      <p:sp>
        <p:nvSpPr>
          <p:cNvPr id="64" name="TextBox 64"/>
          <p:cNvSpPr txBox="1"/>
          <p:nvPr/>
        </p:nvSpPr>
        <p:spPr>
          <a:xfrm>
            <a:off x="4755933" y="6704335"/>
            <a:ext cx="4809477" cy="359073"/>
          </a:xfrm>
          <a:prstGeom prst="rect">
            <a:avLst/>
          </a:prstGeom>
        </p:spPr>
        <p:txBody>
          <a:bodyPr wrap="square" lIns="0" tIns="0" rIns="0" bIns="0" rtlCol="0" anchor="t">
            <a:spAutoFit/>
          </a:bodyPr>
          <a:lstStyle/>
          <a:p>
            <a:pPr algn="l">
              <a:lnSpc>
                <a:spcPts val="2786"/>
              </a:lnSpc>
            </a:pPr>
            <a:r>
              <a:rPr lang="en-US" sz="2400" i="1">
                <a:solidFill>
                  <a:srgbClr val="000000"/>
                </a:solidFill>
                <a:latin typeface="Noto Sans Italics"/>
                <a:ea typeface="Noto Sans Italics"/>
                <a:cs typeface="Noto Sans Italics"/>
                <a:sym typeface="Noto Sans Italics"/>
              </a:rPr>
              <a:t>: Hoàng Anh Tuấn – Vũ Đức Thành</a:t>
            </a:r>
          </a:p>
        </p:txBody>
      </p:sp>
      <p:sp>
        <p:nvSpPr>
          <p:cNvPr id="65" name="TextBox 65"/>
          <p:cNvSpPr txBox="1"/>
          <p:nvPr/>
        </p:nvSpPr>
        <p:spPr>
          <a:xfrm>
            <a:off x="1816223" y="7197070"/>
            <a:ext cx="2131734" cy="359073"/>
          </a:xfrm>
          <a:prstGeom prst="rect">
            <a:avLst/>
          </a:prstGeom>
        </p:spPr>
        <p:txBody>
          <a:bodyPr lIns="0" tIns="0" rIns="0" bIns="0" rtlCol="0" anchor="t">
            <a:spAutoFit/>
          </a:bodyPr>
          <a:lstStyle/>
          <a:p>
            <a:pPr algn="l">
              <a:lnSpc>
                <a:spcPts val="2786"/>
              </a:lnSpc>
            </a:pPr>
            <a:r>
              <a:rPr lang="en-US" sz="2400" i="1">
                <a:solidFill>
                  <a:srgbClr val="000000"/>
                </a:solidFill>
                <a:latin typeface="Noto Sans Italics"/>
                <a:ea typeface="Noto Sans Italics"/>
                <a:cs typeface="Noto Sans Italics"/>
                <a:sym typeface="Noto Sans Italics"/>
              </a:rPr>
              <a:t>Mã số sinh viên</a:t>
            </a:r>
          </a:p>
        </p:txBody>
      </p:sp>
      <p:sp>
        <p:nvSpPr>
          <p:cNvPr id="66" name="TextBox 66"/>
          <p:cNvSpPr txBox="1"/>
          <p:nvPr/>
        </p:nvSpPr>
        <p:spPr>
          <a:xfrm>
            <a:off x="4755934" y="7197070"/>
            <a:ext cx="4809476" cy="359073"/>
          </a:xfrm>
          <a:prstGeom prst="rect">
            <a:avLst/>
          </a:prstGeom>
        </p:spPr>
        <p:txBody>
          <a:bodyPr wrap="square" lIns="0" tIns="0" rIns="0" bIns="0" rtlCol="0" anchor="t">
            <a:spAutoFit/>
          </a:bodyPr>
          <a:lstStyle/>
          <a:p>
            <a:pPr algn="l">
              <a:lnSpc>
                <a:spcPts val="2786"/>
              </a:lnSpc>
            </a:pPr>
            <a:r>
              <a:rPr lang="en-US" sz="2400" i="1">
                <a:solidFill>
                  <a:srgbClr val="000000"/>
                </a:solidFill>
                <a:latin typeface="Noto Sans Italics"/>
                <a:ea typeface="Noto Sans Italics"/>
                <a:cs typeface="Noto Sans Italics"/>
                <a:sym typeface="Noto Sans Italics"/>
              </a:rPr>
              <a:t>: 237480201029 - 237480201027</a:t>
            </a:r>
          </a:p>
        </p:txBody>
      </p:sp>
      <p:sp>
        <p:nvSpPr>
          <p:cNvPr id="67" name="TextBox 67"/>
          <p:cNvSpPr txBox="1"/>
          <p:nvPr/>
        </p:nvSpPr>
        <p:spPr>
          <a:xfrm>
            <a:off x="1816223" y="7698133"/>
            <a:ext cx="2847308" cy="359073"/>
          </a:xfrm>
          <a:prstGeom prst="rect">
            <a:avLst/>
          </a:prstGeom>
        </p:spPr>
        <p:txBody>
          <a:bodyPr lIns="0" tIns="0" rIns="0" bIns="0" rtlCol="0" anchor="t">
            <a:spAutoFit/>
          </a:bodyPr>
          <a:lstStyle/>
          <a:p>
            <a:pPr algn="l">
              <a:lnSpc>
                <a:spcPts val="2786"/>
              </a:lnSpc>
            </a:pPr>
            <a:r>
              <a:rPr lang="en-US" sz="2400" i="1">
                <a:solidFill>
                  <a:srgbClr val="000000"/>
                </a:solidFill>
                <a:latin typeface="Noto Sans Italics"/>
                <a:ea typeface="Noto Sans Italics"/>
                <a:cs typeface="Noto Sans Italics"/>
                <a:sym typeface="Noto Sans Italics"/>
              </a:rPr>
              <a:t>Giảng viên </a:t>
            </a:r>
          </a:p>
        </p:txBody>
      </p:sp>
      <p:sp>
        <p:nvSpPr>
          <p:cNvPr id="68" name="TextBox 68"/>
          <p:cNvSpPr txBox="1"/>
          <p:nvPr/>
        </p:nvSpPr>
        <p:spPr>
          <a:xfrm>
            <a:off x="4755934" y="7698133"/>
            <a:ext cx="2890400" cy="359073"/>
          </a:xfrm>
          <a:prstGeom prst="rect">
            <a:avLst/>
          </a:prstGeom>
        </p:spPr>
        <p:txBody>
          <a:bodyPr lIns="0" tIns="0" rIns="0" bIns="0" rtlCol="0" anchor="t">
            <a:spAutoFit/>
          </a:bodyPr>
          <a:lstStyle/>
          <a:p>
            <a:pPr algn="l">
              <a:lnSpc>
                <a:spcPts val="2786"/>
              </a:lnSpc>
            </a:pPr>
            <a:r>
              <a:rPr lang="en-US" sz="2400" i="1">
                <a:solidFill>
                  <a:srgbClr val="000000"/>
                </a:solidFill>
                <a:latin typeface="Noto Sans Italics"/>
                <a:ea typeface="Noto Sans Italics"/>
                <a:cs typeface="Noto Sans Italics"/>
                <a:sym typeface="Noto Sans Italics"/>
              </a:rPr>
              <a:t>: Lưu Thị Bích Hương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922672" y="-453259"/>
            <a:ext cx="13716000" cy="10287000"/>
            <a:chOff x="0" y="0"/>
            <a:chExt cx="812800" cy="609600"/>
          </a:xfrm>
        </p:grpSpPr>
        <p:sp>
          <p:nvSpPr>
            <p:cNvPr id="3" name="Freeform 3"/>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547945" y="9833741"/>
            <a:ext cx="13716000" cy="10287000"/>
            <a:chOff x="0" y="0"/>
            <a:chExt cx="812800" cy="609600"/>
          </a:xfrm>
        </p:grpSpPr>
        <p:sp>
          <p:nvSpPr>
            <p:cNvPr id="6" name="Freeform 6"/>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7168055" y="9833741"/>
            <a:ext cx="2046714" cy="1535036"/>
            <a:chOff x="0" y="0"/>
            <a:chExt cx="812800" cy="609600"/>
          </a:xfrm>
        </p:grpSpPr>
        <p:sp>
          <p:nvSpPr>
            <p:cNvPr id="9" name="Freeform 9"/>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869999" y="9833741"/>
            <a:ext cx="2046714" cy="1535036"/>
            <a:chOff x="0" y="0"/>
            <a:chExt cx="812800" cy="609600"/>
          </a:xfrm>
        </p:grpSpPr>
        <p:sp>
          <p:nvSpPr>
            <p:cNvPr id="12" name="Freeform 12"/>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p:cNvSpPr/>
          <p:nvPr/>
        </p:nvSpPr>
        <p:spPr>
          <a:xfrm>
            <a:off x="1028700" y="2837083"/>
            <a:ext cx="10138495" cy="0"/>
          </a:xfrm>
          <a:prstGeom prst="line">
            <a:avLst/>
          </a:prstGeom>
          <a:ln w="19050" cap="flat">
            <a:solidFill>
              <a:srgbClr val="000000"/>
            </a:solidFill>
            <a:prstDash val="solid"/>
            <a:headEnd type="none" w="sm" len="sm"/>
            <a:tailEnd type="none" w="sm" len="sm"/>
          </a:ln>
        </p:spPr>
      </p:sp>
      <p:grpSp>
        <p:nvGrpSpPr>
          <p:cNvPr id="15" name="Group 15"/>
          <p:cNvGrpSpPr/>
          <p:nvPr/>
        </p:nvGrpSpPr>
        <p:grpSpPr>
          <a:xfrm>
            <a:off x="1055099" y="3893008"/>
            <a:ext cx="10138495" cy="726721"/>
            <a:chOff x="0" y="0"/>
            <a:chExt cx="3096350" cy="221945"/>
          </a:xfrm>
        </p:grpSpPr>
        <p:sp>
          <p:nvSpPr>
            <p:cNvPr id="16" name="Freeform 16"/>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17" name="TextBox 17"/>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18" name="AutoShape 18"/>
          <p:cNvSpPr/>
          <p:nvPr/>
        </p:nvSpPr>
        <p:spPr>
          <a:xfrm>
            <a:off x="2155186" y="4057972"/>
            <a:ext cx="0" cy="396795"/>
          </a:xfrm>
          <a:prstGeom prst="line">
            <a:avLst/>
          </a:prstGeom>
          <a:ln w="19050" cap="flat">
            <a:solidFill>
              <a:srgbClr val="BA97FC"/>
            </a:solidFill>
            <a:prstDash val="solid"/>
            <a:headEnd type="none" w="sm" len="sm"/>
            <a:tailEnd type="none" w="sm" len="sm"/>
          </a:ln>
        </p:spPr>
      </p:sp>
      <p:grpSp>
        <p:nvGrpSpPr>
          <p:cNvPr id="19" name="Group 19"/>
          <p:cNvGrpSpPr/>
          <p:nvPr/>
        </p:nvGrpSpPr>
        <p:grpSpPr>
          <a:xfrm>
            <a:off x="11640961" y="304912"/>
            <a:ext cx="11731896" cy="8798922"/>
            <a:chOff x="0" y="0"/>
            <a:chExt cx="812800" cy="609600"/>
          </a:xfrm>
        </p:grpSpPr>
        <p:sp>
          <p:nvSpPr>
            <p:cNvPr id="20" name="Freeform 20"/>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21" name="TextBox 21"/>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TextBox 22"/>
          <p:cNvSpPr txBox="1"/>
          <p:nvPr/>
        </p:nvSpPr>
        <p:spPr>
          <a:xfrm>
            <a:off x="1028700" y="1948874"/>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MỤC LỤC</a:t>
            </a:r>
          </a:p>
        </p:txBody>
      </p:sp>
      <p:grpSp>
        <p:nvGrpSpPr>
          <p:cNvPr id="23" name="Group 23"/>
          <p:cNvGrpSpPr/>
          <p:nvPr/>
        </p:nvGrpSpPr>
        <p:grpSpPr>
          <a:xfrm>
            <a:off x="12069673" y="782942"/>
            <a:ext cx="11731896" cy="8798922"/>
            <a:chOff x="0" y="0"/>
            <a:chExt cx="812800" cy="609600"/>
          </a:xfrm>
        </p:grpSpPr>
        <p:sp>
          <p:nvSpPr>
            <p:cNvPr id="24" name="Freeform 24"/>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5" name="TextBox 25"/>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6" name="Freeform 26"/>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7" name="Freeform 27"/>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sp>
        <p:nvSpPr>
          <p:cNvPr id="28" name="TextBox 28"/>
          <p:cNvSpPr txBox="1"/>
          <p:nvPr/>
        </p:nvSpPr>
        <p:spPr>
          <a:xfrm>
            <a:off x="1028700" y="3079970"/>
            <a:ext cx="10907623" cy="596900"/>
          </a:xfrm>
          <a:prstGeom prst="rect">
            <a:avLst/>
          </a:prstGeom>
        </p:spPr>
        <p:txBody>
          <a:bodyPr lIns="0" tIns="0" rIns="0" bIns="0" rtlCol="0" anchor="t">
            <a:spAutoFit/>
          </a:bodyPr>
          <a:lstStyle/>
          <a:p>
            <a:pPr algn="l">
              <a:lnSpc>
                <a:spcPts val="4900"/>
              </a:lnSpc>
            </a:pPr>
            <a:r>
              <a:rPr lang="en-US" sz="3500" b="1">
                <a:solidFill>
                  <a:srgbClr val="5F0EFF"/>
                </a:solidFill>
                <a:latin typeface="Noto Sans Bold"/>
                <a:ea typeface="Noto Sans Bold"/>
                <a:cs typeface="Noto Sans Bold"/>
                <a:sym typeface="Noto Sans Bold"/>
              </a:rPr>
              <a:t>Nội dung trình bày</a:t>
            </a:r>
          </a:p>
        </p:txBody>
      </p:sp>
      <p:sp>
        <p:nvSpPr>
          <p:cNvPr id="29" name="TextBox 29"/>
          <p:cNvSpPr txBox="1"/>
          <p:nvPr/>
        </p:nvSpPr>
        <p:spPr>
          <a:xfrm>
            <a:off x="1344504" y="4059201"/>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01</a:t>
            </a:r>
          </a:p>
        </p:txBody>
      </p:sp>
      <p:sp>
        <p:nvSpPr>
          <p:cNvPr id="30" name="TextBox 30"/>
          <p:cNvSpPr txBox="1"/>
          <p:nvPr/>
        </p:nvSpPr>
        <p:spPr>
          <a:xfrm>
            <a:off x="2313716" y="4067330"/>
            <a:ext cx="2890400" cy="356488"/>
          </a:xfrm>
          <a:prstGeom prst="rect">
            <a:avLst/>
          </a:prstGeom>
        </p:spPr>
        <p:txBody>
          <a:bodyPr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Mở đầu</a:t>
            </a:r>
          </a:p>
        </p:txBody>
      </p:sp>
      <p:grpSp>
        <p:nvGrpSpPr>
          <p:cNvPr id="31" name="Group 31"/>
          <p:cNvGrpSpPr/>
          <p:nvPr/>
        </p:nvGrpSpPr>
        <p:grpSpPr>
          <a:xfrm>
            <a:off x="1055099" y="4794423"/>
            <a:ext cx="10138495" cy="726721"/>
            <a:chOff x="0" y="0"/>
            <a:chExt cx="3096350" cy="221945"/>
          </a:xfrm>
        </p:grpSpPr>
        <p:sp>
          <p:nvSpPr>
            <p:cNvPr id="32" name="Freeform 32"/>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33" name="TextBox 33"/>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34" name="AutoShape 34"/>
          <p:cNvSpPr/>
          <p:nvPr/>
        </p:nvSpPr>
        <p:spPr>
          <a:xfrm>
            <a:off x="2155186" y="4959386"/>
            <a:ext cx="0" cy="396795"/>
          </a:xfrm>
          <a:prstGeom prst="line">
            <a:avLst/>
          </a:prstGeom>
          <a:ln w="19050" cap="flat">
            <a:solidFill>
              <a:srgbClr val="BA97FC"/>
            </a:solidFill>
            <a:prstDash val="solid"/>
            <a:headEnd type="none" w="sm" len="sm"/>
            <a:tailEnd type="none" w="sm" len="sm"/>
          </a:ln>
        </p:spPr>
      </p:sp>
      <p:sp>
        <p:nvSpPr>
          <p:cNvPr id="35" name="TextBox 35"/>
          <p:cNvSpPr txBox="1"/>
          <p:nvPr/>
        </p:nvSpPr>
        <p:spPr>
          <a:xfrm>
            <a:off x="1344504" y="4960616"/>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02</a:t>
            </a:r>
          </a:p>
        </p:txBody>
      </p:sp>
      <p:sp>
        <p:nvSpPr>
          <p:cNvPr id="36" name="TextBox 36"/>
          <p:cNvSpPr txBox="1"/>
          <p:nvPr/>
        </p:nvSpPr>
        <p:spPr>
          <a:xfrm>
            <a:off x="2313716" y="4968745"/>
            <a:ext cx="2890400" cy="356488"/>
          </a:xfrm>
          <a:prstGeom prst="rect">
            <a:avLst/>
          </a:prstGeom>
        </p:spPr>
        <p:txBody>
          <a:bodyPr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Cơ sở lý thuyết</a:t>
            </a:r>
          </a:p>
        </p:txBody>
      </p:sp>
      <p:grpSp>
        <p:nvGrpSpPr>
          <p:cNvPr id="37" name="Group 37"/>
          <p:cNvGrpSpPr/>
          <p:nvPr/>
        </p:nvGrpSpPr>
        <p:grpSpPr>
          <a:xfrm>
            <a:off x="1055099" y="5692594"/>
            <a:ext cx="10138495" cy="726721"/>
            <a:chOff x="0" y="0"/>
            <a:chExt cx="3096350" cy="221945"/>
          </a:xfrm>
        </p:grpSpPr>
        <p:sp>
          <p:nvSpPr>
            <p:cNvPr id="38" name="Freeform 38"/>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39" name="TextBox 39"/>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40" name="AutoShape 40"/>
          <p:cNvSpPr/>
          <p:nvPr/>
        </p:nvSpPr>
        <p:spPr>
          <a:xfrm>
            <a:off x="2155186" y="5857558"/>
            <a:ext cx="0" cy="396795"/>
          </a:xfrm>
          <a:prstGeom prst="line">
            <a:avLst/>
          </a:prstGeom>
          <a:ln w="19050" cap="flat">
            <a:solidFill>
              <a:srgbClr val="BA97FC"/>
            </a:solidFill>
            <a:prstDash val="solid"/>
            <a:headEnd type="none" w="sm" len="sm"/>
            <a:tailEnd type="none" w="sm" len="sm"/>
          </a:ln>
        </p:spPr>
      </p:sp>
      <p:sp>
        <p:nvSpPr>
          <p:cNvPr id="41" name="TextBox 41"/>
          <p:cNvSpPr txBox="1"/>
          <p:nvPr/>
        </p:nvSpPr>
        <p:spPr>
          <a:xfrm>
            <a:off x="1344504" y="5858788"/>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03</a:t>
            </a:r>
          </a:p>
        </p:txBody>
      </p:sp>
      <p:sp>
        <p:nvSpPr>
          <p:cNvPr id="42" name="TextBox 42"/>
          <p:cNvSpPr txBox="1"/>
          <p:nvPr/>
        </p:nvSpPr>
        <p:spPr>
          <a:xfrm>
            <a:off x="2313715" y="5866916"/>
            <a:ext cx="8609283" cy="348109"/>
          </a:xfrm>
          <a:prstGeom prst="rect">
            <a:avLst/>
          </a:prstGeom>
        </p:spPr>
        <p:txBody>
          <a:bodyPr wrap="square" lIns="0" tIns="0" rIns="0" bIns="0" rtlCol="0" anchor="t">
            <a:spAutoFit/>
          </a:bodyPr>
          <a:lstStyle/>
          <a:p>
            <a:pPr algn="l">
              <a:lnSpc>
                <a:spcPts val="2926"/>
              </a:lnSpc>
            </a:pPr>
            <a:r>
              <a:rPr lang="vi-VN" sz="2090" b="1">
                <a:solidFill>
                  <a:srgbClr val="000000"/>
                </a:solidFill>
                <a:latin typeface="Noto Sans Bold"/>
                <a:ea typeface="Noto Sans Bold"/>
                <a:cs typeface="Noto Sans Bold"/>
                <a:sym typeface="Noto Sans Bold"/>
              </a:rPr>
              <a:t>Các kỹ thuật tăng cường chất lượng ảnh dựa trên histogram</a:t>
            </a:r>
            <a:endParaRPr lang="en-US" sz="2090" b="1">
              <a:solidFill>
                <a:srgbClr val="000000"/>
              </a:solidFill>
              <a:latin typeface="Noto Sans Bold"/>
              <a:ea typeface="Noto Sans Bold"/>
              <a:cs typeface="Noto Sans Bold"/>
              <a:sym typeface="Noto Sans Bold"/>
            </a:endParaRPr>
          </a:p>
        </p:txBody>
      </p:sp>
      <p:grpSp>
        <p:nvGrpSpPr>
          <p:cNvPr id="43" name="Group 43"/>
          <p:cNvGrpSpPr/>
          <p:nvPr/>
        </p:nvGrpSpPr>
        <p:grpSpPr>
          <a:xfrm>
            <a:off x="1055099" y="6590766"/>
            <a:ext cx="10138495" cy="726721"/>
            <a:chOff x="0" y="0"/>
            <a:chExt cx="3096350" cy="221945"/>
          </a:xfrm>
        </p:grpSpPr>
        <p:sp>
          <p:nvSpPr>
            <p:cNvPr id="44" name="Freeform 44"/>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45" name="TextBox 45"/>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46" name="AutoShape 46"/>
          <p:cNvSpPr/>
          <p:nvPr/>
        </p:nvSpPr>
        <p:spPr>
          <a:xfrm>
            <a:off x="2155186" y="6755729"/>
            <a:ext cx="0" cy="396795"/>
          </a:xfrm>
          <a:prstGeom prst="line">
            <a:avLst/>
          </a:prstGeom>
          <a:ln w="19050" cap="flat">
            <a:solidFill>
              <a:srgbClr val="BA97FC"/>
            </a:solidFill>
            <a:prstDash val="solid"/>
            <a:headEnd type="none" w="sm" len="sm"/>
            <a:tailEnd type="none" w="sm" len="sm"/>
          </a:ln>
        </p:spPr>
      </p:sp>
      <p:sp>
        <p:nvSpPr>
          <p:cNvPr id="47" name="TextBox 47"/>
          <p:cNvSpPr txBox="1"/>
          <p:nvPr/>
        </p:nvSpPr>
        <p:spPr>
          <a:xfrm>
            <a:off x="1344504" y="6756959"/>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04</a:t>
            </a:r>
          </a:p>
        </p:txBody>
      </p:sp>
      <p:sp>
        <p:nvSpPr>
          <p:cNvPr id="48" name="TextBox 48"/>
          <p:cNvSpPr txBox="1"/>
          <p:nvPr/>
        </p:nvSpPr>
        <p:spPr>
          <a:xfrm>
            <a:off x="2313715" y="6765087"/>
            <a:ext cx="7737825" cy="348109"/>
          </a:xfrm>
          <a:prstGeom prst="rect">
            <a:avLst/>
          </a:prstGeom>
        </p:spPr>
        <p:txBody>
          <a:bodyPr wrap="square"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Phân tích yêu cầu quy trình thực nghiệm và đánh giá</a:t>
            </a:r>
          </a:p>
        </p:txBody>
      </p:sp>
      <p:grpSp>
        <p:nvGrpSpPr>
          <p:cNvPr id="49" name="Group 49"/>
          <p:cNvGrpSpPr/>
          <p:nvPr/>
        </p:nvGrpSpPr>
        <p:grpSpPr>
          <a:xfrm>
            <a:off x="1055099" y="7488937"/>
            <a:ext cx="10138495" cy="726721"/>
            <a:chOff x="0" y="0"/>
            <a:chExt cx="3096350" cy="221945"/>
          </a:xfrm>
        </p:grpSpPr>
        <p:sp>
          <p:nvSpPr>
            <p:cNvPr id="50" name="Freeform 50"/>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51" name="TextBox 51"/>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52" name="AutoShape 52"/>
          <p:cNvSpPr/>
          <p:nvPr/>
        </p:nvSpPr>
        <p:spPr>
          <a:xfrm>
            <a:off x="2155186" y="7653901"/>
            <a:ext cx="0" cy="396795"/>
          </a:xfrm>
          <a:prstGeom prst="line">
            <a:avLst/>
          </a:prstGeom>
          <a:ln w="19050" cap="flat">
            <a:solidFill>
              <a:srgbClr val="BA97FC"/>
            </a:solidFill>
            <a:prstDash val="solid"/>
            <a:headEnd type="none" w="sm" len="sm"/>
            <a:tailEnd type="none" w="sm" len="sm"/>
          </a:ln>
        </p:spPr>
      </p:sp>
      <p:sp>
        <p:nvSpPr>
          <p:cNvPr id="53" name="TextBox 53"/>
          <p:cNvSpPr txBox="1"/>
          <p:nvPr/>
        </p:nvSpPr>
        <p:spPr>
          <a:xfrm>
            <a:off x="1344504" y="7655130"/>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05</a:t>
            </a:r>
          </a:p>
        </p:txBody>
      </p:sp>
      <p:sp>
        <p:nvSpPr>
          <p:cNvPr id="54" name="TextBox 54"/>
          <p:cNvSpPr txBox="1"/>
          <p:nvPr/>
        </p:nvSpPr>
        <p:spPr>
          <a:xfrm>
            <a:off x="2313716" y="7663259"/>
            <a:ext cx="3810630" cy="356488"/>
          </a:xfrm>
          <a:prstGeom prst="rect">
            <a:avLst/>
          </a:prstGeom>
        </p:spPr>
        <p:txBody>
          <a:bodyPr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Cài đặt và kiểm thử</a:t>
            </a:r>
          </a:p>
        </p:txBody>
      </p:sp>
      <p:grpSp>
        <p:nvGrpSpPr>
          <p:cNvPr id="55" name="Group 55"/>
          <p:cNvGrpSpPr/>
          <p:nvPr/>
        </p:nvGrpSpPr>
        <p:grpSpPr>
          <a:xfrm>
            <a:off x="1028700" y="1051515"/>
            <a:ext cx="7162712" cy="649857"/>
            <a:chOff x="0" y="0"/>
            <a:chExt cx="1427911" cy="198470"/>
          </a:xfrm>
        </p:grpSpPr>
        <p:sp>
          <p:nvSpPr>
            <p:cNvPr id="56" name="Freeform 56"/>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7" name="TextBox 57"/>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8" name="Freeform 58"/>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9" name="TextBox 59"/>
          <p:cNvSpPr txBox="1"/>
          <p:nvPr/>
        </p:nvSpPr>
        <p:spPr>
          <a:xfrm>
            <a:off x="2295314" y="1141458"/>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04909-F072-B656-91D9-D7A36415796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708B00E-EC60-0EAC-BA43-389CDE632BDC}"/>
              </a:ext>
            </a:extLst>
          </p:cNvPr>
          <p:cNvGrpSpPr/>
          <p:nvPr/>
        </p:nvGrpSpPr>
        <p:grpSpPr>
          <a:xfrm>
            <a:off x="11926753" y="0"/>
            <a:ext cx="13716000" cy="10287000"/>
            <a:chOff x="0" y="0"/>
            <a:chExt cx="812800" cy="609600"/>
          </a:xfrm>
        </p:grpSpPr>
        <p:sp>
          <p:nvSpPr>
            <p:cNvPr id="3" name="Freeform 3">
              <a:extLst>
                <a:ext uri="{FF2B5EF4-FFF2-40B4-BE49-F238E27FC236}">
                  <a16:creationId xmlns:a16="http://schemas.microsoft.com/office/drawing/2014/main" id="{2ED208D8-D87B-5983-172F-A919A63D962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EA5834F1-6D28-F96B-713C-06716163D51E}"/>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EF452639-6899-7375-FD9D-211A6CFA14D3}"/>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03F9D267-7846-A537-42E7-C7A368F81C47}"/>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E45FE81E-0927-1122-BA12-A6CF2D76AA8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A3B1D0B3-9822-94D7-D455-8C2FE441ED02}"/>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2B04632A-CC70-D836-CD1A-45D818CB981E}"/>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7E5C5AD4-D4F3-5167-16FA-9FD9F642FF47}"/>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A24639D-11CD-FF42-8AB9-53A35D0CBDFB}"/>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86F4D43A-9807-FB7C-72C0-912301BDA059}"/>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E3279DDB-2C77-DB82-EE54-D2FA6A4C256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2EA9A24B-5D4D-B11E-13D2-2B4D03A1BE18}"/>
              </a:ext>
            </a:extLst>
          </p:cNvPr>
          <p:cNvSpPr/>
          <p:nvPr/>
        </p:nvSpPr>
        <p:spPr>
          <a:xfrm>
            <a:off x="1028700" y="2837083"/>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56CF5EBA-8DBE-EBBF-D1B8-CA46E18F756E}"/>
              </a:ext>
            </a:extLst>
          </p:cNvPr>
          <p:cNvGrpSpPr/>
          <p:nvPr/>
        </p:nvGrpSpPr>
        <p:grpSpPr>
          <a:xfrm>
            <a:off x="1059180" y="4346267"/>
            <a:ext cx="10138495" cy="726721"/>
            <a:chOff x="0" y="0"/>
            <a:chExt cx="3096350" cy="221945"/>
          </a:xfrm>
        </p:grpSpPr>
        <p:sp>
          <p:nvSpPr>
            <p:cNvPr id="16" name="Freeform 16">
              <a:extLst>
                <a:ext uri="{FF2B5EF4-FFF2-40B4-BE49-F238E27FC236}">
                  <a16:creationId xmlns:a16="http://schemas.microsoft.com/office/drawing/2014/main" id="{4C310761-F580-587F-87DF-4F4080D6AE50}"/>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17" name="TextBox 17">
              <a:extLst>
                <a:ext uri="{FF2B5EF4-FFF2-40B4-BE49-F238E27FC236}">
                  <a16:creationId xmlns:a16="http://schemas.microsoft.com/office/drawing/2014/main" id="{C33DED7A-7B9A-B737-75FC-B7DD521EFB54}"/>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18" name="AutoShape 18">
            <a:extLst>
              <a:ext uri="{FF2B5EF4-FFF2-40B4-BE49-F238E27FC236}">
                <a16:creationId xmlns:a16="http://schemas.microsoft.com/office/drawing/2014/main" id="{9A629B76-0A7D-BE0E-7475-A640ED53C3A8}"/>
              </a:ext>
            </a:extLst>
          </p:cNvPr>
          <p:cNvSpPr/>
          <p:nvPr/>
        </p:nvSpPr>
        <p:spPr>
          <a:xfrm>
            <a:off x="2159267" y="4511231"/>
            <a:ext cx="0" cy="396795"/>
          </a:xfrm>
          <a:prstGeom prst="line">
            <a:avLst/>
          </a:prstGeom>
          <a:ln w="19050" cap="flat">
            <a:solidFill>
              <a:srgbClr val="BA97FC"/>
            </a:solidFill>
            <a:prstDash val="solid"/>
            <a:headEnd type="none" w="sm" len="sm"/>
            <a:tailEnd type="none" w="sm" len="sm"/>
          </a:ln>
        </p:spPr>
      </p:sp>
      <p:grpSp>
        <p:nvGrpSpPr>
          <p:cNvPr id="19" name="Group 19">
            <a:extLst>
              <a:ext uri="{FF2B5EF4-FFF2-40B4-BE49-F238E27FC236}">
                <a16:creationId xmlns:a16="http://schemas.microsoft.com/office/drawing/2014/main" id="{E94C627E-B1E6-9F02-54F6-BF5D6621C20F}"/>
              </a:ext>
            </a:extLst>
          </p:cNvPr>
          <p:cNvGrpSpPr/>
          <p:nvPr/>
        </p:nvGrpSpPr>
        <p:grpSpPr>
          <a:xfrm>
            <a:off x="11640961" y="304912"/>
            <a:ext cx="11731896" cy="8798922"/>
            <a:chOff x="0" y="0"/>
            <a:chExt cx="812800" cy="609600"/>
          </a:xfrm>
        </p:grpSpPr>
        <p:sp>
          <p:nvSpPr>
            <p:cNvPr id="20" name="Freeform 20">
              <a:extLst>
                <a:ext uri="{FF2B5EF4-FFF2-40B4-BE49-F238E27FC236}">
                  <a16:creationId xmlns:a16="http://schemas.microsoft.com/office/drawing/2014/main" id="{41198B17-975C-464A-141F-D8E79A466C4F}"/>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21" name="TextBox 21">
              <a:extLst>
                <a:ext uri="{FF2B5EF4-FFF2-40B4-BE49-F238E27FC236}">
                  <a16:creationId xmlns:a16="http://schemas.microsoft.com/office/drawing/2014/main" id="{E7F365B8-BD97-435C-1712-E8F265D50D83}"/>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TextBox 22">
            <a:extLst>
              <a:ext uri="{FF2B5EF4-FFF2-40B4-BE49-F238E27FC236}">
                <a16:creationId xmlns:a16="http://schemas.microsoft.com/office/drawing/2014/main" id="{4C1AEE53-EB1A-A9F6-6CB0-DE6FC37A6B68}"/>
              </a:ext>
            </a:extLst>
          </p:cNvPr>
          <p:cNvSpPr txBox="1"/>
          <p:nvPr/>
        </p:nvSpPr>
        <p:spPr>
          <a:xfrm>
            <a:off x="1028700" y="1948874"/>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MỞ ĐẦU</a:t>
            </a:r>
          </a:p>
        </p:txBody>
      </p:sp>
      <p:grpSp>
        <p:nvGrpSpPr>
          <p:cNvPr id="23" name="Group 23">
            <a:extLst>
              <a:ext uri="{FF2B5EF4-FFF2-40B4-BE49-F238E27FC236}">
                <a16:creationId xmlns:a16="http://schemas.microsoft.com/office/drawing/2014/main" id="{AF29FA56-2D44-0676-3C89-9DB0A4C468B7}"/>
              </a:ext>
            </a:extLst>
          </p:cNvPr>
          <p:cNvGrpSpPr/>
          <p:nvPr/>
        </p:nvGrpSpPr>
        <p:grpSpPr>
          <a:xfrm>
            <a:off x="12069673" y="782942"/>
            <a:ext cx="11731896" cy="8798922"/>
            <a:chOff x="0" y="0"/>
            <a:chExt cx="812800" cy="609600"/>
          </a:xfrm>
        </p:grpSpPr>
        <p:sp>
          <p:nvSpPr>
            <p:cNvPr id="24" name="Freeform 24">
              <a:extLst>
                <a:ext uri="{FF2B5EF4-FFF2-40B4-BE49-F238E27FC236}">
                  <a16:creationId xmlns:a16="http://schemas.microsoft.com/office/drawing/2014/main" id="{DAD0D619-7459-C9C3-9936-6BA070DCF0A0}"/>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5" name="TextBox 25">
              <a:extLst>
                <a:ext uri="{FF2B5EF4-FFF2-40B4-BE49-F238E27FC236}">
                  <a16:creationId xmlns:a16="http://schemas.microsoft.com/office/drawing/2014/main" id="{F83CDE4D-2D5A-B6FD-E607-47A66DB79786}"/>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6" name="Freeform 26">
            <a:extLst>
              <a:ext uri="{FF2B5EF4-FFF2-40B4-BE49-F238E27FC236}">
                <a16:creationId xmlns:a16="http://schemas.microsoft.com/office/drawing/2014/main" id="{8D344EFD-B347-C8DC-7E1F-01E376991C5A}"/>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7" name="Freeform 27">
            <a:extLst>
              <a:ext uri="{FF2B5EF4-FFF2-40B4-BE49-F238E27FC236}">
                <a16:creationId xmlns:a16="http://schemas.microsoft.com/office/drawing/2014/main" id="{2190F8B0-931D-1105-7C2E-F96BAB12AEF6}"/>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sp>
        <p:nvSpPr>
          <p:cNvPr id="28" name="TextBox 28">
            <a:extLst>
              <a:ext uri="{FF2B5EF4-FFF2-40B4-BE49-F238E27FC236}">
                <a16:creationId xmlns:a16="http://schemas.microsoft.com/office/drawing/2014/main" id="{3B31B50C-4AD1-6AD8-331A-23E016C767F4}"/>
              </a:ext>
            </a:extLst>
          </p:cNvPr>
          <p:cNvSpPr txBox="1"/>
          <p:nvPr/>
        </p:nvSpPr>
        <p:spPr>
          <a:xfrm>
            <a:off x="1028700" y="3079970"/>
            <a:ext cx="10907623" cy="596900"/>
          </a:xfrm>
          <a:prstGeom prst="rect">
            <a:avLst/>
          </a:prstGeom>
        </p:spPr>
        <p:txBody>
          <a:bodyPr lIns="0" tIns="0" rIns="0" bIns="0" rtlCol="0" anchor="t">
            <a:spAutoFit/>
          </a:bodyPr>
          <a:lstStyle/>
          <a:p>
            <a:pPr algn="l">
              <a:lnSpc>
                <a:spcPts val="4900"/>
              </a:lnSpc>
            </a:pPr>
            <a:r>
              <a:rPr lang="en-US" sz="3500" b="1">
                <a:solidFill>
                  <a:srgbClr val="5F0EFF"/>
                </a:solidFill>
                <a:latin typeface="Noto Sans Bold"/>
                <a:ea typeface="Noto Sans Bold"/>
                <a:cs typeface="Noto Sans Bold"/>
                <a:sym typeface="Noto Sans Bold"/>
              </a:rPr>
              <a:t>Nội dung trình bày</a:t>
            </a:r>
          </a:p>
        </p:txBody>
      </p:sp>
      <p:sp>
        <p:nvSpPr>
          <p:cNvPr id="29" name="TextBox 29">
            <a:extLst>
              <a:ext uri="{FF2B5EF4-FFF2-40B4-BE49-F238E27FC236}">
                <a16:creationId xmlns:a16="http://schemas.microsoft.com/office/drawing/2014/main" id="{6818BFD4-D760-687D-A811-CB52B632E4F7}"/>
              </a:ext>
            </a:extLst>
          </p:cNvPr>
          <p:cNvSpPr txBox="1"/>
          <p:nvPr/>
        </p:nvSpPr>
        <p:spPr>
          <a:xfrm>
            <a:off x="1348585" y="4512460"/>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01</a:t>
            </a:r>
          </a:p>
        </p:txBody>
      </p:sp>
      <p:sp>
        <p:nvSpPr>
          <p:cNvPr id="30" name="TextBox 30">
            <a:extLst>
              <a:ext uri="{FF2B5EF4-FFF2-40B4-BE49-F238E27FC236}">
                <a16:creationId xmlns:a16="http://schemas.microsoft.com/office/drawing/2014/main" id="{47C7E6DB-B1DE-9D12-C44A-FB0FED1DC09F}"/>
              </a:ext>
            </a:extLst>
          </p:cNvPr>
          <p:cNvSpPr txBox="1"/>
          <p:nvPr/>
        </p:nvSpPr>
        <p:spPr>
          <a:xfrm>
            <a:off x="2317797" y="4520589"/>
            <a:ext cx="2890400" cy="356488"/>
          </a:xfrm>
          <a:prstGeom prst="rect">
            <a:avLst/>
          </a:prstGeom>
        </p:spPr>
        <p:txBody>
          <a:bodyPr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Lý do chọn đề tài</a:t>
            </a:r>
          </a:p>
        </p:txBody>
      </p:sp>
      <p:grpSp>
        <p:nvGrpSpPr>
          <p:cNvPr id="31" name="Group 31">
            <a:extLst>
              <a:ext uri="{FF2B5EF4-FFF2-40B4-BE49-F238E27FC236}">
                <a16:creationId xmlns:a16="http://schemas.microsoft.com/office/drawing/2014/main" id="{0CC7099B-ACE2-BA4F-7881-2BBB711A1EBD}"/>
              </a:ext>
            </a:extLst>
          </p:cNvPr>
          <p:cNvGrpSpPr/>
          <p:nvPr/>
        </p:nvGrpSpPr>
        <p:grpSpPr>
          <a:xfrm>
            <a:off x="1059180" y="5247682"/>
            <a:ext cx="10138495" cy="726721"/>
            <a:chOff x="0" y="0"/>
            <a:chExt cx="3096350" cy="221945"/>
          </a:xfrm>
        </p:grpSpPr>
        <p:sp>
          <p:nvSpPr>
            <p:cNvPr id="32" name="Freeform 32">
              <a:extLst>
                <a:ext uri="{FF2B5EF4-FFF2-40B4-BE49-F238E27FC236}">
                  <a16:creationId xmlns:a16="http://schemas.microsoft.com/office/drawing/2014/main" id="{03288F83-0805-EEBD-0D33-7A1E074BC37B}"/>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33" name="TextBox 33">
              <a:extLst>
                <a:ext uri="{FF2B5EF4-FFF2-40B4-BE49-F238E27FC236}">
                  <a16:creationId xmlns:a16="http://schemas.microsoft.com/office/drawing/2014/main" id="{8E41D62C-AF37-8317-B413-A4CC6BAC5211}"/>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34" name="AutoShape 34">
            <a:extLst>
              <a:ext uri="{FF2B5EF4-FFF2-40B4-BE49-F238E27FC236}">
                <a16:creationId xmlns:a16="http://schemas.microsoft.com/office/drawing/2014/main" id="{CD0DD744-1ED1-F921-48A0-5F3FE2A57F9A}"/>
              </a:ext>
            </a:extLst>
          </p:cNvPr>
          <p:cNvSpPr/>
          <p:nvPr/>
        </p:nvSpPr>
        <p:spPr>
          <a:xfrm>
            <a:off x="2159267" y="5412645"/>
            <a:ext cx="0" cy="396795"/>
          </a:xfrm>
          <a:prstGeom prst="line">
            <a:avLst/>
          </a:prstGeom>
          <a:ln w="19050" cap="flat">
            <a:solidFill>
              <a:srgbClr val="BA97FC"/>
            </a:solidFill>
            <a:prstDash val="solid"/>
            <a:headEnd type="none" w="sm" len="sm"/>
            <a:tailEnd type="none" w="sm" len="sm"/>
          </a:ln>
        </p:spPr>
      </p:sp>
      <p:sp>
        <p:nvSpPr>
          <p:cNvPr id="35" name="TextBox 35">
            <a:extLst>
              <a:ext uri="{FF2B5EF4-FFF2-40B4-BE49-F238E27FC236}">
                <a16:creationId xmlns:a16="http://schemas.microsoft.com/office/drawing/2014/main" id="{7FD3B53B-05F8-8F8E-EDA6-836C606965BB}"/>
              </a:ext>
            </a:extLst>
          </p:cNvPr>
          <p:cNvSpPr txBox="1"/>
          <p:nvPr/>
        </p:nvSpPr>
        <p:spPr>
          <a:xfrm>
            <a:off x="1348585" y="5413875"/>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02</a:t>
            </a:r>
          </a:p>
        </p:txBody>
      </p:sp>
      <p:sp>
        <p:nvSpPr>
          <p:cNvPr id="36" name="TextBox 36">
            <a:extLst>
              <a:ext uri="{FF2B5EF4-FFF2-40B4-BE49-F238E27FC236}">
                <a16:creationId xmlns:a16="http://schemas.microsoft.com/office/drawing/2014/main" id="{66E75A1E-2BDD-9229-B19E-0EDE9CAF9FFD}"/>
              </a:ext>
            </a:extLst>
          </p:cNvPr>
          <p:cNvSpPr txBox="1"/>
          <p:nvPr/>
        </p:nvSpPr>
        <p:spPr>
          <a:xfrm>
            <a:off x="2317797" y="5422004"/>
            <a:ext cx="2890400" cy="356488"/>
          </a:xfrm>
          <a:prstGeom prst="rect">
            <a:avLst/>
          </a:prstGeom>
        </p:spPr>
        <p:txBody>
          <a:bodyPr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Mục tiêu</a:t>
            </a:r>
          </a:p>
        </p:txBody>
      </p:sp>
      <p:grpSp>
        <p:nvGrpSpPr>
          <p:cNvPr id="37" name="Group 37">
            <a:extLst>
              <a:ext uri="{FF2B5EF4-FFF2-40B4-BE49-F238E27FC236}">
                <a16:creationId xmlns:a16="http://schemas.microsoft.com/office/drawing/2014/main" id="{481D1687-D8A8-4ADA-32B1-B1F37F884A51}"/>
              </a:ext>
            </a:extLst>
          </p:cNvPr>
          <p:cNvGrpSpPr/>
          <p:nvPr/>
        </p:nvGrpSpPr>
        <p:grpSpPr>
          <a:xfrm>
            <a:off x="1059180" y="6145853"/>
            <a:ext cx="10138495" cy="726721"/>
            <a:chOff x="0" y="0"/>
            <a:chExt cx="3096350" cy="221945"/>
          </a:xfrm>
        </p:grpSpPr>
        <p:sp>
          <p:nvSpPr>
            <p:cNvPr id="38" name="Freeform 38">
              <a:extLst>
                <a:ext uri="{FF2B5EF4-FFF2-40B4-BE49-F238E27FC236}">
                  <a16:creationId xmlns:a16="http://schemas.microsoft.com/office/drawing/2014/main" id="{BBA31ACE-6026-E120-6D6F-8D3D98E10E12}"/>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39" name="TextBox 39">
              <a:extLst>
                <a:ext uri="{FF2B5EF4-FFF2-40B4-BE49-F238E27FC236}">
                  <a16:creationId xmlns:a16="http://schemas.microsoft.com/office/drawing/2014/main" id="{B552680A-60B0-1055-4C88-AE21FCC5E636}"/>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40" name="AutoShape 40">
            <a:extLst>
              <a:ext uri="{FF2B5EF4-FFF2-40B4-BE49-F238E27FC236}">
                <a16:creationId xmlns:a16="http://schemas.microsoft.com/office/drawing/2014/main" id="{1ED37083-BCA5-BDBA-9517-37718C800AC0}"/>
              </a:ext>
            </a:extLst>
          </p:cNvPr>
          <p:cNvSpPr/>
          <p:nvPr/>
        </p:nvSpPr>
        <p:spPr>
          <a:xfrm>
            <a:off x="2159267" y="6310817"/>
            <a:ext cx="0" cy="396795"/>
          </a:xfrm>
          <a:prstGeom prst="line">
            <a:avLst/>
          </a:prstGeom>
          <a:ln w="19050" cap="flat">
            <a:solidFill>
              <a:srgbClr val="BA97FC"/>
            </a:solidFill>
            <a:prstDash val="solid"/>
            <a:headEnd type="none" w="sm" len="sm"/>
            <a:tailEnd type="none" w="sm" len="sm"/>
          </a:ln>
        </p:spPr>
      </p:sp>
      <p:sp>
        <p:nvSpPr>
          <p:cNvPr id="41" name="TextBox 41">
            <a:extLst>
              <a:ext uri="{FF2B5EF4-FFF2-40B4-BE49-F238E27FC236}">
                <a16:creationId xmlns:a16="http://schemas.microsoft.com/office/drawing/2014/main" id="{267D147F-B60C-909A-EC94-5B30F8297D25}"/>
              </a:ext>
            </a:extLst>
          </p:cNvPr>
          <p:cNvSpPr txBox="1"/>
          <p:nvPr/>
        </p:nvSpPr>
        <p:spPr>
          <a:xfrm>
            <a:off x="1348585" y="6312047"/>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03</a:t>
            </a:r>
          </a:p>
        </p:txBody>
      </p:sp>
      <p:sp>
        <p:nvSpPr>
          <p:cNvPr id="42" name="TextBox 42">
            <a:extLst>
              <a:ext uri="{FF2B5EF4-FFF2-40B4-BE49-F238E27FC236}">
                <a16:creationId xmlns:a16="http://schemas.microsoft.com/office/drawing/2014/main" id="{7F65E179-4CB6-0652-FCD0-3EF2C3A5EB07}"/>
              </a:ext>
            </a:extLst>
          </p:cNvPr>
          <p:cNvSpPr txBox="1"/>
          <p:nvPr/>
        </p:nvSpPr>
        <p:spPr>
          <a:xfrm>
            <a:off x="2317796" y="6320175"/>
            <a:ext cx="8609283" cy="348109"/>
          </a:xfrm>
          <a:prstGeom prst="rect">
            <a:avLst/>
          </a:prstGeom>
        </p:spPr>
        <p:txBody>
          <a:bodyPr wrap="square"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Đối tượng và phạm vi</a:t>
            </a:r>
          </a:p>
        </p:txBody>
      </p:sp>
      <p:grpSp>
        <p:nvGrpSpPr>
          <p:cNvPr id="43" name="Group 43">
            <a:extLst>
              <a:ext uri="{FF2B5EF4-FFF2-40B4-BE49-F238E27FC236}">
                <a16:creationId xmlns:a16="http://schemas.microsoft.com/office/drawing/2014/main" id="{79AABC5B-4FFB-153C-0A3E-FE7E036453BB}"/>
              </a:ext>
            </a:extLst>
          </p:cNvPr>
          <p:cNvGrpSpPr/>
          <p:nvPr/>
        </p:nvGrpSpPr>
        <p:grpSpPr>
          <a:xfrm>
            <a:off x="1059180" y="7044025"/>
            <a:ext cx="10138495" cy="726721"/>
            <a:chOff x="0" y="0"/>
            <a:chExt cx="3096350" cy="221945"/>
          </a:xfrm>
        </p:grpSpPr>
        <p:sp>
          <p:nvSpPr>
            <p:cNvPr id="44" name="Freeform 44">
              <a:extLst>
                <a:ext uri="{FF2B5EF4-FFF2-40B4-BE49-F238E27FC236}">
                  <a16:creationId xmlns:a16="http://schemas.microsoft.com/office/drawing/2014/main" id="{CF36717B-2002-68BE-352C-E024801248E8}"/>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45" name="TextBox 45">
              <a:extLst>
                <a:ext uri="{FF2B5EF4-FFF2-40B4-BE49-F238E27FC236}">
                  <a16:creationId xmlns:a16="http://schemas.microsoft.com/office/drawing/2014/main" id="{0715284D-F5C4-C732-2D4C-1EBC329D6E0E}"/>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46" name="AutoShape 46">
            <a:extLst>
              <a:ext uri="{FF2B5EF4-FFF2-40B4-BE49-F238E27FC236}">
                <a16:creationId xmlns:a16="http://schemas.microsoft.com/office/drawing/2014/main" id="{53091154-86FB-AA49-A582-4246ADCA7861}"/>
              </a:ext>
            </a:extLst>
          </p:cNvPr>
          <p:cNvSpPr/>
          <p:nvPr/>
        </p:nvSpPr>
        <p:spPr>
          <a:xfrm>
            <a:off x="2159267" y="7208988"/>
            <a:ext cx="0" cy="396795"/>
          </a:xfrm>
          <a:prstGeom prst="line">
            <a:avLst/>
          </a:prstGeom>
          <a:ln w="19050" cap="flat">
            <a:solidFill>
              <a:srgbClr val="BA97FC"/>
            </a:solidFill>
            <a:prstDash val="solid"/>
            <a:headEnd type="none" w="sm" len="sm"/>
            <a:tailEnd type="none" w="sm" len="sm"/>
          </a:ln>
        </p:spPr>
      </p:sp>
      <p:sp>
        <p:nvSpPr>
          <p:cNvPr id="47" name="TextBox 47">
            <a:extLst>
              <a:ext uri="{FF2B5EF4-FFF2-40B4-BE49-F238E27FC236}">
                <a16:creationId xmlns:a16="http://schemas.microsoft.com/office/drawing/2014/main" id="{0E0AB681-2913-16D5-DFD6-AC8D80B9D343}"/>
              </a:ext>
            </a:extLst>
          </p:cNvPr>
          <p:cNvSpPr txBox="1"/>
          <p:nvPr/>
        </p:nvSpPr>
        <p:spPr>
          <a:xfrm>
            <a:off x="1348585" y="7210218"/>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04</a:t>
            </a:r>
          </a:p>
        </p:txBody>
      </p:sp>
      <p:sp>
        <p:nvSpPr>
          <p:cNvPr id="48" name="TextBox 48">
            <a:extLst>
              <a:ext uri="{FF2B5EF4-FFF2-40B4-BE49-F238E27FC236}">
                <a16:creationId xmlns:a16="http://schemas.microsoft.com/office/drawing/2014/main" id="{15DC853E-8EF9-C13B-79A8-80F86DD8A6B7}"/>
              </a:ext>
            </a:extLst>
          </p:cNvPr>
          <p:cNvSpPr txBox="1"/>
          <p:nvPr/>
        </p:nvSpPr>
        <p:spPr>
          <a:xfrm>
            <a:off x="2317796" y="7218346"/>
            <a:ext cx="7737825" cy="348109"/>
          </a:xfrm>
          <a:prstGeom prst="rect">
            <a:avLst/>
          </a:prstGeom>
        </p:spPr>
        <p:txBody>
          <a:bodyPr wrap="square"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Công nghệ sử dụng</a:t>
            </a:r>
          </a:p>
        </p:txBody>
      </p:sp>
      <p:grpSp>
        <p:nvGrpSpPr>
          <p:cNvPr id="55" name="Group 55">
            <a:extLst>
              <a:ext uri="{FF2B5EF4-FFF2-40B4-BE49-F238E27FC236}">
                <a16:creationId xmlns:a16="http://schemas.microsoft.com/office/drawing/2014/main" id="{C35AB7D0-7A93-81BA-3489-0756B1C78974}"/>
              </a:ext>
            </a:extLst>
          </p:cNvPr>
          <p:cNvGrpSpPr/>
          <p:nvPr/>
        </p:nvGrpSpPr>
        <p:grpSpPr>
          <a:xfrm>
            <a:off x="1028700" y="1051515"/>
            <a:ext cx="7162712" cy="649857"/>
            <a:chOff x="0" y="0"/>
            <a:chExt cx="1427911" cy="198470"/>
          </a:xfrm>
        </p:grpSpPr>
        <p:sp>
          <p:nvSpPr>
            <p:cNvPr id="56" name="Freeform 56">
              <a:extLst>
                <a:ext uri="{FF2B5EF4-FFF2-40B4-BE49-F238E27FC236}">
                  <a16:creationId xmlns:a16="http://schemas.microsoft.com/office/drawing/2014/main" id="{D7B2740E-A264-F7B5-AE95-EC5113EA4C5D}"/>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7" name="TextBox 57">
              <a:extLst>
                <a:ext uri="{FF2B5EF4-FFF2-40B4-BE49-F238E27FC236}">
                  <a16:creationId xmlns:a16="http://schemas.microsoft.com/office/drawing/2014/main" id="{12C36510-77DE-E5C1-AFB0-405CE0D465A4}"/>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8" name="Freeform 58">
            <a:extLst>
              <a:ext uri="{FF2B5EF4-FFF2-40B4-BE49-F238E27FC236}">
                <a16:creationId xmlns:a16="http://schemas.microsoft.com/office/drawing/2014/main" id="{77E4A7A6-D616-9744-DD0E-C132C2BA6FC9}"/>
              </a:ext>
            </a:extLst>
          </p:cNvPr>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9" name="TextBox 59">
            <a:extLst>
              <a:ext uri="{FF2B5EF4-FFF2-40B4-BE49-F238E27FC236}">
                <a16:creationId xmlns:a16="http://schemas.microsoft.com/office/drawing/2014/main" id="{491627C1-FE73-90DE-9543-8D65E8ECC13F}"/>
              </a:ext>
            </a:extLst>
          </p:cNvPr>
          <p:cNvSpPr txBox="1"/>
          <p:nvPr/>
        </p:nvSpPr>
        <p:spPr>
          <a:xfrm>
            <a:off x="2295314" y="1141458"/>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spTree>
    <p:extLst>
      <p:ext uri="{BB962C8B-B14F-4D97-AF65-F5344CB8AC3E}">
        <p14:creationId xmlns:p14="http://schemas.microsoft.com/office/powerpoint/2010/main" val="2343542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6547945" y="9833741"/>
            <a:ext cx="13716000" cy="10287000"/>
            <a:chOff x="0" y="0"/>
            <a:chExt cx="812800" cy="609600"/>
          </a:xfrm>
        </p:grpSpPr>
        <p:sp>
          <p:nvSpPr>
            <p:cNvPr id="6" name="Freeform 6"/>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7168055" y="9833741"/>
            <a:ext cx="2046714" cy="1535036"/>
            <a:chOff x="0" y="0"/>
            <a:chExt cx="812800" cy="609600"/>
          </a:xfrm>
        </p:grpSpPr>
        <p:sp>
          <p:nvSpPr>
            <p:cNvPr id="9" name="Freeform 9"/>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869999" y="9833741"/>
            <a:ext cx="2046714" cy="1535036"/>
            <a:chOff x="0" y="0"/>
            <a:chExt cx="812800" cy="609600"/>
          </a:xfrm>
        </p:grpSpPr>
        <p:sp>
          <p:nvSpPr>
            <p:cNvPr id="12" name="Freeform 12"/>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1029366" y="1461176"/>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LÝ DO CHỌN ĐỀ TÀI</a:t>
            </a:r>
          </a:p>
        </p:txBody>
      </p:sp>
      <p:sp>
        <p:nvSpPr>
          <p:cNvPr id="22" name="Freeform 22"/>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p:cNvGrpSpPr/>
          <p:nvPr/>
        </p:nvGrpSpPr>
        <p:grpSpPr>
          <a:xfrm>
            <a:off x="1029366" y="382694"/>
            <a:ext cx="7162712" cy="649857"/>
            <a:chOff x="0" y="0"/>
            <a:chExt cx="1427911" cy="198470"/>
          </a:xfrm>
        </p:grpSpPr>
        <p:sp>
          <p:nvSpPr>
            <p:cNvPr id="55" name="Freeform 55"/>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74" name="Picture 73">
            <a:extLst>
              <a:ext uri="{FF2B5EF4-FFF2-40B4-BE49-F238E27FC236}">
                <a16:creationId xmlns:a16="http://schemas.microsoft.com/office/drawing/2014/main" id="{BCA212B6-4816-55C2-B0E9-804D09833537}"/>
              </a:ext>
            </a:extLst>
          </p:cNvPr>
          <p:cNvPicPr>
            <a:picLocks noChangeAspect="1"/>
          </p:cNvPicPr>
          <p:nvPr/>
        </p:nvPicPr>
        <p:blipFill>
          <a:blip r:embed="rId4"/>
          <a:stretch>
            <a:fillRect/>
          </a:stretch>
        </p:blipFill>
        <p:spPr>
          <a:xfrm>
            <a:off x="1029366" y="2388705"/>
            <a:ext cx="13462385" cy="73490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F2806-35CE-92C9-7E59-FBB31542AF2A}"/>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DF8D3212-52DD-418B-173F-7E81377FAFDC}"/>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518833C0-640A-F48C-7D20-0A49A1C41A4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79BED26F-9EB5-5905-1BAC-6BEFEA885A4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2A4DD95C-E1F3-67BB-ED0D-711BC6AA617D}"/>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4972253F-5605-27CD-8910-38A44FB92B0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5F99CE0F-C855-3CBA-E2EE-5429CF9EEB8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6BAB3494-A297-2044-88F5-F2F1F81BC897}"/>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91975DC5-36B1-6E88-1913-57BCD81C5EB4}"/>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D21C14AC-972E-A595-2A64-32AAE970C5FC}"/>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303EDF7C-765B-0AE9-5C8D-C255D2503FC8}"/>
              </a:ext>
            </a:extLst>
          </p:cNvPr>
          <p:cNvSpPr txBox="1"/>
          <p:nvPr/>
        </p:nvSpPr>
        <p:spPr>
          <a:xfrm>
            <a:off x="1029366" y="1461176"/>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MỤC TIÊU</a:t>
            </a:r>
          </a:p>
        </p:txBody>
      </p:sp>
      <p:sp>
        <p:nvSpPr>
          <p:cNvPr id="22" name="Freeform 22">
            <a:extLst>
              <a:ext uri="{FF2B5EF4-FFF2-40B4-BE49-F238E27FC236}">
                <a16:creationId xmlns:a16="http://schemas.microsoft.com/office/drawing/2014/main" id="{5F949420-E656-DD43-4173-F77FCBC3746C}"/>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21420775-3322-8A31-0C63-0CA75C62F108}"/>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1045C482-69FF-A309-011D-962707D95DD8}"/>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2697512C-0F1C-0D40-DF2E-567A81C5D53B}"/>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93902CB3-D5A3-9560-629E-F3157AA9BD67}"/>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B174707C-ECE3-2322-2561-0581370693BE}"/>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14" name="Picture 13">
            <a:extLst>
              <a:ext uri="{FF2B5EF4-FFF2-40B4-BE49-F238E27FC236}">
                <a16:creationId xmlns:a16="http://schemas.microsoft.com/office/drawing/2014/main" id="{A2B1B82E-9F31-A550-C7C6-B110BF63DACD}"/>
              </a:ext>
            </a:extLst>
          </p:cNvPr>
          <p:cNvPicPr>
            <a:picLocks noChangeAspect="1"/>
          </p:cNvPicPr>
          <p:nvPr/>
        </p:nvPicPr>
        <p:blipFill>
          <a:blip r:embed="rId4"/>
          <a:stretch>
            <a:fillRect/>
          </a:stretch>
        </p:blipFill>
        <p:spPr>
          <a:xfrm>
            <a:off x="1029366" y="2328126"/>
            <a:ext cx="13296234" cy="7427193"/>
          </a:xfrm>
          <a:prstGeom prst="rect">
            <a:avLst/>
          </a:prstGeom>
        </p:spPr>
      </p:pic>
    </p:spTree>
    <p:extLst>
      <p:ext uri="{BB962C8B-B14F-4D97-AF65-F5344CB8AC3E}">
        <p14:creationId xmlns:p14="http://schemas.microsoft.com/office/powerpoint/2010/main" val="4053285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F148C-FD62-10C7-F041-52A452322960}"/>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9466D9F5-838D-658D-D362-43D65394D808}"/>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9CCEF5ED-883F-F660-F17B-33771C76A462}"/>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BA4D0260-43D4-A4DE-1946-13271840D423}"/>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8E49054-3B16-8E8F-D3C8-FDC0257A017F}"/>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325E7474-BA05-907F-222A-68CE5E5960D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00ECE486-6447-5BC0-A72D-AA837D72F8A8}"/>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C1A24143-37D3-65EF-2984-4C4C92ACAA21}"/>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C9A83C6D-9104-F921-8679-EC41FCA42BD7}"/>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F297A184-47F0-61AD-2451-EBC35CFF6DA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E9ABC9D0-D674-B29D-CD44-4BB7CB50808D}"/>
              </a:ext>
            </a:extLst>
          </p:cNvPr>
          <p:cNvSpPr txBox="1"/>
          <p:nvPr/>
        </p:nvSpPr>
        <p:spPr>
          <a:xfrm>
            <a:off x="1029366" y="1461176"/>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ĐỐI TƯỢNG VÀ PHẠM VI</a:t>
            </a:r>
          </a:p>
        </p:txBody>
      </p:sp>
      <p:sp>
        <p:nvSpPr>
          <p:cNvPr id="22" name="Freeform 22">
            <a:extLst>
              <a:ext uri="{FF2B5EF4-FFF2-40B4-BE49-F238E27FC236}">
                <a16:creationId xmlns:a16="http://schemas.microsoft.com/office/drawing/2014/main" id="{5D51D9D1-2D56-55A9-25A6-BAB889B95C4E}"/>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01D86BCF-BB09-F885-8A7F-CFEE5E83A755}"/>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6E63D786-4C64-CD91-B759-8639CAB9531F}"/>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0A4AA1AA-0C36-6154-9F87-6AD509C96E5C}"/>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99E8F942-DE4A-7A08-D188-CBF0740C710E}"/>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7A7160B9-5108-46BD-0903-ABCD6F20C2C2}"/>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3" name="Picture 2">
            <a:extLst>
              <a:ext uri="{FF2B5EF4-FFF2-40B4-BE49-F238E27FC236}">
                <a16:creationId xmlns:a16="http://schemas.microsoft.com/office/drawing/2014/main" id="{569104AA-153C-FD9B-D4DF-92E7F863066C}"/>
              </a:ext>
            </a:extLst>
          </p:cNvPr>
          <p:cNvPicPr>
            <a:picLocks noChangeAspect="1"/>
          </p:cNvPicPr>
          <p:nvPr/>
        </p:nvPicPr>
        <p:blipFill>
          <a:blip r:embed="rId4"/>
          <a:stretch>
            <a:fillRect/>
          </a:stretch>
        </p:blipFill>
        <p:spPr>
          <a:xfrm>
            <a:off x="1029366" y="2328126"/>
            <a:ext cx="13344272" cy="7454027"/>
          </a:xfrm>
          <a:prstGeom prst="rect">
            <a:avLst/>
          </a:prstGeom>
        </p:spPr>
      </p:pic>
    </p:spTree>
    <p:extLst>
      <p:ext uri="{BB962C8B-B14F-4D97-AF65-F5344CB8AC3E}">
        <p14:creationId xmlns:p14="http://schemas.microsoft.com/office/powerpoint/2010/main" val="3701994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47E63-FEA1-66A3-A3AD-339BEE92AFBC}"/>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6BD081D5-FD46-A257-6687-F6F363A6E10E}"/>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EC75487D-A9C1-A42E-A8E1-5D3B61ECAEEB}"/>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4DB77B22-D959-6123-BBBA-54FEF6D573E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62117BA-12C7-CFB6-A545-BE9BD5B9A5AF}"/>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A59E0D55-39C1-CCCF-C211-541A29E6ED1C}"/>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5A46A559-1E8C-9894-C41D-96BCACB34EDE}"/>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E68048EB-A45C-E731-2B03-C2BC2CBC1986}"/>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89A3AAED-D932-A098-D110-6BB00EBA2A68}"/>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4E4D9231-20EF-85E9-CED3-FC196D02CA3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6CF6AA60-D845-A606-450F-E3356EE45B8F}"/>
              </a:ext>
            </a:extLst>
          </p:cNvPr>
          <p:cNvSpPr txBox="1"/>
          <p:nvPr/>
        </p:nvSpPr>
        <p:spPr>
          <a:xfrm>
            <a:off x="1029366" y="1461176"/>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CÔNG NGHỆ SỬ DỤNG</a:t>
            </a:r>
          </a:p>
        </p:txBody>
      </p:sp>
      <p:sp>
        <p:nvSpPr>
          <p:cNvPr id="22" name="Freeform 22">
            <a:extLst>
              <a:ext uri="{FF2B5EF4-FFF2-40B4-BE49-F238E27FC236}">
                <a16:creationId xmlns:a16="http://schemas.microsoft.com/office/drawing/2014/main" id="{1CE5F347-540A-5BAC-6C00-5426D303EAD9}"/>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0DFA2532-0170-C3B3-9BE4-C8953C120C30}"/>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4C330F79-F212-50BF-347A-65FA096791E2}"/>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B3D1A9F5-B2B1-6A0D-BEDA-6DF2EB628437}"/>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6E23EC27-871E-7012-7E1B-C53D0C279DD5}"/>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CAAC965D-52AD-2AC5-DB3D-DFC0F3E879E1}"/>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3" name="Picture 2">
            <a:extLst>
              <a:ext uri="{FF2B5EF4-FFF2-40B4-BE49-F238E27FC236}">
                <a16:creationId xmlns:a16="http://schemas.microsoft.com/office/drawing/2014/main" id="{AE4C8E80-0B4F-E366-6C03-11E6ECB47EA5}"/>
              </a:ext>
            </a:extLst>
          </p:cNvPr>
          <p:cNvPicPr>
            <a:picLocks noChangeAspect="1"/>
          </p:cNvPicPr>
          <p:nvPr/>
        </p:nvPicPr>
        <p:blipFill>
          <a:blip r:embed="rId4"/>
          <a:stretch>
            <a:fillRect/>
          </a:stretch>
        </p:blipFill>
        <p:spPr>
          <a:xfrm>
            <a:off x="1029366" y="2366226"/>
            <a:ext cx="13196662" cy="7371573"/>
          </a:xfrm>
          <a:prstGeom prst="rect">
            <a:avLst/>
          </a:prstGeom>
        </p:spPr>
      </p:pic>
    </p:spTree>
    <p:extLst>
      <p:ext uri="{BB962C8B-B14F-4D97-AF65-F5344CB8AC3E}">
        <p14:creationId xmlns:p14="http://schemas.microsoft.com/office/powerpoint/2010/main" val="3326204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40912-6005-6806-7535-76E700CAFB1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C0FF415-E2A1-039A-D3BA-D9C0A3DF0E0D}"/>
              </a:ext>
            </a:extLst>
          </p:cNvPr>
          <p:cNvGrpSpPr/>
          <p:nvPr/>
        </p:nvGrpSpPr>
        <p:grpSpPr>
          <a:xfrm>
            <a:off x="11926753" y="0"/>
            <a:ext cx="13716000" cy="10287000"/>
            <a:chOff x="0" y="0"/>
            <a:chExt cx="812800" cy="609600"/>
          </a:xfrm>
        </p:grpSpPr>
        <p:sp>
          <p:nvSpPr>
            <p:cNvPr id="3" name="Freeform 3">
              <a:extLst>
                <a:ext uri="{FF2B5EF4-FFF2-40B4-BE49-F238E27FC236}">
                  <a16:creationId xmlns:a16="http://schemas.microsoft.com/office/drawing/2014/main" id="{081E9A2D-C813-B00A-A952-A64257C393F1}"/>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61A25C0D-6310-2FBF-9072-E5AFED54EE03}"/>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EB6EC565-C8F0-08CD-613A-555DF4158159}"/>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DE1E8F46-0088-0A81-1AA1-3E4FB2D21DCD}"/>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3F817ADC-DCB3-6234-5540-22DD7D5F03E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E6F22B5D-0F30-D642-4FC4-6D3507949C5B}"/>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7C79E32E-9FEB-BA88-EE5E-28432766D4C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FEF6BEDB-C2C7-823C-2C3C-B53E5D217B7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EB45B8A7-6C1D-6D9A-5856-6E2F8821E0D6}"/>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4867E3B2-ECCC-6F2A-CD98-0AA73CF2B16A}"/>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09F361CC-06AA-17B8-DCBD-ABC2E424FA4C}"/>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CC0DEEA1-B81A-383C-996B-B7B4AACC6ACC}"/>
              </a:ext>
            </a:extLst>
          </p:cNvPr>
          <p:cNvSpPr/>
          <p:nvPr/>
        </p:nvSpPr>
        <p:spPr>
          <a:xfrm>
            <a:off x="1028700" y="2837083"/>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00634CDC-E31D-751E-1FE5-2BC8E0AB9E1B}"/>
              </a:ext>
            </a:extLst>
          </p:cNvPr>
          <p:cNvGrpSpPr/>
          <p:nvPr/>
        </p:nvGrpSpPr>
        <p:grpSpPr>
          <a:xfrm>
            <a:off x="1059180" y="4346267"/>
            <a:ext cx="10138495" cy="726721"/>
            <a:chOff x="0" y="0"/>
            <a:chExt cx="3096350" cy="221945"/>
          </a:xfrm>
        </p:grpSpPr>
        <p:sp>
          <p:nvSpPr>
            <p:cNvPr id="16" name="Freeform 16">
              <a:extLst>
                <a:ext uri="{FF2B5EF4-FFF2-40B4-BE49-F238E27FC236}">
                  <a16:creationId xmlns:a16="http://schemas.microsoft.com/office/drawing/2014/main" id="{D1F479CA-2BAE-2619-FD0A-8AB39A45EE85}"/>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17" name="TextBox 17">
              <a:extLst>
                <a:ext uri="{FF2B5EF4-FFF2-40B4-BE49-F238E27FC236}">
                  <a16:creationId xmlns:a16="http://schemas.microsoft.com/office/drawing/2014/main" id="{2490C779-F698-296F-23D2-B0BC3896E230}"/>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18" name="AutoShape 18">
            <a:extLst>
              <a:ext uri="{FF2B5EF4-FFF2-40B4-BE49-F238E27FC236}">
                <a16:creationId xmlns:a16="http://schemas.microsoft.com/office/drawing/2014/main" id="{BDB534E7-40F0-AF08-F1CB-36FC0913FD3B}"/>
              </a:ext>
            </a:extLst>
          </p:cNvPr>
          <p:cNvSpPr/>
          <p:nvPr/>
        </p:nvSpPr>
        <p:spPr>
          <a:xfrm>
            <a:off x="2159267" y="4511231"/>
            <a:ext cx="0" cy="396795"/>
          </a:xfrm>
          <a:prstGeom prst="line">
            <a:avLst/>
          </a:prstGeom>
          <a:ln w="19050" cap="flat">
            <a:solidFill>
              <a:srgbClr val="BA97FC"/>
            </a:solidFill>
            <a:prstDash val="solid"/>
            <a:headEnd type="none" w="sm" len="sm"/>
            <a:tailEnd type="none" w="sm" len="sm"/>
          </a:ln>
        </p:spPr>
      </p:sp>
      <p:grpSp>
        <p:nvGrpSpPr>
          <p:cNvPr id="19" name="Group 19">
            <a:extLst>
              <a:ext uri="{FF2B5EF4-FFF2-40B4-BE49-F238E27FC236}">
                <a16:creationId xmlns:a16="http://schemas.microsoft.com/office/drawing/2014/main" id="{EE5FD4AA-5093-4F21-D48E-63FF40A8245E}"/>
              </a:ext>
            </a:extLst>
          </p:cNvPr>
          <p:cNvGrpSpPr/>
          <p:nvPr/>
        </p:nvGrpSpPr>
        <p:grpSpPr>
          <a:xfrm>
            <a:off x="11640961" y="304912"/>
            <a:ext cx="11731896" cy="8798922"/>
            <a:chOff x="0" y="0"/>
            <a:chExt cx="812800" cy="609600"/>
          </a:xfrm>
        </p:grpSpPr>
        <p:sp>
          <p:nvSpPr>
            <p:cNvPr id="20" name="Freeform 20">
              <a:extLst>
                <a:ext uri="{FF2B5EF4-FFF2-40B4-BE49-F238E27FC236}">
                  <a16:creationId xmlns:a16="http://schemas.microsoft.com/office/drawing/2014/main" id="{C18B4BF2-4E6C-6184-3213-821584A59A2A}"/>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21" name="TextBox 21">
              <a:extLst>
                <a:ext uri="{FF2B5EF4-FFF2-40B4-BE49-F238E27FC236}">
                  <a16:creationId xmlns:a16="http://schemas.microsoft.com/office/drawing/2014/main" id="{ACB24428-BA99-2561-B70B-FD76B1A0AC41}"/>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TextBox 22">
            <a:extLst>
              <a:ext uri="{FF2B5EF4-FFF2-40B4-BE49-F238E27FC236}">
                <a16:creationId xmlns:a16="http://schemas.microsoft.com/office/drawing/2014/main" id="{2C6FE7A1-D92F-4224-75DA-3301E91F54CB}"/>
              </a:ext>
            </a:extLst>
          </p:cNvPr>
          <p:cNvSpPr txBox="1"/>
          <p:nvPr/>
        </p:nvSpPr>
        <p:spPr>
          <a:xfrm>
            <a:off x="1028700" y="1948874"/>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CHƯƠNG I: CƠ SỞ LÝ THUYẾT</a:t>
            </a:r>
          </a:p>
        </p:txBody>
      </p:sp>
      <p:grpSp>
        <p:nvGrpSpPr>
          <p:cNvPr id="23" name="Group 23">
            <a:extLst>
              <a:ext uri="{FF2B5EF4-FFF2-40B4-BE49-F238E27FC236}">
                <a16:creationId xmlns:a16="http://schemas.microsoft.com/office/drawing/2014/main" id="{2732B4D8-A7AE-168A-F0A6-20C4AA0641E9}"/>
              </a:ext>
            </a:extLst>
          </p:cNvPr>
          <p:cNvGrpSpPr/>
          <p:nvPr/>
        </p:nvGrpSpPr>
        <p:grpSpPr>
          <a:xfrm>
            <a:off x="12069673" y="782942"/>
            <a:ext cx="11731896" cy="8798922"/>
            <a:chOff x="0" y="0"/>
            <a:chExt cx="812800" cy="609600"/>
          </a:xfrm>
        </p:grpSpPr>
        <p:sp>
          <p:nvSpPr>
            <p:cNvPr id="24" name="Freeform 24">
              <a:extLst>
                <a:ext uri="{FF2B5EF4-FFF2-40B4-BE49-F238E27FC236}">
                  <a16:creationId xmlns:a16="http://schemas.microsoft.com/office/drawing/2014/main" id="{B264957E-2FCD-D4B7-C751-58D551FC3CD1}"/>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5" name="TextBox 25">
              <a:extLst>
                <a:ext uri="{FF2B5EF4-FFF2-40B4-BE49-F238E27FC236}">
                  <a16:creationId xmlns:a16="http://schemas.microsoft.com/office/drawing/2014/main" id="{20A1458E-06BB-EAC5-A115-2A2BA1B711B5}"/>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6" name="Freeform 26">
            <a:extLst>
              <a:ext uri="{FF2B5EF4-FFF2-40B4-BE49-F238E27FC236}">
                <a16:creationId xmlns:a16="http://schemas.microsoft.com/office/drawing/2014/main" id="{AC2402B1-CBAD-A9EC-BA06-34523EE11886}"/>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7" name="Freeform 27">
            <a:extLst>
              <a:ext uri="{FF2B5EF4-FFF2-40B4-BE49-F238E27FC236}">
                <a16:creationId xmlns:a16="http://schemas.microsoft.com/office/drawing/2014/main" id="{02B1614C-5FA0-6152-EC01-1DAC3717C69B}"/>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sp>
        <p:nvSpPr>
          <p:cNvPr id="28" name="TextBox 28">
            <a:extLst>
              <a:ext uri="{FF2B5EF4-FFF2-40B4-BE49-F238E27FC236}">
                <a16:creationId xmlns:a16="http://schemas.microsoft.com/office/drawing/2014/main" id="{FC8F6CAF-7E5E-8128-A9AE-C0AB97799EC4}"/>
              </a:ext>
            </a:extLst>
          </p:cNvPr>
          <p:cNvSpPr txBox="1"/>
          <p:nvPr/>
        </p:nvSpPr>
        <p:spPr>
          <a:xfrm>
            <a:off x="1028700" y="3079970"/>
            <a:ext cx="10907623" cy="596900"/>
          </a:xfrm>
          <a:prstGeom prst="rect">
            <a:avLst/>
          </a:prstGeom>
        </p:spPr>
        <p:txBody>
          <a:bodyPr lIns="0" tIns="0" rIns="0" bIns="0" rtlCol="0" anchor="t">
            <a:spAutoFit/>
          </a:bodyPr>
          <a:lstStyle/>
          <a:p>
            <a:pPr algn="l">
              <a:lnSpc>
                <a:spcPts val="4900"/>
              </a:lnSpc>
            </a:pPr>
            <a:r>
              <a:rPr lang="en-US" sz="3500" b="1">
                <a:solidFill>
                  <a:srgbClr val="5F0EFF"/>
                </a:solidFill>
                <a:latin typeface="Noto Sans Bold"/>
                <a:ea typeface="Noto Sans Bold"/>
                <a:cs typeface="Noto Sans Bold"/>
                <a:sym typeface="Noto Sans Bold"/>
              </a:rPr>
              <a:t>Nội dung trình bày</a:t>
            </a:r>
          </a:p>
        </p:txBody>
      </p:sp>
      <p:sp>
        <p:nvSpPr>
          <p:cNvPr id="29" name="TextBox 29">
            <a:extLst>
              <a:ext uri="{FF2B5EF4-FFF2-40B4-BE49-F238E27FC236}">
                <a16:creationId xmlns:a16="http://schemas.microsoft.com/office/drawing/2014/main" id="{8BECBB26-991C-F096-22B4-32E1399232CD}"/>
              </a:ext>
            </a:extLst>
          </p:cNvPr>
          <p:cNvSpPr txBox="1"/>
          <p:nvPr/>
        </p:nvSpPr>
        <p:spPr>
          <a:xfrm>
            <a:off x="1348585" y="4512460"/>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01</a:t>
            </a:r>
          </a:p>
        </p:txBody>
      </p:sp>
      <p:sp>
        <p:nvSpPr>
          <p:cNvPr id="30" name="TextBox 30">
            <a:extLst>
              <a:ext uri="{FF2B5EF4-FFF2-40B4-BE49-F238E27FC236}">
                <a16:creationId xmlns:a16="http://schemas.microsoft.com/office/drawing/2014/main" id="{BFED4F54-C188-FD04-8AFF-3A13AF99809E}"/>
              </a:ext>
            </a:extLst>
          </p:cNvPr>
          <p:cNvSpPr txBox="1"/>
          <p:nvPr/>
        </p:nvSpPr>
        <p:spPr>
          <a:xfrm>
            <a:off x="2317797" y="4520589"/>
            <a:ext cx="2890400" cy="356488"/>
          </a:xfrm>
          <a:prstGeom prst="rect">
            <a:avLst/>
          </a:prstGeom>
        </p:spPr>
        <p:txBody>
          <a:bodyPr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Ảnh số và mức xám</a:t>
            </a:r>
          </a:p>
        </p:txBody>
      </p:sp>
      <p:grpSp>
        <p:nvGrpSpPr>
          <p:cNvPr id="31" name="Group 31">
            <a:extLst>
              <a:ext uri="{FF2B5EF4-FFF2-40B4-BE49-F238E27FC236}">
                <a16:creationId xmlns:a16="http://schemas.microsoft.com/office/drawing/2014/main" id="{937C3EFB-CE71-ACEE-63D4-4BC03D6044FC}"/>
              </a:ext>
            </a:extLst>
          </p:cNvPr>
          <p:cNvGrpSpPr/>
          <p:nvPr/>
        </p:nvGrpSpPr>
        <p:grpSpPr>
          <a:xfrm>
            <a:off x="1059180" y="5247682"/>
            <a:ext cx="10138495" cy="726721"/>
            <a:chOff x="0" y="0"/>
            <a:chExt cx="3096350" cy="221945"/>
          </a:xfrm>
        </p:grpSpPr>
        <p:sp>
          <p:nvSpPr>
            <p:cNvPr id="32" name="Freeform 32">
              <a:extLst>
                <a:ext uri="{FF2B5EF4-FFF2-40B4-BE49-F238E27FC236}">
                  <a16:creationId xmlns:a16="http://schemas.microsoft.com/office/drawing/2014/main" id="{852044F3-CADD-38FF-D64C-057A2B2EBDFA}"/>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33" name="TextBox 33">
              <a:extLst>
                <a:ext uri="{FF2B5EF4-FFF2-40B4-BE49-F238E27FC236}">
                  <a16:creationId xmlns:a16="http://schemas.microsoft.com/office/drawing/2014/main" id="{DDA7AB88-1500-3618-D8E7-BE77C4316921}"/>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34" name="AutoShape 34">
            <a:extLst>
              <a:ext uri="{FF2B5EF4-FFF2-40B4-BE49-F238E27FC236}">
                <a16:creationId xmlns:a16="http://schemas.microsoft.com/office/drawing/2014/main" id="{79001786-7E97-FEC1-9790-2A4CCDAE815C}"/>
              </a:ext>
            </a:extLst>
          </p:cNvPr>
          <p:cNvSpPr/>
          <p:nvPr/>
        </p:nvSpPr>
        <p:spPr>
          <a:xfrm>
            <a:off x="2159267" y="5412645"/>
            <a:ext cx="0" cy="396795"/>
          </a:xfrm>
          <a:prstGeom prst="line">
            <a:avLst/>
          </a:prstGeom>
          <a:ln w="19050" cap="flat">
            <a:solidFill>
              <a:srgbClr val="BA97FC"/>
            </a:solidFill>
            <a:prstDash val="solid"/>
            <a:headEnd type="none" w="sm" len="sm"/>
            <a:tailEnd type="none" w="sm" len="sm"/>
          </a:ln>
        </p:spPr>
      </p:sp>
      <p:sp>
        <p:nvSpPr>
          <p:cNvPr id="35" name="TextBox 35">
            <a:extLst>
              <a:ext uri="{FF2B5EF4-FFF2-40B4-BE49-F238E27FC236}">
                <a16:creationId xmlns:a16="http://schemas.microsoft.com/office/drawing/2014/main" id="{607C36D2-D13B-950B-3ECF-FF0B54F2DE37}"/>
              </a:ext>
            </a:extLst>
          </p:cNvPr>
          <p:cNvSpPr txBox="1"/>
          <p:nvPr/>
        </p:nvSpPr>
        <p:spPr>
          <a:xfrm>
            <a:off x="1348585" y="5413875"/>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02</a:t>
            </a:r>
          </a:p>
        </p:txBody>
      </p:sp>
      <p:sp>
        <p:nvSpPr>
          <p:cNvPr id="36" name="TextBox 36">
            <a:extLst>
              <a:ext uri="{FF2B5EF4-FFF2-40B4-BE49-F238E27FC236}">
                <a16:creationId xmlns:a16="http://schemas.microsoft.com/office/drawing/2014/main" id="{E6A18CB7-DFB0-FA0E-E33B-9C0D11F30766}"/>
              </a:ext>
            </a:extLst>
          </p:cNvPr>
          <p:cNvSpPr txBox="1"/>
          <p:nvPr/>
        </p:nvSpPr>
        <p:spPr>
          <a:xfrm>
            <a:off x="2317796" y="5422004"/>
            <a:ext cx="4311603" cy="348109"/>
          </a:xfrm>
          <a:prstGeom prst="rect">
            <a:avLst/>
          </a:prstGeom>
        </p:spPr>
        <p:txBody>
          <a:bodyPr wrap="square"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Định nghĩa histogram</a:t>
            </a:r>
          </a:p>
        </p:txBody>
      </p:sp>
      <p:grpSp>
        <p:nvGrpSpPr>
          <p:cNvPr id="37" name="Group 37">
            <a:extLst>
              <a:ext uri="{FF2B5EF4-FFF2-40B4-BE49-F238E27FC236}">
                <a16:creationId xmlns:a16="http://schemas.microsoft.com/office/drawing/2014/main" id="{1FA86B2C-F44A-A4B2-0923-160CF960DC41}"/>
              </a:ext>
            </a:extLst>
          </p:cNvPr>
          <p:cNvGrpSpPr/>
          <p:nvPr/>
        </p:nvGrpSpPr>
        <p:grpSpPr>
          <a:xfrm>
            <a:off x="1059180" y="6145853"/>
            <a:ext cx="10138495" cy="726721"/>
            <a:chOff x="0" y="0"/>
            <a:chExt cx="3096350" cy="221945"/>
          </a:xfrm>
        </p:grpSpPr>
        <p:sp>
          <p:nvSpPr>
            <p:cNvPr id="38" name="Freeform 38">
              <a:extLst>
                <a:ext uri="{FF2B5EF4-FFF2-40B4-BE49-F238E27FC236}">
                  <a16:creationId xmlns:a16="http://schemas.microsoft.com/office/drawing/2014/main" id="{109A4D55-ECD1-86C7-F4C6-B18F61BA33C0}"/>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39" name="TextBox 39">
              <a:extLst>
                <a:ext uri="{FF2B5EF4-FFF2-40B4-BE49-F238E27FC236}">
                  <a16:creationId xmlns:a16="http://schemas.microsoft.com/office/drawing/2014/main" id="{0B07B5DA-2A83-4BF6-08E2-7C7C84E59485}"/>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40" name="AutoShape 40">
            <a:extLst>
              <a:ext uri="{FF2B5EF4-FFF2-40B4-BE49-F238E27FC236}">
                <a16:creationId xmlns:a16="http://schemas.microsoft.com/office/drawing/2014/main" id="{DC6FA243-B2DB-3DF1-319D-7EDF9AF89DF7}"/>
              </a:ext>
            </a:extLst>
          </p:cNvPr>
          <p:cNvSpPr/>
          <p:nvPr/>
        </p:nvSpPr>
        <p:spPr>
          <a:xfrm>
            <a:off x="2159267" y="6310817"/>
            <a:ext cx="0" cy="396795"/>
          </a:xfrm>
          <a:prstGeom prst="line">
            <a:avLst/>
          </a:prstGeom>
          <a:ln w="19050" cap="flat">
            <a:solidFill>
              <a:srgbClr val="BA97FC"/>
            </a:solidFill>
            <a:prstDash val="solid"/>
            <a:headEnd type="none" w="sm" len="sm"/>
            <a:tailEnd type="none" w="sm" len="sm"/>
          </a:ln>
        </p:spPr>
      </p:sp>
      <p:sp>
        <p:nvSpPr>
          <p:cNvPr id="41" name="TextBox 41">
            <a:extLst>
              <a:ext uri="{FF2B5EF4-FFF2-40B4-BE49-F238E27FC236}">
                <a16:creationId xmlns:a16="http://schemas.microsoft.com/office/drawing/2014/main" id="{9BE20DE6-AED3-851E-91CC-69770D99DC16}"/>
              </a:ext>
            </a:extLst>
          </p:cNvPr>
          <p:cNvSpPr txBox="1"/>
          <p:nvPr/>
        </p:nvSpPr>
        <p:spPr>
          <a:xfrm>
            <a:off x="1348585" y="6312047"/>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03</a:t>
            </a:r>
          </a:p>
        </p:txBody>
      </p:sp>
      <p:sp>
        <p:nvSpPr>
          <p:cNvPr id="42" name="TextBox 42">
            <a:extLst>
              <a:ext uri="{FF2B5EF4-FFF2-40B4-BE49-F238E27FC236}">
                <a16:creationId xmlns:a16="http://schemas.microsoft.com/office/drawing/2014/main" id="{E18F6A53-C983-B2C0-8EEB-0FF3689E4EAF}"/>
              </a:ext>
            </a:extLst>
          </p:cNvPr>
          <p:cNvSpPr txBox="1"/>
          <p:nvPr/>
        </p:nvSpPr>
        <p:spPr>
          <a:xfrm>
            <a:off x="2317796" y="6320175"/>
            <a:ext cx="8609283" cy="348109"/>
          </a:xfrm>
          <a:prstGeom prst="rect">
            <a:avLst/>
          </a:prstGeom>
        </p:spPr>
        <p:txBody>
          <a:bodyPr wrap="square"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Hàm phân phối và tích lũy</a:t>
            </a:r>
          </a:p>
        </p:txBody>
      </p:sp>
      <p:grpSp>
        <p:nvGrpSpPr>
          <p:cNvPr id="43" name="Group 43">
            <a:extLst>
              <a:ext uri="{FF2B5EF4-FFF2-40B4-BE49-F238E27FC236}">
                <a16:creationId xmlns:a16="http://schemas.microsoft.com/office/drawing/2014/main" id="{0E13C397-08D4-0A2F-FE1E-C65EB5AE8821}"/>
              </a:ext>
            </a:extLst>
          </p:cNvPr>
          <p:cNvGrpSpPr/>
          <p:nvPr/>
        </p:nvGrpSpPr>
        <p:grpSpPr>
          <a:xfrm>
            <a:off x="1059180" y="7044025"/>
            <a:ext cx="10138495" cy="726721"/>
            <a:chOff x="0" y="0"/>
            <a:chExt cx="3096350" cy="221945"/>
          </a:xfrm>
        </p:grpSpPr>
        <p:sp>
          <p:nvSpPr>
            <p:cNvPr id="44" name="Freeform 44">
              <a:extLst>
                <a:ext uri="{FF2B5EF4-FFF2-40B4-BE49-F238E27FC236}">
                  <a16:creationId xmlns:a16="http://schemas.microsoft.com/office/drawing/2014/main" id="{8E72DBE8-FACF-BA96-AB8F-0388C32AA205}"/>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45" name="TextBox 45">
              <a:extLst>
                <a:ext uri="{FF2B5EF4-FFF2-40B4-BE49-F238E27FC236}">
                  <a16:creationId xmlns:a16="http://schemas.microsoft.com/office/drawing/2014/main" id="{F1C3BB62-A7BC-5B45-A634-D48724A7986F}"/>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46" name="AutoShape 46">
            <a:extLst>
              <a:ext uri="{FF2B5EF4-FFF2-40B4-BE49-F238E27FC236}">
                <a16:creationId xmlns:a16="http://schemas.microsoft.com/office/drawing/2014/main" id="{55434A66-0393-FB75-170D-3C8FB81462A9}"/>
              </a:ext>
            </a:extLst>
          </p:cNvPr>
          <p:cNvSpPr/>
          <p:nvPr/>
        </p:nvSpPr>
        <p:spPr>
          <a:xfrm>
            <a:off x="2159267" y="7208988"/>
            <a:ext cx="0" cy="396795"/>
          </a:xfrm>
          <a:prstGeom prst="line">
            <a:avLst/>
          </a:prstGeom>
          <a:ln w="19050" cap="flat">
            <a:solidFill>
              <a:srgbClr val="BA97FC"/>
            </a:solidFill>
            <a:prstDash val="solid"/>
            <a:headEnd type="none" w="sm" len="sm"/>
            <a:tailEnd type="none" w="sm" len="sm"/>
          </a:ln>
        </p:spPr>
      </p:sp>
      <p:sp>
        <p:nvSpPr>
          <p:cNvPr id="47" name="TextBox 47">
            <a:extLst>
              <a:ext uri="{FF2B5EF4-FFF2-40B4-BE49-F238E27FC236}">
                <a16:creationId xmlns:a16="http://schemas.microsoft.com/office/drawing/2014/main" id="{78B6D6F4-CBE6-F124-AF77-6CF5EDAD0EE1}"/>
              </a:ext>
            </a:extLst>
          </p:cNvPr>
          <p:cNvSpPr txBox="1"/>
          <p:nvPr/>
        </p:nvSpPr>
        <p:spPr>
          <a:xfrm>
            <a:off x="1348585" y="7210218"/>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04</a:t>
            </a:r>
          </a:p>
        </p:txBody>
      </p:sp>
      <p:sp>
        <p:nvSpPr>
          <p:cNvPr id="48" name="TextBox 48">
            <a:extLst>
              <a:ext uri="{FF2B5EF4-FFF2-40B4-BE49-F238E27FC236}">
                <a16:creationId xmlns:a16="http://schemas.microsoft.com/office/drawing/2014/main" id="{07E7EEEF-21A4-D3B3-54C7-CFC3B66DB049}"/>
              </a:ext>
            </a:extLst>
          </p:cNvPr>
          <p:cNvSpPr txBox="1"/>
          <p:nvPr/>
        </p:nvSpPr>
        <p:spPr>
          <a:xfrm>
            <a:off x="2317796" y="7218346"/>
            <a:ext cx="7737825" cy="348109"/>
          </a:xfrm>
          <a:prstGeom prst="rect">
            <a:avLst/>
          </a:prstGeom>
        </p:spPr>
        <p:txBody>
          <a:bodyPr wrap="square"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Các đại lượng thống kê rút ra từ histogram</a:t>
            </a:r>
          </a:p>
        </p:txBody>
      </p:sp>
      <p:grpSp>
        <p:nvGrpSpPr>
          <p:cNvPr id="55" name="Group 55">
            <a:extLst>
              <a:ext uri="{FF2B5EF4-FFF2-40B4-BE49-F238E27FC236}">
                <a16:creationId xmlns:a16="http://schemas.microsoft.com/office/drawing/2014/main" id="{738D627D-305C-26A0-3AD4-6FBF15C89033}"/>
              </a:ext>
            </a:extLst>
          </p:cNvPr>
          <p:cNvGrpSpPr/>
          <p:nvPr/>
        </p:nvGrpSpPr>
        <p:grpSpPr>
          <a:xfrm>
            <a:off x="1028700" y="1051515"/>
            <a:ext cx="7162712" cy="649857"/>
            <a:chOff x="0" y="0"/>
            <a:chExt cx="1427911" cy="198470"/>
          </a:xfrm>
        </p:grpSpPr>
        <p:sp>
          <p:nvSpPr>
            <p:cNvPr id="56" name="Freeform 56">
              <a:extLst>
                <a:ext uri="{FF2B5EF4-FFF2-40B4-BE49-F238E27FC236}">
                  <a16:creationId xmlns:a16="http://schemas.microsoft.com/office/drawing/2014/main" id="{B05CC74B-5782-E3C3-7F8F-8FB0F78F1CEA}"/>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7" name="TextBox 57">
              <a:extLst>
                <a:ext uri="{FF2B5EF4-FFF2-40B4-BE49-F238E27FC236}">
                  <a16:creationId xmlns:a16="http://schemas.microsoft.com/office/drawing/2014/main" id="{69700A96-9A53-25E8-D2C2-01AC76CB50B5}"/>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8" name="Freeform 58">
            <a:extLst>
              <a:ext uri="{FF2B5EF4-FFF2-40B4-BE49-F238E27FC236}">
                <a16:creationId xmlns:a16="http://schemas.microsoft.com/office/drawing/2014/main" id="{FB3B5E04-5B77-C611-5B79-BDAB8F26C05D}"/>
              </a:ext>
            </a:extLst>
          </p:cNvPr>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9" name="TextBox 59">
            <a:extLst>
              <a:ext uri="{FF2B5EF4-FFF2-40B4-BE49-F238E27FC236}">
                <a16:creationId xmlns:a16="http://schemas.microsoft.com/office/drawing/2014/main" id="{3D4DC95E-78A5-BD2A-4888-1F56C5819FA8}"/>
              </a:ext>
            </a:extLst>
          </p:cNvPr>
          <p:cNvSpPr txBox="1"/>
          <p:nvPr/>
        </p:nvSpPr>
        <p:spPr>
          <a:xfrm>
            <a:off x="2295314" y="1141458"/>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grpSp>
        <p:nvGrpSpPr>
          <p:cNvPr id="49" name="Group 43">
            <a:extLst>
              <a:ext uri="{FF2B5EF4-FFF2-40B4-BE49-F238E27FC236}">
                <a16:creationId xmlns:a16="http://schemas.microsoft.com/office/drawing/2014/main" id="{EE71EE95-B755-7B5C-C2D7-695FC8F798AE}"/>
              </a:ext>
            </a:extLst>
          </p:cNvPr>
          <p:cNvGrpSpPr/>
          <p:nvPr/>
        </p:nvGrpSpPr>
        <p:grpSpPr>
          <a:xfrm>
            <a:off x="1059180" y="7956790"/>
            <a:ext cx="10138495" cy="726721"/>
            <a:chOff x="0" y="0"/>
            <a:chExt cx="3096350" cy="221945"/>
          </a:xfrm>
        </p:grpSpPr>
        <p:sp>
          <p:nvSpPr>
            <p:cNvPr id="50" name="Freeform 44">
              <a:extLst>
                <a:ext uri="{FF2B5EF4-FFF2-40B4-BE49-F238E27FC236}">
                  <a16:creationId xmlns:a16="http://schemas.microsoft.com/office/drawing/2014/main" id="{EF280295-3E42-1D2D-55AC-F5FD081B4D3C}"/>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51" name="TextBox 45">
              <a:extLst>
                <a:ext uri="{FF2B5EF4-FFF2-40B4-BE49-F238E27FC236}">
                  <a16:creationId xmlns:a16="http://schemas.microsoft.com/office/drawing/2014/main" id="{EA2F423E-D35F-6612-B78A-34746421A7B0}"/>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52" name="AutoShape 46">
            <a:extLst>
              <a:ext uri="{FF2B5EF4-FFF2-40B4-BE49-F238E27FC236}">
                <a16:creationId xmlns:a16="http://schemas.microsoft.com/office/drawing/2014/main" id="{614C55AB-855F-EE46-EE06-99C8B4ACBD05}"/>
              </a:ext>
            </a:extLst>
          </p:cNvPr>
          <p:cNvSpPr/>
          <p:nvPr/>
        </p:nvSpPr>
        <p:spPr>
          <a:xfrm>
            <a:off x="2159267" y="8121753"/>
            <a:ext cx="0" cy="396795"/>
          </a:xfrm>
          <a:prstGeom prst="line">
            <a:avLst/>
          </a:prstGeom>
          <a:ln w="19050" cap="flat">
            <a:solidFill>
              <a:srgbClr val="BA97FC"/>
            </a:solidFill>
            <a:prstDash val="solid"/>
            <a:headEnd type="none" w="sm" len="sm"/>
            <a:tailEnd type="none" w="sm" len="sm"/>
          </a:ln>
        </p:spPr>
      </p:sp>
      <p:sp>
        <p:nvSpPr>
          <p:cNvPr id="53" name="TextBox 47">
            <a:extLst>
              <a:ext uri="{FF2B5EF4-FFF2-40B4-BE49-F238E27FC236}">
                <a16:creationId xmlns:a16="http://schemas.microsoft.com/office/drawing/2014/main" id="{AD286710-9140-5DD8-C2E8-8CCD59AB94D6}"/>
              </a:ext>
            </a:extLst>
          </p:cNvPr>
          <p:cNvSpPr txBox="1"/>
          <p:nvPr/>
        </p:nvSpPr>
        <p:spPr>
          <a:xfrm>
            <a:off x="1348585" y="8122983"/>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05</a:t>
            </a:r>
          </a:p>
        </p:txBody>
      </p:sp>
      <p:sp>
        <p:nvSpPr>
          <p:cNvPr id="54" name="TextBox 48">
            <a:extLst>
              <a:ext uri="{FF2B5EF4-FFF2-40B4-BE49-F238E27FC236}">
                <a16:creationId xmlns:a16="http://schemas.microsoft.com/office/drawing/2014/main" id="{865458BA-735B-E3F1-41B8-103E43E23DFA}"/>
              </a:ext>
            </a:extLst>
          </p:cNvPr>
          <p:cNvSpPr txBox="1"/>
          <p:nvPr/>
        </p:nvSpPr>
        <p:spPr>
          <a:xfrm>
            <a:off x="2317796" y="8131111"/>
            <a:ext cx="7737825" cy="348109"/>
          </a:xfrm>
          <a:prstGeom prst="rect">
            <a:avLst/>
          </a:prstGeom>
        </p:spPr>
        <p:txBody>
          <a:bodyPr wrap="square" lIns="0" tIns="0" rIns="0" bIns="0" rtlCol="0" anchor="t">
            <a:spAutoFit/>
          </a:bodyPr>
          <a:lstStyle/>
          <a:p>
            <a:pPr algn="l">
              <a:lnSpc>
                <a:spcPts val="2926"/>
              </a:lnSpc>
            </a:pPr>
            <a:r>
              <a:rPr lang="vi-VN" sz="2090" b="1">
                <a:solidFill>
                  <a:srgbClr val="000000"/>
                </a:solidFill>
                <a:latin typeface="Noto Sans Bold"/>
                <a:ea typeface="Noto Sans Bold"/>
                <a:cs typeface="Noto Sans Bold"/>
                <a:sym typeface="Noto Sans Bold"/>
              </a:rPr>
              <a:t>Đọc histogram để chẩn đoán chất lượng ảnh</a:t>
            </a:r>
            <a:endParaRPr lang="en-US" sz="2090" b="1">
              <a:solidFill>
                <a:srgbClr val="000000"/>
              </a:solidFill>
              <a:latin typeface="Noto Sans Bold"/>
              <a:ea typeface="Noto Sans Bold"/>
              <a:cs typeface="Noto Sans Bold"/>
              <a:sym typeface="Noto Sans Bold"/>
            </a:endParaRPr>
          </a:p>
        </p:txBody>
      </p:sp>
    </p:spTree>
    <p:extLst>
      <p:ext uri="{BB962C8B-B14F-4D97-AF65-F5344CB8AC3E}">
        <p14:creationId xmlns:p14="http://schemas.microsoft.com/office/powerpoint/2010/main" val="309386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35BAB-5145-FECE-0C65-743C868B773B}"/>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F0AFD2A-71D6-FD44-9BBE-20AE486459FB}"/>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726581FE-FA75-035A-2738-8DC6582F2F9E}"/>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F15692BB-878C-ECE1-C2CA-19A946CAC760}"/>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40D65FF8-649C-F3E5-21DC-B93F197CDEFB}"/>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CA7D29F0-C931-D90A-E3BC-9C225D606479}"/>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7E955A8F-E172-9E3A-9A7C-41AAC0BC7FD0}"/>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C60F1809-0E5A-C54F-B5DD-00115F3CF14D}"/>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301507EF-44F5-1B4C-B2E0-9C1B107D35FF}"/>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14F63966-6446-49F2-7B58-CA74CFF28C18}"/>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54AC6CDE-74F7-E506-D305-0EF032AEA4F7}"/>
              </a:ext>
            </a:extLst>
          </p:cNvPr>
          <p:cNvSpPr txBox="1"/>
          <p:nvPr/>
        </p:nvSpPr>
        <p:spPr>
          <a:xfrm>
            <a:off x="1029366" y="1461176"/>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ẢNH SỐ VÀ MỨC XÁM</a:t>
            </a:r>
          </a:p>
        </p:txBody>
      </p:sp>
      <p:sp>
        <p:nvSpPr>
          <p:cNvPr id="22" name="Freeform 22">
            <a:extLst>
              <a:ext uri="{FF2B5EF4-FFF2-40B4-BE49-F238E27FC236}">
                <a16:creationId xmlns:a16="http://schemas.microsoft.com/office/drawing/2014/main" id="{FE83834B-25DB-B4A7-7AA3-9DEDD4B2F962}"/>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22942039-F71D-CFC3-9426-E6E6A3046EFF}"/>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FC89F6E9-CF37-22EC-62E5-67382E58C49C}"/>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D39DFA3D-0BCA-B12E-7C18-C78E2D6049A0}"/>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30585772-6F1C-FE0A-8CAD-81869DA941B6}"/>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04EE3CB2-30CC-7714-1299-9DC1AA16C9EB}"/>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4" name="Picture 3">
            <a:extLst>
              <a:ext uri="{FF2B5EF4-FFF2-40B4-BE49-F238E27FC236}">
                <a16:creationId xmlns:a16="http://schemas.microsoft.com/office/drawing/2014/main" id="{33BD4D83-6FCC-CE2F-EBC4-3DC428C32702}"/>
              </a:ext>
            </a:extLst>
          </p:cNvPr>
          <p:cNvPicPr>
            <a:picLocks noChangeAspect="1"/>
          </p:cNvPicPr>
          <p:nvPr/>
        </p:nvPicPr>
        <p:blipFill>
          <a:blip r:embed="rId4"/>
          <a:stretch>
            <a:fillRect/>
          </a:stretch>
        </p:blipFill>
        <p:spPr>
          <a:xfrm>
            <a:off x="1029366" y="2347635"/>
            <a:ext cx="13296234" cy="7427193"/>
          </a:xfrm>
          <a:prstGeom prst="rect">
            <a:avLst/>
          </a:prstGeom>
        </p:spPr>
      </p:pic>
    </p:spTree>
    <p:extLst>
      <p:ext uri="{BB962C8B-B14F-4D97-AF65-F5344CB8AC3E}">
        <p14:creationId xmlns:p14="http://schemas.microsoft.com/office/powerpoint/2010/main" val="3040670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99182-98FB-A263-5C4E-9E666EDDE35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AA1D78D-DB67-15F3-1A93-1D352EA512F9}"/>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9F82E58D-29F2-413E-9971-CE54297ABA2A}"/>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AD389D25-6C60-1EEB-D7B1-B161663DE777}"/>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43943C09-23E1-4B8A-5573-C5EE98E95523}"/>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D805C5E6-5F31-E2EC-952B-B05A0849F5E9}"/>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85848F55-A429-4A4A-D925-D6CA40E73A4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B6897D3-2B60-83A9-7758-4D4B4133D95B}"/>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FC15F0C7-7DE2-A8A7-656F-1533EE418E67}"/>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AAE98B22-E93B-9C09-0CEB-62393BE68582}"/>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2CB57A47-2297-A8AF-8A3B-F463B443CDC4}"/>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BC5BD636-3C2A-3FBB-5BA2-87C6C3A1DA59}"/>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D8D38514-3D4B-DE30-4A60-82185AD183DE}"/>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FC3C4584-186A-41DD-BB7F-DCF5BED561D9}"/>
              </a:ext>
            </a:extLst>
          </p:cNvPr>
          <p:cNvSpPr/>
          <p:nvPr/>
        </p:nvSpPr>
        <p:spPr>
          <a:xfrm>
            <a:off x="1028700" y="3305184"/>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09FD2DF6-853F-641F-7C08-0B72223FD5EB}"/>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8BADD810-F2DB-9246-8C87-3DE0AD902DF2}"/>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054E3F94-B1FE-E354-D4F8-C8D634E6B5BC}"/>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85915AC9-B95A-6D16-DF77-450FBE10911D}"/>
              </a:ext>
            </a:extLst>
          </p:cNvPr>
          <p:cNvSpPr txBox="1"/>
          <p:nvPr/>
        </p:nvSpPr>
        <p:spPr>
          <a:xfrm>
            <a:off x="1028700" y="2129997"/>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ĐỊNH NGHĨA HISTOGRAM</a:t>
            </a:r>
          </a:p>
        </p:txBody>
      </p:sp>
      <p:grpSp>
        <p:nvGrpSpPr>
          <p:cNvPr id="19" name="Group 19">
            <a:extLst>
              <a:ext uri="{FF2B5EF4-FFF2-40B4-BE49-F238E27FC236}">
                <a16:creationId xmlns:a16="http://schemas.microsoft.com/office/drawing/2014/main" id="{F20F56B9-0A05-CE88-A542-AF1C76541C24}"/>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F2C16C3D-347E-141F-8068-BF7A9312D202}"/>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9ADE60CA-136F-8BD2-8010-34010FE1D786}"/>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D4B46178-739C-D263-A255-31CB04F53F86}"/>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50813B89-E36F-6C1B-C8B5-219A89D336C7}"/>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DACB4B1C-541F-9C76-3204-F4A5F71143B4}"/>
              </a:ext>
            </a:extLst>
          </p:cNvPr>
          <p:cNvGrpSpPr/>
          <p:nvPr/>
        </p:nvGrpSpPr>
        <p:grpSpPr>
          <a:xfrm>
            <a:off x="1028699" y="3738063"/>
            <a:ext cx="14668501" cy="5764328"/>
            <a:chOff x="0" y="0"/>
            <a:chExt cx="2478455" cy="1685910"/>
          </a:xfrm>
        </p:grpSpPr>
        <p:sp>
          <p:nvSpPr>
            <p:cNvPr id="25" name="Freeform 25">
              <a:extLst>
                <a:ext uri="{FF2B5EF4-FFF2-40B4-BE49-F238E27FC236}">
                  <a16:creationId xmlns:a16="http://schemas.microsoft.com/office/drawing/2014/main" id="{DE143226-0B5E-AC6A-9553-02DDA8C67E71}"/>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E22486C4-B24E-A35E-82F0-54B0A6A48861}"/>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2E3CA5A3-ACC8-F958-CDED-01344149895C}"/>
              </a:ext>
            </a:extLst>
          </p:cNvPr>
          <p:cNvGrpSpPr/>
          <p:nvPr/>
        </p:nvGrpSpPr>
        <p:grpSpPr>
          <a:xfrm>
            <a:off x="1205292" y="4053340"/>
            <a:ext cx="978217" cy="978217"/>
            <a:chOff x="0" y="0"/>
            <a:chExt cx="812800" cy="812800"/>
          </a:xfrm>
        </p:grpSpPr>
        <p:sp>
          <p:nvSpPr>
            <p:cNvPr id="28" name="Freeform 28">
              <a:extLst>
                <a:ext uri="{FF2B5EF4-FFF2-40B4-BE49-F238E27FC236}">
                  <a16:creationId xmlns:a16="http://schemas.microsoft.com/office/drawing/2014/main" id="{D38B7981-7209-D3A1-10E8-D9915C41082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52283686-663E-6625-6A91-6BFA859A218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A543237D-E6D0-EC69-5469-BC0CE270EE9C}"/>
              </a:ext>
            </a:extLst>
          </p:cNvPr>
          <p:cNvSpPr/>
          <p:nvPr/>
        </p:nvSpPr>
        <p:spPr>
          <a:xfrm>
            <a:off x="1382114" y="4351821"/>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76A223DA-52B5-EEB9-CC74-CDB6A6930843}"/>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809CF344-8B07-0599-7263-FB2722E3650F}"/>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F176D795-4349-3579-6AA6-8B690C78A96D}"/>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D73F6528-D3A7-72B9-92A9-C0588405BAA8}"/>
              </a:ext>
            </a:extLst>
          </p:cNvPr>
          <p:cNvSpPr txBox="1"/>
          <p:nvPr/>
        </p:nvSpPr>
        <p:spPr>
          <a:xfrm>
            <a:off x="2452969" y="4335182"/>
            <a:ext cx="4417030" cy="448841"/>
          </a:xfrm>
          <a:prstGeom prst="rect">
            <a:avLst/>
          </a:prstGeom>
        </p:spPr>
        <p:txBody>
          <a:bodyPr wrap="square" lIns="0" tIns="0" rIns="0" bIns="0" rtlCol="0" anchor="t">
            <a:spAutoFit/>
          </a:bodyPr>
          <a:lstStyle/>
          <a:p>
            <a:pPr algn="l">
              <a:lnSpc>
                <a:spcPts val="3499"/>
              </a:lnSpc>
            </a:pPr>
            <a:r>
              <a:rPr lang="en-US" sz="3200" b="1">
                <a:solidFill>
                  <a:srgbClr val="000000"/>
                </a:solidFill>
                <a:latin typeface="Noto Sans Bold"/>
                <a:ea typeface="Noto Sans Bold"/>
                <a:cs typeface="Noto Sans Bold"/>
                <a:sym typeface="Noto Sans Bold"/>
              </a:rPr>
              <a:t>Tóm tắt lý thuyết</a:t>
            </a:r>
          </a:p>
        </p:txBody>
      </p:sp>
      <p:sp>
        <p:nvSpPr>
          <p:cNvPr id="55" name="TextBox 55">
            <a:extLst>
              <a:ext uri="{FF2B5EF4-FFF2-40B4-BE49-F238E27FC236}">
                <a16:creationId xmlns:a16="http://schemas.microsoft.com/office/drawing/2014/main" id="{AEC28964-DA31-8ACD-E841-259748A2AF24}"/>
              </a:ext>
            </a:extLst>
          </p:cNvPr>
          <p:cNvSpPr txBox="1"/>
          <p:nvPr/>
        </p:nvSpPr>
        <p:spPr>
          <a:xfrm>
            <a:off x="1382114" y="5298257"/>
            <a:ext cx="13476886" cy="2954655"/>
          </a:xfrm>
          <a:prstGeom prst="rect">
            <a:avLst/>
          </a:prstGeom>
        </p:spPr>
        <p:txBody>
          <a:bodyPr wrap="square" lIns="0" tIns="0" rIns="0" bIns="0" rtlCol="0" anchor="t">
            <a:spAutoFit/>
          </a:bodyPr>
          <a:lstStyle/>
          <a:p>
            <a:r>
              <a:rPr lang="vi-VN" sz="3200"/>
              <a:t>Cho ảnh xám kích thước M × N với L mức xám r</a:t>
            </a:r>
            <a:r>
              <a:rPr lang="vi-VN" sz="3200" baseline="-25000"/>
              <a:t>0</a:t>
            </a:r>
            <a:r>
              <a:rPr lang="vi-VN" sz="3200"/>
              <a:t>, r</a:t>
            </a:r>
            <a:r>
              <a:rPr lang="vi-VN" sz="3200" baseline="-25000"/>
              <a:t>1</a:t>
            </a:r>
            <a:r>
              <a:rPr lang="vi-VN" sz="3200"/>
              <a:t>, …, r</a:t>
            </a:r>
            <a:r>
              <a:rPr lang="vi-VN" sz="3200" baseline="-25000"/>
              <a:t>L−1</a:t>
            </a:r>
            <a:r>
              <a:rPr lang="vi-VN" sz="3200"/>
              <a:t>. Histogram của ảnh là hàm rời rạc:</a:t>
            </a:r>
            <a:endParaRPr lang="en-US" sz="3200"/>
          </a:p>
          <a:p>
            <a:r>
              <a:rPr lang="vi-VN" sz="3200"/>
              <a:t>	</a:t>
            </a:r>
            <a:r>
              <a:rPr lang="en-US" sz="3200"/>
              <a:t>				</a:t>
            </a:r>
            <a:r>
              <a:rPr lang="vi-VN" sz="3200" i="1"/>
              <a:t>h(r</a:t>
            </a:r>
            <a:r>
              <a:rPr lang="vi-VN" sz="3200" i="1" baseline="-25000"/>
              <a:t>k</a:t>
            </a:r>
            <a:r>
              <a:rPr lang="vi-VN" sz="3200" i="1"/>
              <a:t>) = n</a:t>
            </a:r>
            <a:r>
              <a:rPr lang="vi-VN" sz="3200" i="1" baseline="-25000"/>
              <a:t>k</a:t>
            </a:r>
            <a:r>
              <a:rPr lang="vi-VN" sz="3200" i="1"/>
              <a:t>,   k = 0, 1, …, L − 1</a:t>
            </a:r>
            <a:br>
              <a:rPr lang="en-US" sz="3200" i="1"/>
            </a:br>
            <a:r>
              <a:rPr lang="vi-VN" sz="3200"/>
              <a:t>trong đó n</a:t>
            </a:r>
            <a:r>
              <a:rPr lang="vi-VN" sz="3200" baseline="-25000"/>
              <a:t>k</a:t>
            </a:r>
            <a:r>
              <a:rPr lang="vi-VN" sz="3200"/>
              <a:t> là số điểm ảnh có cường độ bằng r</a:t>
            </a:r>
            <a:r>
              <a:rPr lang="vi-VN" sz="3200" baseline="-25000"/>
              <a:t>k</a:t>
            </a:r>
            <a:r>
              <a:rPr lang="vi-VN" sz="3200"/>
              <a:t>. Histogram thường được vẽ dưới dạng biểu đồ cột, trục hoành là mức xám, trục tung là số điểm ảnh</a:t>
            </a:r>
            <a:r>
              <a:rPr lang="en-US" sz="3200"/>
              <a:t>.</a:t>
            </a:r>
            <a:endParaRPr lang="en-US" sz="3600">
              <a:solidFill>
                <a:srgbClr val="000000"/>
              </a:solidFill>
              <a:latin typeface="Noto Sans"/>
              <a:ea typeface="Noto Sans"/>
              <a:cs typeface="Noto Sans"/>
              <a:sym typeface="Noto Sans"/>
            </a:endParaRPr>
          </a:p>
        </p:txBody>
      </p:sp>
      <p:grpSp>
        <p:nvGrpSpPr>
          <p:cNvPr id="71" name="Group 71">
            <a:extLst>
              <a:ext uri="{FF2B5EF4-FFF2-40B4-BE49-F238E27FC236}">
                <a16:creationId xmlns:a16="http://schemas.microsoft.com/office/drawing/2014/main" id="{CA2F661B-203B-DAE5-8546-FD2F9B35534F}"/>
              </a:ext>
            </a:extLst>
          </p:cNvPr>
          <p:cNvGrpSpPr/>
          <p:nvPr/>
        </p:nvGrpSpPr>
        <p:grpSpPr>
          <a:xfrm>
            <a:off x="1028700" y="1051515"/>
            <a:ext cx="7162712" cy="649857"/>
            <a:chOff x="0" y="0"/>
            <a:chExt cx="1427911" cy="198470"/>
          </a:xfrm>
        </p:grpSpPr>
        <p:sp>
          <p:nvSpPr>
            <p:cNvPr id="72" name="Freeform 72">
              <a:extLst>
                <a:ext uri="{FF2B5EF4-FFF2-40B4-BE49-F238E27FC236}">
                  <a16:creationId xmlns:a16="http://schemas.microsoft.com/office/drawing/2014/main" id="{648E7FA2-C2B8-5FE3-3337-7AA0C488BA46}"/>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72BF0824-96C4-12B8-0079-80563D1B089C}"/>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6EA3CCAF-925B-2C51-8D6A-591B62BCAF27}"/>
              </a:ext>
            </a:extLst>
          </p:cNvPr>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27A98319-BCC4-63EB-EDE1-A279BFF722E8}"/>
              </a:ext>
            </a:extLst>
          </p:cNvPr>
          <p:cNvSpPr txBox="1"/>
          <p:nvPr/>
        </p:nvSpPr>
        <p:spPr>
          <a:xfrm>
            <a:off x="2295314" y="1141458"/>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spTree>
    <p:extLst>
      <p:ext uri="{BB962C8B-B14F-4D97-AF65-F5344CB8AC3E}">
        <p14:creationId xmlns:p14="http://schemas.microsoft.com/office/powerpoint/2010/main" val="1501975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76681-194C-6CA8-9900-51905F7C922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FDD1BDB-0FC7-3C2A-1488-936B0FBBA8BC}"/>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EA36C1CB-F963-D0E3-52FB-39795A84EC1C}"/>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483E9DE1-0C8B-4AB6-2590-2EFB76FDE3E4}"/>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505631B5-04E9-4B18-DA02-9AF5F2B3C089}"/>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7F9EDCED-4743-78BB-AE1F-42F215CCABEB}"/>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C21F7007-7927-3BF3-873B-846CD6DF4771}"/>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1390BA57-6F03-8582-044B-ED01F4BA2152}"/>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5C6994AE-0E61-6A48-5E0E-DB2C00FCFD89}"/>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39C38C4A-ACDD-F3C6-ABAA-7A409F8498CA}"/>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8764F4BF-2294-4568-619D-54B4706E692F}"/>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4A03F472-48C4-0092-F0AC-ADA930A56F62}"/>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3DFEFDE2-C711-6077-FC59-51943020AC5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0C57199F-044D-C735-B7BA-7C313CD71ABC}"/>
              </a:ext>
            </a:extLst>
          </p:cNvPr>
          <p:cNvSpPr/>
          <p:nvPr/>
        </p:nvSpPr>
        <p:spPr>
          <a:xfrm>
            <a:off x="1028700" y="3305184"/>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EF02ADE2-4BBD-77A3-C0CC-DBC74BC6F9EF}"/>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C0E02E6C-1870-AB97-AF52-A172832806D4}"/>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F0F24773-48D2-B4D9-E542-91481E4F5937}"/>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AB3784D9-99CF-9697-F7FC-BD5B6795D2B4}"/>
              </a:ext>
            </a:extLst>
          </p:cNvPr>
          <p:cNvSpPr txBox="1"/>
          <p:nvPr/>
        </p:nvSpPr>
        <p:spPr>
          <a:xfrm>
            <a:off x="1028700" y="2129997"/>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ĐỊNH NGHĨA HISTOGRAM</a:t>
            </a:r>
          </a:p>
        </p:txBody>
      </p:sp>
      <p:grpSp>
        <p:nvGrpSpPr>
          <p:cNvPr id="19" name="Group 19">
            <a:extLst>
              <a:ext uri="{FF2B5EF4-FFF2-40B4-BE49-F238E27FC236}">
                <a16:creationId xmlns:a16="http://schemas.microsoft.com/office/drawing/2014/main" id="{2F70C9E6-F4B0-673E-903E-5701D38DE2DD}"/>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B66A4E62-C794-58F9-8216-9697C3737CC0}"/>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90CAA3BA-14E7-D764-BF4A-0F911177E4ED}"/>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40E59060-4FA2-0CB8-8EF4-A7611E692C45}"/>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1B8B475E-C323-854C-150A-DC89693502C6}"/>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8EF8785E-5DF0-CACD-7CAA-5AE0E751E1C2}"/>
              </a:ext>
            </a:extLst>
          </p:cNvPr>
          <p:cNvGrpSpPr/>
          <p:nvPr/>
        </p:nvGrpSpPr>
        <p:grpSpPr>
          <a:xfrm>
            <a:off x="1028700" y="3738063"/>
            <a:ext cx="13408542" cy="5764328"/>
            <a:chOff x="0" y="0"/>
            <a:chExt cx="2478455" cy="1685910"/>
          </a:xfrm>
        </p:grpSpPr>
        <p:sp>
          <p:nvSpPr>
            <p:cNvPr id="25" name="Freeform 25">
              <a:extLst>
                <a:ext uri="{FF2B5EF4-FFF2-40B4-BE49-F238E27FC236}">
                  <a16:creationId xmlns:a16="http://schemas.microsoft.com/office/drawing/2014/main" id="{84F62E1C-EDB9-9A70-BE84-9552E9932C92}"/>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2F430395-F26C-D28E-319F-63ECA2E71D13}"/>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E730D824-99B0-BA68-732E-48736B810F7F}"/>
              </a:ext>
            </a:extLst>
          </p:cNvPr>
          <p:cNvGrpSpPr/>
          <p:nvPr/>
        </p:nvGrpSpPr>
        <p:grpSpPr>
          <a:xfrm>
            <a:off x="1205292" y="4053340"/>
            <a:ext cx="978217" cy="978217"/>
            <a:chOff x="0" y="0"/>
            <a:chExt cx="812800" cy="812800"/>
          </a:xfrm>
        </p:grpSpPr>
        <p:sp>
          <p:nvSpPr>
            <p:cNvPr id="28" name="Freeform 28">
              <a:extLst>
                <a:ext uri="{FF2B5EF4-FFF2-40B4-BE49-F238E27FC236}">
                  <a16:creationId xmlns:a16="http://schemas.microsoft.com/office/drawing/2014/main" id="{0152F3AF-0A7B-4BD6-682B-CF3A7FD0742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D166D0CD-0DA9-BDDD-47E8-EBAD2AC3489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CED3AEB1-BBEE-BAD0-7D91-48656F010340}"/>
              </a:ext>
            </a:extLst>
          </p:cNvPr>
          <p:cNvSpPr/>
          <p:nvPr/>
        </p:nvSpPr>
        <p:spPr>
          <a:xfrm>
            <a:off x="1382114" y="4351821"/>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9FBC1345-CA65-1429-DF77-0AFF1D07D8A7}"/>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076E9711-39C4-666F-68CC-C626403FD35E}"/>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B6A547C1-68A5-E728-D36F-18D58EDA0878}"/>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1F850629-3D95-F8D5-AD36-AF0C574B76AB}"/>
              </a:ext>
            </a:extLst>
          </p:cNvPr>
          <p:cNvSpPr txBox="1"/>
          <p:nvPr/>
        </p:nvSpPr>
        <p:spPr>
          <a:xfrm>
            <a:off x="2452969" y="4335182"/>
            <a:ext cx="4417030" cy="448841"/>
          </a:xfrm>
          <a:prstGeom prst="rect">
            <a:avLst/>
          </a:prstGeom>
        </p:spPr>
        <p:txBody>
          <a:bodyPr wrap="square" lIns="0" tIns="0" rIns="0" bIns="0" rtlCol="0" anchor="t">
            <a:spAutoFit/>
          </a:bodyPr>
          <a:lstStyle/>
          <a:p>
            <a:pPr algn="l">
              <a:lnSpc>
                <a:spcPts val="3499"/>
              </a:lnSpc>
            </a:pPr>
            <a:r>
              <a:rPr lang="en-US" sz="3200" b="1">
                <a:solidFill>
                  <a:srgbClr val="000000"/>
                </a:solidFill>
                <a:latin typeface="Noto Sans Bold"/>
                <a:ea typeface="Noto Sans Bold"/>
                <a:cs typeface="Noto Sans Bold"/>
                <a:sym typeface="Noto Sans Bold"/>
              </a:rPr>
              <a:t>Tóm tắt lý thuyết</a:t>
            </a:r>
          </a:p>
        </p:txBody>
      </p:sp>
      <p:sp>
        <p:nvSpPr>
          <p:cNvPr id="55" name="TextBox 55">
            <a:extLst>
              <a:ext uri="{FF2B5EF4-FFF2-40B4-BE49-F238E27FC236}">
                <a16:creationId xmlns:a16="http://schemas.microsoft.com/office/drawing/2014/main" id="{0CAB80A1-0E10-74D6-50CE-7332CB0250E5}"/>
              </a:ext>
            </a:extLst>
          </p:cNvPr>
          <p:cNvSpPr txBox="1"/>
          <p:nvPr/>
        </p:nvSpPr>
        <p:spPr>
          <a:xfrm>
            <a:off x="1382114" y="5298257"/>
            <a:ext cx="12255053" cy="2954655"/>
          </a:xfrm>
          <a:prstGeom prst="rect">
            <a:avLst/>
          </a:prstGeom>
        </p:spPr>
        <p:txBody>
          <a:bodyPr wrap="square" lIns="0" tIns="0" rIns="0" bIns="0" rtlCol="0" anchor="t">
            <a:spAutoFit/>
          </a:bodyPr>
          <a:lstStyle/>
          <a:p>
            <a:pPr algn="just"/>
            <a:r>
              <a:rPr lang="vi-VN" sz="3200"/>
              <a:t>Vì mỗi điểm ảnh thuộc đúng một mức xám nên tổng các nk bằng tổng số điểm ảnh của ảnh:</a:t>
            </a:r>
          </a:p>
          <a:p>
            <a:pPr algn="just"/>
            <a:r>
              <a:rPr lang="vi-VN" sz="3200"/>
              <a:t>	</a:t>
            </a:r>
            <a:r>
              <a:rPr lang="en-US" sz="3200"/>
              <a:t>			</a:t>
            </a:r>
          </a:p>
          <a:p>
            <a:pPr algn="just"/>
            <a:endParaRPr lang="en-US" sz="3200"/>
          </a:p>
          <a:p>
            <a:pPr algn="just"/>
            <a:r>
              <a:rPr lang="vi-VN" sz="3200"/>
              <a:t>Để so sánh giữa các ảnh có kích thước khác nhau, người ta chuẩn hoá histogram bằng cách chia cho tổng số điểm ảnh</a:t>
            </a:r>
            <a:r>
              <a:rPr lang="en-US" sz="3200"/>
              <a:t>.</a:t>
            </a:r>
            <a:endParaRPr lang="en-US" sz="3600">
              <a:solidFill>
                <a:srgbClr val="000000"/>
              </a:solidFill>
              <a:latin typeface="Noto Sans"/>
              <a:ea typeface="Noto Sans"/>
              <a:cs typeface="Noto Sans"/>
              <a:sym typeface="Noto Sans"/>
            </a:endParaRPr>
          </a:p>
        </p:txBody>
      </p:sp>
      <p:grpSp>
        <p:nvGrpSpPr>
          <p:cNvPr id="71" name="Group 71">
            <a:extLst>
              <a:ext uri="{FF2B5EF4-FFF2-40B4-BE49-F238E27FC236}">
                <a16:creationId xmlns:a16="http://schemas.microsoft.com/office/drawing/2014/main" id="{31C6F411-E1DD-5A18-ACDD-663F6A92D6CC}"/>
              </a:ext>
            </a:extLst>
          </p:cNvPr>
          <p:cNvGrpSpPr/>
          <p:nvPr/>
        </p:nvGrpSpPr>
        <p:grpSpPr>
          <a:xfrm>
            <a:off x="1028700" y="1051515"/>
            <a:ext cx="7162712" cy="649857"/>
            <a:chOff x="0" y="0"/>
            <a:chExt cx="1427911" cy="198470"/>
          </a:xfrm>
        </p:grpSpPr>
        <p:sp>
          <p:nvSpPr>
            <p:cNvPr id="72" name="Freeform 72">
              <a:extLst>
                <a:ext uri="{FF2B5EF4-FFF2-40B4-BE49-F238E27FC236}">
                  <a16:creationId xmlns:a16="http://schemas.microsoft.com/office/drawing/2014/main" id="{9B463CE1-713D-E399-E3EC-E5D8477F48D8}"/>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4594EA8D-0E01-D0C2-B6FD-1900F42425FD}"/>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A070C155-74CA-883F-7E60-35AD629D5153}"/>
              </a:ext>
            </a:extLst>
          </p:cNvPr>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DEED50C5-09FF-BB4D-D73A-405497A34B8D}"/>
              </a:ext>
            </a:extLst>
          </p:cNvPr>
          <p:cNvSpPr txBox="1"/>
          <p:nvPr/>
        </p:nvSpPr>
        <p:spPr>
          <a:xfrm>
            <a:off x="2295314" y="1141458"/>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33" name="Picture 32">
            <a:extLst>
              <a:ext uri="{FF2B5EF4-FFF2-40B4-BE49-F238E27FC236}">
                <a16:creationId xmlns:a16="http://schemas.microsoft.com/office/drawing/2014/main" id="{3651682F-FFDF-57AF-2AA0-2F4C1A4B9C1A}"/>
              </a:ext>
            </a:extLst>
          </p:cNvPr>
          <p:cNvPicPr>
            <a:picLocks noChangeAspect="1"/>
          </p:cNvPicPr>
          <p:nvPr/>
        </p:nvPicPr>
        <p:blipFill>
          <a:blip r:embed="rId9"/>
          <a:stretch>
            <a:fillRect/>
          </a:stretch>
        </p:blipFill>
        <p:spPr>
          <a:xfrm>
            <a:off x="4771348" y="6260156"/>
            <a:ext cx="4372651" cy="1024225"/>
          </a:xfrm>
          <a:prstGeom prst="rect">
            <a:avLst/>
          </a:prstGeom>
        </p:spPr>
      </p:pic>
    </p:spTree>
    <p:extLst>
      <p:ext uri="{BB962C8B-B14F-4D97-AF65-F5344CB8AC3E}">
        <p14:creationId xmlns:p14="http://schemas.microsoft.com/office/powerpoint/2010/main" val="3175147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35AEC-FD41-1386-9396-D0A7DAD41F5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21D6965-C14C-0D33-9FA5-321BB59FFB76}"/>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867D7023-48A5-2913-65CB-D9741281880A}"/>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CDF44D62-92B7-C509-4D70-74B3E2D91708}"/>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BB5DC99F-D6BA-06E2-AEE1-5709ECBBA03A}"/>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F1113037-AF41-B4F8-F3F2-4A4E57CDA40C}"/>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F1C272B7-8BEC-8FBE-253C-D098218A77F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EAAB28A0-BB8D-DE2C-AC0F-CC414C186754}"/>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3683F51F-0701-BFB6-E0E1-310462C4B9FC}"/>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E444A38C-BBBD-18B1-79B3-3C2C2156A8B4}"/>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F3AAEDA1-5E5A-03FD-6180-E9F588800B02}"/>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2E4792E1-D48C-B21C-FF1B-98C29326D973}"/>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516B74CA-1A06-D204-8AC9-0ADDD7BA8D9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BB72D4B6-69B4-B9FA-A980-9E91AEA9EF3F}"/>
              </a:ext>
            </a:extLst>
          </p:cNvPr>
          <p:cNvSpPr/>
          <p:nvPr/>
        </p:nvSpPr>
        <p:spPr>
          <a:xfrm>
            <a:off x="1028700" y="3305184"/>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0C691602-C80E-5445-2983-5D29DB4537F9}"/>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C3E87BEE-CE17-30DC-611B-AE07462CC839}"/>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52681FC0-1F8A-75BE-9FA5-C31BA039A931}"/>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6E447631-408E-BA48-BB4B-1284F71263A2}"/>
              </a:ext>
            </a:extLst>
          </p:cNvPr>
          <p:cNvSpPr txBox="1"/>
          <p:nvPr/>
        </p:nvSpPr>
        <p:spPr>
          <a:xfrm>
            <a:off x="1028700" y="2129997"/>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ĐỊNH NGHĨA HISTOGRAM</a:t>
            </a:r>
          </a:p>
        </p:txBody>
      </p:sp>
      <p:grpSp>
        <p:nvGrpSpPr>
          <p:cNvPr id="19" name="Group 19">
            <a:extLst>
              <a:ext uri="{FF2B5EF4-FFF2-40B4-BE49-F238E27FC236}">
                <a16:creationId xmlns:a16="http://schemas.microsoft.com/office/drawing/2014/main" id="{8F1FE17F-0FD0-66FB-9A2E-97E4C2E31C9B}"/>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BE3E811E-8302-1A11-E91C-935E8E85BE4A}"/>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EFCC34DD-AA2A-C95D-DBCF-84BB1DBC83C3}"/>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36458178-F728-EDA9-AD27-409E521454F6}"/>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0EA23E5B-DC62-712E-73F8-104EACE54AEF}"/>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75D75477-D8BA-0727-1C7E-41ECFE3B25AC}"/>
              </a:ext>
            </a:extLst>
          </p:cNvPr>
          <p:cNvGrpSpPr/>
          <p:nvPr/>
        </p:nvGrpSpPr>
        <p:grpSpPr>
          <a:xfrm>
            <a:off x="1028699" y="3783215"/>
            <a:ext cx="12469723" cy="5719176"/>
            <a:chOff x="0" y="0"/>
            <a:chExt cx="2478455" cy="1685910"/>
          </a:xfrm>
        </p:grpSpPr>
        <p:sp>
          <p:nvSpPr>
            <p:cNvPr id="25" name="Freeform 25">
              <a:extLst>
                <a:ext uri="{FF2B5EF4-FFF2-40B4-BE49-F238E27FC236}">
                  <a16:creationId xmlns:a16="http://schemas.microsoft.com/office/drawing/2014/main" id="{1E14F1A1-8296-B517-4165-8C202CED3B36}"/>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CADDAC43-E31E-32BA-11F1-2D5C5D38F43D}"/>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BD2095A0-EBC7-FA51-5CED-365531090724}"/>
              </a:ext>
            </a:extLst>
          </p:cNvPr>
          <p:cNvGrpSpPr/>
          <p:nvPr/>
        </p:nvGrpSpPr>
        <p:grpSpPr>
          <a:xfrm>
            <a:off x="1205292" y="4053340"/>
            <a:ext cx="978217" cy="978217"/>
            <a:chOff x="0" y="0"/>
            <a:chExt cx="812800" cy="812800"/>
          </a:xfrm>
        </p:grpSpPr>
        <p:sp>
          <p:nvSpPr>
            <p:cNvPr id="28" name="Freeform 28">
              <a:extLst>
                <a:ext uri="{FF2B5EF4-FFF2-40B4-BE49-F238E27FC236}">
                  <a16:creationId xmlns:a16="http://schemas.microsoft.com/office/drawing/2014/main" id="{1DB1EC64-3B34-13AE-21C6-E025D1DB8B4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68E91089-FF7F-E3D3-B87A-53618BA03CA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2F83E151-8AA2-CC52-BE3E-D18AD0471592}"/>
              </a:ext>
            </a:extLst>
          </p:cNvPr>
          <p:cNvSpPr/>
          <p:nvPr/>
        </p:nvSpPr>
        <p:spPr>
          <a:xfrm>
            <a:off x="1382114" y="4351821"/>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E32A0A7E-2FD5-FA5C-B0E4-5CCA34F97ECA}"/>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8AC488AC-C4E7-5DE9-48D4-90D3F2D0A838}"/>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9578471D-3D8C-FBE6-FED1-F481513B81A8}"/>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C5651F37-5F1C-D4BC-B1C8-5EAA34E08CD6}"/>
              </a:ext>
            </a:extLst>
          </p:cNvPr>
          <p:cNvSpPr txBox="1"/>
          <p:nvPr/>
        </p:nvSpPr>
        <p:spPr>
          <a:xfrm>
            <a:off x="2452969" y="4335182"/>
            <a:ext cx="4417030" cy="448841"/>
          </a:xfrm>
          <a:prstGeom prst="rect">
            <a:avLst/>
          </a:prstGeom>
        </p:spPr>
        <p:txBody>
          <a:bodyPr wrap="square" lIns="0" tIns="0" rIns="0" bIns="0" rtlCol="0" anchor="t">
            <a:spAutoFit/>
          </a:bodyPr>
          <a:lstStyle/>
          <a:p>
            <a:pPr algn="l">
              <a:lnSpc>
                <a:spcPts val="3499"/>
              </a:lnSpc>
            </a:pPr>
            <a:r>
              <a:rPr lang="en-US" sz="3200" b="1">
                <a:solidFill>
                  <a:srgbClr val="000000"/>
                </a:solidFill>
                <a:latin typeface="Noto Sans Bold"/>
                <a:ea typeface="Noto Sans Bold"/>
                <a:cs typeface="Noto Sans Bold"/>
                <a:sym typeface="Noto Sans Bold"/>
              </a:rPr>
              <a:t>Tóm tắt lý thuyết</a:t>
            </a:r>
          </a:p>
        </p:txBody>
      </p:sp>
      <p:sp>
        <p:nvSpPr>
          <p:cNvPr id="55" name="TextBox 55">
            <a:extLst>
              <a:ext uri="{FF2B5EF4-FFF2-40B4-BE49-F238E27FC236}">
                <a16:creationId xmlns:a16="http://schemas.microsoft.com/office/drawing/2014/main" id="{6D26AD5C-721C-2C30-EBE3-D4FC5C91DA5E}"/>
              </a:ext>
            </a:extLst>
          </p:cNvPr>
          <p:cNvSpPr txBox="1"/>
          <p:nvPr/>
        </p:nvSpPr>
        <p:spPr>
          <a:xfrm>
            <a:off x="1382114" y="5298256"/>
            <a:ext cx="11113005" cy="1477328"/>
          </a:xfrm>
          <a:prstGeom prst="rect">
            <a:avLst/>
          </a:prstGeom>
        </p:spPr>
        <p:txBody>
          <a:bodyPr wrap="square" lIns="0" tIns="0" rIns="0" bIns="0" rtlCol="0" anchor="t">
            <a:spAutoFit/>
          </a:bodyPr>
          <a:lstStyle/>
          <a:p>
            <a:r>
              <a:rPr lang="vi-VN" sz="3200"/>
              <a:t>Kết quả p(rk) có thể được hiểu là xác suất kinh nghiệm để một điểm ảnh chọn ngẫu nhiên có mức xám rk:</a:t>
            </a:r>
          </a:p>
          <a:p>
            <a:r>
              <a:rPr lang="vi-VN" sz="3200"/>
              <a:t>	</a:t>
            </a:r>
            <a:r>
              <a:rPr lang="en-US" sz="3200"/>
              <a:t>			</a:t>
            </a:r>
            <a:endParaRPr lang="vi-VN" sz="3200"/>
          </a:p>
        </p:txBody>
      </p:sp>
      <p:grpSp>
        <p:nvGrpSpPr>
          <p:cNvPr id="71" name="Group 71">
            <a:extLst>
              <a:ext uri="{FF2B5EF4-FFF2-40B4-BE49-F238E27FC236}">
                <a16:creationId xmlns:a16="http://schemas.microsoft.com/office/drawing/2014/main" id="{96C272FC-BFC7-7A11-03C3-A773DA62B5B8}"/>
              </a:ext>
            </a:extLst>
          </p:cNvPr>
          <p:cNvGrpSpPr/>
          <p:nvPr/>
        </p:nvGrpSpPr>
        <p:grpSpPr>
          <a:xfrm>
            <a:off x="1028700" y="1051515"/>
            <a:ext cx="7162712" cy="649857"/>
            <a:chOff x="0" y="0"/>
            <a:chExt cx="1427911" cy="198470"/>
          </a:xfrm>
        </p:grpSpPr>
        <p:sp>
          <p:nvSpPr>
            <p:cNvPr id="72" name="Freeform 72">
              <a:extLst>
                <a:ext uri="{FF2B5EF4-FFF2-40B4-BE49-F238E27FC236}">
                  <a16:creationId xmlns:a16="http://schemas.microsoft.com/office/drawing/2014/main" id="{8FF1425A-2B9A-C1F4-959F-DDFAEED32548}"/>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EACA9E94-86AA-58E6-0477-E2DB4786EC50}"/>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8D290146-41C4-D503-2D76-96B9F0522CD6}"/>
              </a:ext>
            </a:extLst>
          </p:cNvPr>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3E5FFA66-6318-B0A1-FCB9-8CC0B5145BC7}"/>
              </a:ext>
            </a:extLst>
          </p:cNvPr>
          <p:cNvSpPr txBox="1"/>
          <p:nvPr/>
        </p:nvSpPr>
        <p:spPr>
          <a:xfrm>
            <a:off x="2295314" y="1141458"/>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33" name="Picture 32">
            <a:extLst>
              <a:ext uri="{FF2B5EF4-FFF2-40B4-BE49-F238E27FC236}">
                <a16:creationId xmlns:a16="http://schemas.microsoft.com/office/drawing/2014/main" id="{A8A03962-8432-4084-2A55-6E7B2E7461BD}"/>
              </a:ext>
            </a:extLst>
          </p:cNvPr>
          <p:cNvPicPr>
            <a:picLocks noChangeAspect="1"/>
          </p:cNvPicPr>
          <p:nvPr/>
        </p:nvPicPr>
        <p:blipFill>
          <a:blip r:embed="rId9"/>
          <a:stretch>
            <a:fillRect/>
          </a:stretch>
        </p:blipFill>
        <p:spPr>
          <a:xfrm>
            <a:off x="4908027" y="6524515"/>
            <a:ext cx="3926329" cy="846854"/>
          </a:xfrm>
          <a:prstGeom prst="rect">
            <a:avLst/>
          </a:prstGeom>
        </p:spPr>
      </p:pic>
    </p:spTree>
    <p:extLst>
      <p:ext uri="{BB962C8B-B14F-4D97-AF65-F5344CB8AC3E}">
        <p14:creationId xmlns:p14="http://schemas.microsoft.com/office/powerpoint/2010/main" val="1170189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24504-0F8D-2611-91AF-D640F37A88E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DC0DC0E-4296-6E38-75E0-3E323C19FA26}"/>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827A2EE3-9B4A-AE4A-A989-6C62BF7C42A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2C7FF4C1-F2E9-358E-CB66-0FB64AAE43D6}"/>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037481FA-FD52-BEC5-28A1-396B3457DA5D}"/>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DC860F92-6268-CF0B-BFD4-72C5ED4C4353}"/>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95BE740E-29B4-CC1E-7DFB-D9C381EE5905}"/>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E91A0AB-3882-6989-2DFE-61501B8E6A43}"/>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466E9238-4851-8ABC-EAEE-7D95E50DC8AC}"/>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9101E16E-BCEE-3878-5F6F-A03B4EDC23F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90A25B61-CEB8-5C7E-5B04-9619C9596322}"/>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C4D6F194-BF06-B0BC-3F93-BF93B91FECB4}"/>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87F8D302-DA49-60B7-506B-1920D66F14C3}"/>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1CEF1B57-FCBB-8BDC-00EE-4633AD27770B}"/>
              </a:ext>
            </a:extLst>
          </p:cNvPr>
          <p:cNvSpPr/>
          <p:nvPr/>
        </p:nvSpPr>
        <p:spPr>
          <a:xfrm>
            <a:off x="1028700" y="3305184"/>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FF933C20-43AE-0A16-B7DE-43E8DF733CC8}"/>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AEACB4B5-AC55-1FE8-E984-AA698E8D69F5}"/>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3CF4D3B2-B56A-C213-431C-6577081B7AE6}"/>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C493DA8B-FDA1-B66D-01A4-C1D91AEBCB3E}"/>
              </a:ext>
            </a:extLst>
          </p:cNvPr>
          <p:cNvSpPr txBox="1"/>
          <p:nvPr/>
        </p:nvSpPr>
        <p:spPr>
          <a:xfrm>
            <a:off x="1028700" y="2129997"/>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HÀM PHÂN PHỐI TÍCH LŨY</a:t>
            </a:r>
          </a:p>
        </p:txBody>
      </p:sp>
      <p:grpSp>
        <p:nvGrpSpPr>
          <p:cNvPr id="19" name="Group 19">
            <a:extLst>
              <a:ext uri="{FF2B5EF4-FFF2-40B4-BE49-F238E27FC236}">
                <a16:creationId xmlns:a16="http://schemas.microsoft.com/office/drawing/2014/main" id="{4ADDBC96-2F1B-D628-C573-5E879160C0E1}"/>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5AC5C445-B748-B69B-5913-7920E34E2DF0}"/>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46B63F6B-B632-DE34-2AF3-D6031E45AC37}"/>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7B6DCA6E-A746-507B-23A7-3149CEEF497C}"/>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8C20EDE1-5F30-8E17-7CC5-9D1808BA5EA9}"/>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2E1E2B3A-E317-6D45-0795-473D4FBE126B}"/>
              </a:ext>
            </a:extLst>
          </p:cNvPr>
          <p:cNvGrpSpPr/>
          <p:nvPr/>
        </p:nvGrpSpPr>
        <p:grpSpPr>
          <a:xfrm>
            <a:off x="1028699" y="3783215"/>
            <a:ext cx="12469723" cy="5719176"/>
            <a:chOff x="0" y="0"/>
            <a:chExt cx="2478455" cy="1685910"/>
          </a:xfrm>
        </p:grpSpPr>
        <p:sp>
          <p:nvSpPr>
            <p:cNvPr id="25" name="Freeform 25">
              <a:extLst>
                <a:ext uri="{FF2B5EF4-FFF2-40B4-BE49-F238E27FC236}">
                  <a16:creationId xmlns:a16="http://schemas.microsoft.com/office/drawing/2014/main" id="{4064A5E7-36E1-34E2-0BF2-F66FEC6896B9}"/>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9D487F77-0E0B-FB42-D9B7-3E30653A7B26}"/>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FEC08D06-A3B9-C111-221D-1E1D9DF5965A}"/>
              </a:ext>
            </a:extLst>
          </p:cNvPr>
          <p:cNvGrpSpPr/>
          <p:nvPr/>
        </p:nvGrpSpPr>
        <p:grpSpPr>
          <a:xfrm>
            <a:off x="1205292" y="4053340"/>
            <a:ext cx="978217" cy="978217"/>
            <a:chOff x="0" y="0"/>
            <a:chExt cx="812800" cy="812800"/>
          </a:xfrm>
        </p:grpSpPr>
        <p:sp>
          <p:nvSpPr>
            <p:cNvPr id="28" name="Freeform 28">
              <a:extLst>
                <a:ext uri="{FF2B5EF4-FFF2-40B4-BE49-F238E27FC236}">
                  <a16:creationId xmlns:a16="http://schemas.microsoft.com/office/drawing/2014/main" id="{13643BC4-46F5-F9AF-6E69-80B0384C778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9ABD2F07-8CCC-6B60-C15A-8D49C3DE543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CB7A68C5-1376-E77A-6FA8-841B29EA3406}"/>
              </a:ext>
            </a:extLst>
          </p:cNvPr>
          <p:cNvSpPr/>
          <p:nvPr/>
        </p:nvSpPr>
        <p:spPr>
          <a:xfrm>
            <a:off x="1382114" y="4351821"/>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0831551E-06DA-BA84-D3C3-B45393916F6B}"/>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F35B4B88-D328-CD45-BCC8-513650197D22}"/>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7838B3F5-28EA-C8DA-A8FB-8142910E847B}"/>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AC8C59F6-7C2E-7B44-9F56-749D3D56BF2A}"/>
              </a:ext>
            </a:extLst>
          </p:cNvPr>
          <p:cNvSpPr txBox="1"/>
          <p:nvPr/>
        </p:nvSpPr>
        <p:spPr>
          <a:xfrm>
            <a:off x="2452969" y="4335182"/>
            <a:ext cx="4417030" cy="448841"/>
          </a:xfrm>
          <a:prstGeom prst="rect">
            <a:avLst/>
          </a:prstGeom>
        </p:spPr>
        <p:txBody>
          <a:bodyPr wrap="square" lIns="0" tIns="0" rIns="0" bIns="0" rtlCol="0" anchor="t">
            <a:spAutoFit/>
          </a:bodyPr>
          <a:lstStyle/>
          <a:p>
            <a:pPr algn="l">
              <a:lnSpc>
                <a:spcPts val="3499"/>
              </a:lnSpc>
            </a:pPr>
            <a:r>
              <a:rPr lang="en-US" sz="3200" b="1">
                <a:solidFill>
                  <a:srgbClr val="000000"/>
                </a:solidFill>
                <a:latin typeface="Noto Sans Bold"/>
                <a:ea typeface="Noto Sans Bold"/>
                <a:cs typeface="Noto Sans Bold"/>
                <a:sym typeface="Noto Sans Bold"/>
              </a:rPr>
              <a:t>Tóm tắt lý thuyết</a:t>
            </a:r>
          </a:p>
        </p:txBody>
      </p:sp>
      <p:sp>
        <p:nvSpPr>
          <p:cNvPr id="55" name="TextBox 55">
            <a:extLst>
              <a:ext uri="{FF2B5EF4-FFF2-40B4-BE49-F238E27FC236}">
                <a16:creationId xmlns:a16="http://schemas.microsoft.com/office/drawing/2014/main" id="{7368038F-69E5-3A5E-967D-687A4A01073C}"/>
              </a:ext>
            </a:extLst>
          </p:cNvPr>
          <p:cNvSpPr txBox="1"/>
          <p:nvPr/>
        </p:nvSpPr>
        <p:spPr>
          <a:xfrm>
            <a:off x="1382114" y="5298256"/>
            <a:ext cx="11113005" cy="1969770"/>
          </a:xfrm>
          <a:prstGeom prst="rect">
            <a:avLst/>
          </a:prstGeom>
        </p:spPr>
        <p:txBody>
          <a:bodyPr wrap="square" lIns="0" tIns="0" rIns="0" bIns="0" rtlCol="0" anchor="t">
            <a:spAutoFit/>
          </a:bodyPr>
          <a:lstStyle/>
          <a:p>
            <a:pPr algn="just"/>
            <a:r>
              <a:rPr lang="vi-VN" sz="3200"/>
              <a:t>Hàm phân phối tích luỹ (cumulative distribution function, CDF) của histogram chuẩn hoá cho biết tỉ lệ điểm ảnh có mức xám không lớn hơn một giá trị cho trước:</a:t>
            </a:r>
          </a:p>
          <a:p>
            <a:pPr algn="just"/>
            <a:r>
              <a:rPr lang="vi-VN" sz="3200"/>
              <a:t>	</a:t>
            </a:r>
          </a:p>
        </p:txBody>
      </p:sp>
      <p:grpSp>
        <p:nvGrpSpPr>
          <p:cNvPr id="71" name="Group 71">
            <a:extLst>
              <a:ext uri="{FF2B5EF4-FFF2-40B4-BE49-F238E27FC236}">
                <a16:creationId xmlns:a16="http://schemas.microsoft.com/office/drawing/2014/main" id="{1EC12D51-7A4E-8478-85B9-E22115CEF17C}"/>
              </a:ext>
            </a:extLst>
          </p:cNvPr>
          <p:cNvGrpSpPr/>
          <p:nvPr/>
        </p:nvGrpSpPr>
        <p:grpSpPr>
          <a:xfrm>
            <a:off x="1028700" y="1051515"/>
            <a:ext cx="7162712" cy="649857"/>
            <a:chOff x="0" y="0"/>
            <a:chExt cx="1427911" cy="198470"/>
          </a:xfrm>
        </p:grpSpPr>
        <p:sp>
          <p:nvSpPr>
            <p:cNvPr id="72" name="Freeform 72">
              <a:extLst>
                <a:ext uri="{FF2B5EF4-FFF2-40B4-BE49-F238E27FC236}">
                  <a16:creationId xmlns:a16="http://schemas.microsoft.com/office/drawing/2014/main" id="{426F5C8D-712A-A3EC-7E03-D0AB44BC04AC}"/>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3B064134-611D-E021-7A3D-F406B8957BCA}"/>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38A63FED-83A7-2948-D3BB-AF1A28C0747C}"/>
              </a:ext>
            </a:extLst>
          </p:cNvPr>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44BB2ECC-412E-E476-F72D-F32D2AD2E8BA}"/>
              </a:ext>
            </a:extLst>
          </p:cNvPr>
          <p:cNvSpPr txBox="1"/>
          <p:nvPr/>
        </p:nvSpPr>
        <p:spPr>
          <a:xfrm>
            <a:off x="2295314" y="1141458"/>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35" name="Picture 34">
            <a:extLst>
              <a:ext uri="{FF2B5EF4-FFF2-40B4-BE49-F238E27FC236}">
                <a16:creationId xmlns:a16="http://schemas.microsoft.com/office/drawing/2014/main" id="{2353D184-8F27-1026-6D6D-D4205D7A06AB}"/>
              </a:ext>
            </a:extLst>
          </p:cNvPr>
          <p:cNvPicPr>
            <a:picLocks noChangeAspect="1"/>
          </p:cNvPicPr>
          <p:nvPr/>
        </p:nvPicPr>
        <p:blipFill>
          <a:blip r:embed="rId9"/>
          <a:stretch>
            <a:fillRect/>
          </a:stretch>
        </p:blipFill>
        <p:spPr>
          <a:xfrm>
            <a:off x="3221808" y="7068650"/>
            <a:ext cx="7797995" cy="548158"/>
          </a:xfrm>
          <a:prstGeom prst="rect">
            <a:avLst/>
          </a:prstGeom>
        </p:spPr>
      </p:pic>
    </p:spTree>
    <p:extLst>
      <p:ext uri="{BB962C8B-B14F-4D97-AF65-F5344CB8AC3E}">
        <p14:creationId xmlns:p14="http://schemas.microsoft.com/office/powerpoint/2010/main" val="3327460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BB858-DD69-6C38-973D-D76409BDE01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850191A-23AC-7005-2116-71F9E1832F31}"/>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2EFBDC76-33D3-7A19-ACA0-0FE7FB4A3B0B}"/>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7CC477B2-5827-368A-F8BD-5A4C79630768}"/>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B31CF32D-FDB7-D218-773C-2500D8834B06}"/>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437A5D81-B180-3F2D-D413-22AC9B56761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8D7471D5-49AA-170A-7FD2-161D0A7A855E}"/>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609FD217-667E-345B-5A36-D37C0D387AC1}"/>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333B3EB1-98A0-EAD3-DC70-7E2CAB727B30}"/>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942A8D14-9785-2C88-4762-EE74D2555692}"/>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C3648479-C1EA-3D10-C705-66FEF5414472}"/>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67A4C9AB-8938-AAFE-E1C1-E68638E334DC}"/>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6ED63436-1DD1-A9BE-2201-224D13989360}"/>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EB0EDD09-C195-64FF-9C3E-486C7CD8B952}"/>
              </a:ext>
            </a:extLst>
          </p:cNvPr>
          <p:cNvSpPr/>
          <p:nvPr/>
        </p:nvSpPr>
        <p:spPr>
          <a:xfrm>
            <a:off x="1028700" y="3305184"/>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8EC13035-5E28-C380-1827-06BECAD971FE}"/>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68B92BB6-1DA1-C36F-A887-55F1A85F8216}"/>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52DAC65E-6CE7-5513-11E6-436CF0AB7A81}"/>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6E22F250-EE1A-4249-4532-32670DFC2253}"/>
              </a:ext>
            </a:extLst>
          </p:cNvPr>
          <p:cNvSpPr txBox="1"/>
          <p:nvPr/>
        </p:nvSpPr>
        <p:spPr>
          <a:xfrm>
            <a:off x="1028700" y="2129997"/>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ĐỊNH NGHĨA HISTOGRAM</a:t>
            </a:r>
          </a:p>
        </p:txBody>
      </p:sp>
      <p:grpSp>
        <p:nvGrpSpPr>
          <p:cNvPr id="19" name="Group 19">
            <a:extLst>
              <a:ext uri="{FF2B5EF4-FFF2-40B4-BE49-F238E27FC236}">
                <a16:creationId xmlns:a16="http://schemas.microsoft.com/office/drawing/2014/main" id="{3D5370D1-78F0-8F9D-5D5B-F8B0F3FEC753}"/>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2F52F661-F8CE-24F7-FF7A-D7C1485F4C12}"/>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8AC5C80D-EABA-11E5-CD24-35657A8923C3}"/>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1B620C61-82A3-398A-ACE2-6FA39BF9875D}"/>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9A722C4D-CA55-8ACF-DF7A-9190A06083FF}"/>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DCC026A1-B2CE-9013-B5E0-752CC95856D5}"/>
              </a:ext>
            </a:extLst>
          </p:cNvPr>
          <p:cNvGrpSpPr/>
          <p:nvPr/>
        </p:nvGrpSpPr>
        <p:grpSpPr>
          <a:xfrm>
            <a:off x="1028699" y="3783215"/>
            <a:ext cx="13408542" cy="5719176"/>
            <a:chOff x="0" y="0"/>
            <a:chExt cx="2478455" cy="1685910"/>
          </a:xfrm>
        </p:grpSpPr>
        <p:sp>
          <p:nvSpPr>
            <p:cNvPr id="25" name="Freeform 25">
              <a:extLst>
                <a:ext uri="{FF2B5EF4-FFF2-40B4-BE49-F238E27FC236}">
                  <a16:creationId xmlns:a16="http://schemas.microsoft.com/office/drawing/2014/main" id="{CD3D69A2-5015-AF7D-4659-209D35BF3F8A}"/>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9DF88F59-5ACD-087C-89C0-F51A8CC0BC67}"/>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2797D1E8-37ED-9AAF-2DD5-81A07F49E2C6}"/>
              </a:ext>
            </a:extLst>
          </p:cNvPr>
          <p:cNvGrpSpPr/>
          <p:nvPr/>
        </p:nvGrpSpPr>
        <p:grpSpPr>
          <a:xfrm>
            <a:off x="1205292" y="4053340"/>
            <a:ext cx="978217" cy="978217"/>
            <a:chOff x="0" y="0"/>
            <a:chExt cx="812800" cy="812800"/>
          </a:xfrm>
        </p:grpSpPr>
        <p:sp>
          <p:nvSpPr>
            <p:cNvPr id="28" name="Freeform 28">
              <a:extLst>
                <a:ext uri="{FF2B5EF4-FFF2-40B4-BE49-F238E27FC236}">
                  <a16:creationId xmlns:a16="http://schemas.microsoft.com/office/drawing/2014/main" id="{FCF8C754-9ECC-52AE-C9CE-42B856CFBFF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C574C9DA-D03E-F241-E230-FB3974EE658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151E3481-8ED2-0743-080B-DBED34B9299C}"/>
              </a:ext>
            </a:extLst>
          </p:cNvPr>
          <p:cNvSpPr/>
          <p:nvPr/>
        </p:nvSpPr>
        <p:spPr>
          <a:xfrm>
            <a:off x="1382114" y="4351821"/>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5ED9C1D1-A7E8-8C99-7A85-96EAFAD22D21}"/>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FE4A8EE9-3E54-4172-5850-BC0EC90CC6C5}"/>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6CD8F08F-5C96-F46A-C0DA-3B6D494B3DA7}"/>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14A018E7-4667-D055-6309-3E3F0E6ADADA}"/>
              </a:ext>
            </a:extLst>
          </p:cNvPr>
          <p:cNvSpPr txBox="1"/>
          <p:nvPr/>
        </p:nvSpPr>
        <p:spPr>
          <a:xfrm>
            <a:off x="2452969" y="4335182"/>
            <a:ext cx="4417030" cy="448841"/>
          </a:xfrm>
          <a:prstGeom prst="rect">
            <a:avLst/>
          </a:prstGeom>
        </p:spPr>
        <p:txBody>
          <a:bodyPr wrap="square" lIns="0" tIns="0" rIns="0" bIns="0" rtlCol="0" anchor="t">
            <a:spAutoFit/>
          </a:bodyPr>
          <a:lstStyle/>
          <a:p>
            <a:pPr algn="l">
              <a:lnSpc>
                <a:spcPts val="3499"/>
              </a:lnSpc>
            </a:pPr>
            <a:r>
              <a:rPr lang="en-US" sz="3200" b="1">
                <a:solidFill>
                  <a:srgbClr val="000000"/>
                </a:solidFill>
                <a:latin typeface="Noto Sans Bold"/>
                <a:ea typeface="Noto Sans Bold"/>
                <a:cs typeface="Noto Sans Bold"/>
                <a:sym typeface="Noto Sans Bold"/>
              </a:rPr>
              <a:t>Tóm tắt lý thuyết</a:t>
            </a:r>
          </a:p>
        </p:txBody>
      </p:sp>
      <p:sp>
        <p:nvSpPr>
          <p:cNvPr id="55" name="TextBox 55">
            <a:extLst>
              <a:ext uri="{FF2B5EF4-FFF2-40B4-BE49-F238E27FC236}">
                <a16:creationId xmlns:a16="http://schemas.microsoft.com/office/drawing/2014/main" id="{323FC6A4-30EA-CF78-3589-35A71C8E5D66}"/>
              </a:ext>
            </a:extLst>
          </p:cNvPr>
          <p:cNvSpPr txBox="1"/>
          <p:nvPr/>
        </p:nvSpPr>
        <p:spPr>
          <a:xfrm>
            <a:off x="1382114" y="5298256"/>
            <a:ext cx="12255053" cy="3877985"/>
          </a:xfrm>
          <a:prstGeom prst="rect">
            <a:avLst/>
          </a:prstGeom>
        </p:spPr>
        <p:txBody>
          <a:bodyPr wrap="square" lIns="0" tIns="0" rIns="0" bIns="0" rtlCol="0" anchor="t">
            <a:spAutoFit/>
          </a:bodyPr>
          <a:lstStyle/>
          <a:p>
            <a:pPr algn="just"/>
            <a:r>
              <a:rPr lang="vi-VN" sz="2800"/>
              <a:t>CDF có ba tính chất quan trọng. Thứ nhất, nó không giảm vì p(rj) ≥ 0. Thứ hai, c(rL−1) = 1. Thứ ba, độ dốc của CDF tại một mức xám tỉ lệ với số điểm ảnh ở mức đó: vùng CDF dốc là vùng histogram có nhiều điểm ảnh.</a:t>
            </a:r>
            <a:endParaRPr lang="en-US" sz="2800"/>
          </a:p>
          <a:p>
            <a:pPr algn="just"/>
            <a:endParaRPr lang="en-US" sz="2800"/>
          </a:p>
          <a:p>
            <a:pPr algn="just"/>
            <a:br>
              <a:rPr lang="en-US" sz="2800"/>
            </a:br>
            <a:r>
              <a:rPr lang="vi-VN" sz="2800"/>
              <a:t>CDF cũng là cơ sở để tính các phân vị. Phân vị thứ q của ảnh là mức xám nhỏ nhất r sao cho c(r) ≥ q. Trung vị là phân vị 0,5. Phân vị được dùng trong kéo giãn tương phản bền vững, nơi ta bỏ qua một tỉ lệ nhỏ điểm ảnh ở hai đầu để tránh việc vài điểm nhiễu cực trị làm hỏng toàn bộ phép kéo giãn.</a:t>
            </a:r>
          </a:p>
        </p:txBody>
      </p:sp>
      <p:grpSp>
        <p:nvGrpSpPr>
          <p:cNvPr id="71" name="Group 71">
            <a:extLst>
              <a:ext uri="{FF2B5EF4-FFF2-40B4-BE49-F238E27FC236}">
                <a16:creationId xmlns:a16="http://schemas.microsoft.com/office/drawing/2014/main" id="{C0BB49F0-C0EB-F6B8-2A6B-B78F7980B14E}"/>
              </a:ext>
            </a:extLst>
          </p:cNvPr>
          <p:cNvGrpSpPr/>
          <p:nvPr/>
        </p:nvGrpSpPr>
        <p:grpSpPr>
          <a:xfrm>
            <a:off x="1028700" y="1051515"/>
            <a:ext cx="7353300" cy="649857"/>
            <a:chOff x="0" y="0"/>
            <a:chExt cx="1427911" cy="198470"/>
          </a:xfrm>
        </p:grpSpPr>
        <p:sp>
          <p:nvSpPr>
            <p:cNvPr id="72" name="Freeform 72">
              <a:extLst>
                <a:ext uri="{FF2B5EF4-FFF2-40B4-BE49-F238E27FC236}">
                  <a16:creationId xmlns:a16="http://schemas.microsoft.com/office/drawing/2014/main" id="{660249A0-BEAD-2B5A-3624-6B95C8752D92}"/>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2C81D02D-5565-80F7-5B27-969E40ACB265}"/>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8F3425E4-EF08-3C6F-B067-D9F01AA0F6B9}"/>
              </a:ext>
            </a:extLst>
          </p:cNvPr>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A38E7AD2-4A13-27A8-2422-B3093F921372}"/>
              </a:ext>
            </a:extLst>
          </p:cNvPr>
          <p:cNvSpPr txBox="1"/>
          <p:nvPr/>
        </p:nvSpPr>
        <p:spPr>
          <a:xfrm>
            <a:off x="2295314" y="1141458"/>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spTree>
    <p:extLst>
      <p:ext uri="{BB962C8B-B14F-4D97-AF65-F5344CB8AC3E}">
        <p14:creationId xmlns:p14="http://schemas.microsoft.com/office/powerpoint/2010/main" val="1752288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E6CBA-51D3-A01F-70AA-BFA2206BF9A6}"/>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21F1BEED-F9F8-281E-40B9-2E9BA6A8D2C4}"/>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AA4A51D7-0EC8-BFF8-3963-24714892FD4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6B75093B-A09C-5519-8324-1A8F64BD1546}"/>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8775F4CA-E49C-D481-35FD-D07389505BD1}"/>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0FB1B182-7BAE-7F6E-C60F-8543E2AF11F8}"/>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919FDCCF-DE59-72A4-2BD2-8BFC6534CB06}"/>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E8EEAD62-9438-01C6-CD0C-73F5593DC30A}"/>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39877B90-5584-CBF2-B277-DC42F6EA4762}"/>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59936307-AB5B-F43A-FFA7-A53849F06CE2}"/>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63893DAB-EC7E-45D1-18E5-DA577B991116}"/>
              </a:ext>
            </a:extLst>
          </p:cNvPr>
          <p:cNvSpPr txBox="1"/>
          <p:nvPr/>
        </p:nvSpPr>
        <p:spPr>
          <a:xfrm>
            <a:off x="1029366" y="1461176"/>
            <a:ext cx="16801434" cy="838819"/>
          </a:xfrm>
          <a:prstGeom prst="rect">
            <a:avLst/>
          </a:prstGeom>
        </p:spPr>
        <p:txBody>
          <a:bodyPr wrap="square"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CÁC ĐẠI LƯỢNG THỐNG KÊ RÚT RA TỪ HISTOGRAM</a:t>
            </a:r>
          </a:p>
        </p:txBody>
      </p:sp>
      <p:sp>
        <p:nvSpPr>
          <p:cNvPr id="22" name="Freeform 22">
            <a:extLst>
              <a:ext uri="{FF2B5EF4-FFF2-40B4-BE49-F238E27FC236}">
                <a16:creationId xmlns:a16="http://schemas.microsoft.com/office/drawing/2014/main" id="{E607ECE6-FF12-1570-7C41-37767B12D531}"/>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E98A51AE-A31B-81E5-844C-57F05064F1FF}"/>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D8584188-4BBA-E268-6C67-876D6401876F}"/>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6D0AA91B-6793-F604-1D68-5E42841920C5}"/>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E08280D8-AA75-9550-766C-7F222037F5B5}"/>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8D7D638E-6F9C-6613-9E6E-DCA6F7F7654E}"/>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20" name="Picture 19">
            <a:extLst>
              <a:ext uri="{FF2B5EF4-FFF2-40B4-BE49-F238E27FC236}">
                <a16:creationId xmlns:a16="http://schemas.microsoft.com/office/drawing/2014/main" id="{E85E3CE6-A424-C7B5-132D-1BFC3C249717}"/>
              </a:ext>
            </a:extLst>
          </p:cNvPr>
          <p:cNvPicPr>
            <a:picLocks noChangeAspect="1"/>
          </p:cNvPicPr>
          <p:nvPr/>
        </p:nvPicPr>
        <p:blipFill>
          <a:blip r:embed="rId4"/>
          <a:stretch>
            <a:fillRect/>
          </a:stretch>
        </p:blipFill>
        <p:spPr>
          <a:xfrm>
            <a:off x="1109548" y="2418795"/>
            <a:ext cx="12758851" cy="7288774"/>
          </a:xfrm>
          <a:prstGeom prst="rect">
            <a:avLst/>
          </a:prstGeom>
        </p:spPr>
      </p:pic>
    </p:spTree>
    <p:extLst>
      <p:ext uri="{BB962C8B-B14F-4D97-AF65-F5344CB8AC3E}">
        <p14:creationId xmlns:p14="http://schemas.microsoft.com/office/powerpoint/2010/main" val="2493109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F406D-D91A-CC3B-98F7-904F3B97270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3B8A1CFB-9F9A-6F6C-BDE9-26BD4C15CD14}"/>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E0B78AD1-5466-25E1-C09E-2EC6865E1D5C}"/>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EEAF4DB4-EF6D-836F-68E8-1D2283A6E561}"/>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5EFEDA7-33CE-903C-B2C0-73EDC0881E91}"/>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07D741DB-7A30-498D-7851-C912BDA2F3B2}"/>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D9F106FF-C902-0A4B-63EA-CCA22CC46E77}"/>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26E08AC5-88CC-BA42-8ADF-407A3FE56901}"/>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7A476A5B-5482-1C2B-4C23-3043756D9A98}"/>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51E6D7E4-D4F9-EC64-7669-4775F45DA402}"/>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E18CCC60-39D0-2090-B540-CFCE44DB076E}"/>
              </a:ext>
            </a:extLst>
          </p:cNvPr>
          <p:cNvSpPr txBox="1"/>
          <p:nvPr/>
        </p:nvSpPr>
        <p:spPr>
          <a:xfrm>
            <a:off x="1029366" y="1461176"/>
            <a:ext cx="16801434" cy="838819"/>
          </a:xfrm>
          <a:prstGeom prst="rect">
            <a:avLst/>
          </a:prstGeom>
        </p:spPr>
        <p:txBody>
          <a:bodyPr wrap="square"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ĐỌC HISTOGRAM CHUẨN ĐOÁN CHẤT LƯỢNG ẢNH</a:t>
            </a:r>
          </a:p>
        </p:txBody>
      </p:sp>
      <p:sp>
        <p:nvSpPr>
          <p:cNvPr id="22" name="Freeform 22">
            <a:extLst>
              <a:ext uri="{FF2B5EF4-FFF2-40B4-BE49-F238E27FC236}">
                <a16:creationId xmlns:a16="http://schemas.microsoft.com/office/drawing/2014/main" id="{1FB04D42-B64D-8C77-2EA4-C35AD38D2CC5}"/>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571036E9-1741-9AFE-ED5C-547C36DD60E9}"/>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1FAD6284-E012-7FB4-65D4-6E533D21ADB7}"/>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DB45290C-156A-4E6F-6411-D033851513AF}"/>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0A1D5A45-B4C4-6DEB-245B-C3B9550F00A5}"/>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564CD4C8-D56D-B140-51F9-7C7378940012}"/>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2" name="Sáu dạng histogram điển hình của ảnh xám 8 bit (dữ liệu tổng hợp để minh hoạ)" descr="Sáu dạng histogram điển hình của ảnh xám 8 bit (dữ liệu tổng hợp để minh hoạ)" title="Sáu dạng histogram điển hình của ảnh xám 8 bit (dữ liệu tổng hợp để minh hoạ)">
            <a:extLst>
              <a:ext uri="{FF2B5EF4-FFF2-40B4-BE49-F238E27FC236}">
                <a16:creationId xmlns:a16="http://schemas.microsoft.com/office/drawing/2014/main" id="{8A31B7E6-57EC-AA1C-5856-C52889297688}"/>
              </a:ext>
            </a:extLst>
          </p:cNvPr>
          <p:cNvPicPr>
            <a:picLocks noChangeAspect="1"/>
          </p:cNvPicPr>
          <p:nvPr/>
        </p:nvPicPr>
        <p:blipFill>
          <a:blip r:embed="rId4"/>
          <a:srcRect/>
          <a:stretch>
            <a:fillRect/>
          </a:stretch>
        </p:blipFill>
        <p:spPr bwMode="auto">
          <a:xfrm>
            <a:off x="1029366" y="2696265"/>
            <a:ext cx="13296348" cy="6790635"/>
          </a:xfrm>
          <a:prstGeom prst="rect">
            <a:avLst/>
          </a:prstGeom>
        </p:spPr>
      </p:pic>
    </p:spTree>
    <p:extLst>
      <p:ext uri="{BB962C8B-B14F-4D97-AF65-F5344CB8AC3E}">
        <p14:creationId xmlns:p14="http://schemas.microsoft.com/office/powerpoint/2010/main" val="966610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96922-8284-8C59-AEE7-B9C622AEB34E}"/>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94A95176-23B6-FC5A-17DE-5AFA4DD583E0}"/>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221BBB34-1145-644B-B8A9-5EA1A8F4654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305C55F7-BE46-F544-0832-645CA1706B7C}"/>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7A2B9F5E-9E57-A82C-2FAC-46E4ACE35DD6}"/>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1B9502A7-2DD1-9E1E-64AD-5129095E4E4C}"/>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45595BCE-A503-7C81-5B0A-44F84CF6E495}"/>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F1A7505A-567E-A23C-F6B6-A8ACA7832202}"/>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C8388E98-88DC-9056-F3C3-77D9EBD1DFAE}"/>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95827859-DD0D-1FD9-ACA6-68D033F6B55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C3080439-21CA-1A2A-D7EB-F76EA621991F}"/>
              </a:ext>
            </a:extLst>
          </p:cNvPr>
          <p:cNvSpPr txBox="1"/>
          <p:nvPr/>
        </p:nvSpPr>
        <p:spPr>
          <a:xfrm>
            <a:off x="1029366" y="1461176"/>
            <a:ext cx="16801434" cy="838819"/>
          </a:xfrm>
          <a:prstGeom prst="rect">
            <a:avLst/>
          </a:prstGeom>
        </p:spPr>
        <p:txBody>
          <a:bodyPr wrap="square"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ĐỌC HISTOGRAM CHUẨN ĐOÁN CHẤT LƯỢNG ẢNH</a:t>
            </a:r>
          </a:p>
        </p:txBody>
      </p:sp>
      <p:sp>
        <p:nvSpPr>
          <p:cNvPr id="22" name="Freeform 22">
            <a:extLst>
              <a:ext uri="{FF2B5EF4-FFF2-40B4-BE49-F238E27FC236}">
                <a16:creationId xmlns:a16="http://schemas.microsoft.com/office/drawing/2014/main" id="{145E4661-C94A-FA4F-96F8-D46D07379DD2}"/>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F630394E-5452-CBD3-7D26-7F6C43BC5A4E}"/>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0211B7FB-FCD0-8FA2-332F-D8C68C24CA4A}"/>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8FE59AC9-88D3-683F-84B0-414A701ECDE1}"/>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E0B6FDF4-177D-6359-F960-3C160925DC49}"/>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FC0CBBFE-517A-73B2-B966-8B60868CFD67}"/>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4" name="Picture 3">
            <a:extLst>
              <a:ext uri="{FF2B5EF4-FFF2-40B4-BE49-F238E27FC236}">
                <a16:creationId xmlns:a16="http://schemas.microsoft.com/office/drawing/2014/main" id="{5C2D2559-FCD1-6E3D-B166-34745E0196E3}"/>
              </a:ext>
            </a:extLst>
          </p:cNvPr>
          <p:cNvPicPr>
            <a:picLocks noChangeAspect="1"/>
          </p:cNvPicPr>
          <p:nvPr/>
        </p:nvPicPr>
        <p:blipFill>
          <a:blip r:embed="rId4"/>
          <a:stretch>
            <a:fillRect/>
          </a:stretch>
        </p:blipFill>
        <p:spPr>
          <a:xfrm>
            <a:off x="998885" y="2379757"/>
            <a:ext cx="13781699" cy="7402397"/>
          </a:xfrm>
          <a:prstGeom prst="rect">
            <a:avLst/>
          </a:prstGeom>
        </p:spPr>
      </p:pic>
    </p:spTree>
    <p:extLst>
      <p:ext uri="{BB962C8B-B14F-4D97-AF65-F5344CB8AC3E}">
        <p14:creationId xmlns:p14="http://schemas.microsoft.com/office/powerpoint/2010/main" val="878461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E4771-6017-73F5-ED1E-2906566A936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516D4D1-303F-2ED2-7FB9-36F236FB9F2B}"/>
              </a:ext>
            </a:extLst>
          </p:cNvPr>
          <p:cNvGrpSpPr/>
          <p:nvPr/>
        </p:nvGrpSpPr>
        <p:grpSpPr>
          <a:xfrm>
            <a:off x="11926753" y="0"/>
            <a:ext cx="13716000" cy="10287000"/>
            <a:chOff x="0" y="0"/>
            <a:chExt cx="812800" cy="609600"/>
          </a:xfrm>
        </p:grpSpPr>
        <p:sp>
          <p:nvSpPr>
            <p:cNvPr id="3" name="Freeform 3">
              <a:extLst>
                <a:ext uri="{FF2B5EF4-FFF2-40B4-BE49-F238E27FC236}">
                  <a16:creationId xmlns:a16="http://schemas.microsoft.com/office/drawing/2014/main" id="{E9822B7B-CF9C-3957-2F7B-C201CDF17054}"/>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1D77F3D3-4F76-9E08-E967-D5F7ADB3186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224D6EC2-FCF2-39F8-EBC5-F9B894AADCD7}"/>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52DC29F4-0B66-0CBE-D54D-8FB0D3AB32C5}"/>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1E203436-CED8-F170-0D43-F1CF75A741BA}"/>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D8989C9-D893-D3F0-05E4-6E8281CF015F}"/>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AA4280BE-B16A-4E52-5AB7-FBB336E50430}"/>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C77E5D9B-AFE7-C719-2335-F223D871A60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3FE3D12B-9700-6496-8CD0-6DC39E39B0E7}"/>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04FC14D2-77B8-85F4-83F9-5B623AC9B79D}"/>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2D50DAEC-53F7-9F23-6659-E417E9EA3F7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C63BC7E2-4C29-F11E-251C-A71A0F307C6C}"/>
              </a:ext>
            </a:extLst>
          </p:cNvPr>
          <p:cNvSpPr/>
          <p:nvPr/>
        </p:nvSpPr>
        <p:spPr>
          <a:xfrm>
            <a:off x="1028700" y="2552700"/>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66E13B93-AAC2-A3A4-80CC-B172C03F0795}"/>
              </a:ext>
            </a:extLst>
          </p:cNvPr>
          <p:cNvGrpSpPr/>
          <p:nvPr/>
        </p:nvGrpSpPr>
        <p:grpSpPr>
          <a:xfrm>
            <a:off x="1059180" y="4346267"/>
            <a:ext cx="10138495" cy="726721"/>
            <a:chOff x="0" y="0"/>
            <a:chExt cx="3096350" cy="221945"/>
          </a:xfrm>
        </p:grpSpPr>
        <p:sp>
          <p:nvSpPr>
            <p:cNvPr id="16" name="Freeform 16">
              <a:extLst>
                <a:ext uri="{FF2B5EF4-FFF2-40B4-BE49-F238E27FC236}">
                  <a16:creationId xmlns:a16="http://schemas.microsoft.com/office/drawing/2014/main" id="{EBE00ADB-C63E-8E6A-4F74-E0908CC1C6DF}"/>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17" name="TextBox 17">
              <a:extLst>
                <a:ext uri="{FF2B5EF4-FFF2-40B4-BE49-F238E27FC236}">
                  <a16:creationId xmlns:a16="http://schemas.microsoft.com/office/drawing/2014/main" id="{D0327BE7-0A64-E522-AB25-38A7658AC8CE}"/>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18" name="AutoShape 18">
            <a:extLst>
              <a:ext uri="{FF2B5EF4-FFF2-40B4-BE49-F238E27FC236}">
                <a16:creationId xmlns:a16="http://schemas.microsoft.com/office/drawing/2014/main" id="{3CDFCA08-71AD-7805-F695-FB1D67C3FF70}"/>
              </a:ext>
            </a:extLst>
          </p:cNvPr>
          <p:cNvSpPr/>
          <p:nvPr/>
        </p:nvSpPr>
        <p:spPr>
          <a:xfrm>
            <a:off x="2159267" y="4511231"/>
            <a:ext cx="0" cy="396795"/>
          </a:xfrm>
          <a:prstGeom prst="line">
            <a:avLst/>
          </a:prstGeom>
          <a:ln w="19050" cap="flat">
            <a:solidFill>
              <a:srgbClr val="BA97FC"/>
            </a:solidFill>
            <a:prstDash val="solid"/>
            <a:headEnd type="none" w="sm" len="sm"/>
            <a:tailEnd type="none" w="sm" len="sm"/>
          </a:ln>
        </p:spPr>
      </p:sp>
      <p:grpSp>
        <p:nvGrpSpPr>
          <p:cNvPr id="19" name="Group 19">
            <a:extLst>
              <a:ext uri="{FF2B5EF4-FFF2-40B4-BE49-F238E27FC236}">
                <a16:creationId xmlns:a16="http://schemas.microsoft.com/office/drawing/2014/main" id="{F61029EC-F2E0-1497-094E-021D5FD1B0A2}"/>
              </a:ext>
            </a:extLst>
          </p:cNvPr>
          <p:cNvGrpSpPr/>
          <p:nvPr/>
        </p:nvGrpSpPr>
        <p:grpSpPr>
          <a:xfrm>
            <a:off x="11640961" y="304912"/>
            <a:ext cx="11731896" cy="8798922"/>
            <a:chOff x="0" y="0"/>
            <a:chExt cx="812800" cy="609600"/>
          </a:xfrm>
        </p:grpSpPr>
        <p:sp>
          <p:nvSpPr>
            <p:cNvPr id="20" name="Freeform 20">
              <a:extLst>
                <a:ext uri="{FF2B5EF4-FFF2-40B4-BE49-F238E27FC236}">
                  <a16:creationId xmlns:a16="http://schemas.microsoft.com/office/drawing/2014/main" id="{6FB76D4E-F868-6798-4F73-F725310D2532}"/>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21" name="TextBox 21">
              <a:extLst>
                <a:ext uri="{FF2B5EF4-FFF2-40B4-BE49-F238E27FC236}">
                  <a16:creationId xmlns:a16="http://schemas.microsoft.com/office/drawing/2014/main" id="{0843DBEB-715C-0157-8638-0C0B2264D084}"/>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TextBox 22">
            <a:extLst>
              <a:ext uri="{FF2B5EF4-FFF2-40B4-BE49-F238E27FC236}">
                <a16:creationId xmlns:a16="http://schemas.microsoft.com/office/drawing/2014/main" id="{F7070407-6C9A-C713-55C7-B30CB88FEDE1}"/>
              </a:ext>
            </a:extLst>
          </p:cNvPr>
          <p:cNvSpPr txBox="1"/>
          <p:nvPr/>
        </p:nvSpPr>
        <p:spPr>
          <a:xfrm>
            <a:off x="1004357" y="1338620"/>
            <a:ext cx="12192944" cy="984885"/>
          </a:xfrm>
          <a:prstGeom prst="rect">
            <a:avLst/>
          </a:prstGeom>
        </p:spPr>
        <p:txBody>
          <a:bodyPr lIns="0" tIns="0" rIns="0" bIns="0" rtlCol="0" anchor="t">
            <a:spAutoFit/>
          </a:bodyPr>
          <a:lstStyle/>
          <a:p>
            <a:pPr algn="l"/>
            <a:r>
              <a:rPr lang="en-US" sz="3200" b="1">
                <a:solidFill>
                  <a:srgbClr val="000000"/>
                </a:solidFill>
                <a:latin typeface="Noto Sans Bold"/>
                <a:ea typeface="Noto Sans Bold"/>
                <a:cs typeface="Noto Sans Bold"/>
                <a:sym typeface="Noto Sans Bold"/>
              </a:rPr>
              <a:t>CHƯƠNG II: CÁC KĨ THUẬT TĂNG CƯỜNG CHẤT LƯỢNG ẢNH DỰA TRÊN HISTOGRAM</a:t>
            </a:r>
          </a:p>
        </p:txBody>
      </p:sp>
      <p:grpSp>
        <p:nvGrpSpPr>
          <p:cNvPr id="23" name="Group 23">
            <a:extLst>
              <a:ext uri="{FF2B5EF4-FFF2-40B4-BE49-F238E27FC236}">
                <a16:creationId xmlns:a16="http://schemas.microsoft.com/office/drawing/2014/main" id="{FFA737B0-29F6-B42C-7483-ADCE58AAF6D5}"/>
              </a:ext>
            </a:extLst>
          </p:cNvPr>
          <p:cNvGrpSpPr/>
          <p:nvPr/>
        </p:nvGrpSpPr>
        <p:grpSpPr>
          <a:xfrm>
            <a:off x="12069673" y="782942"/>
            <a:ext cx="11731896" cy="8798922"/>
            <a:chOff x="0" y="0"/>
            <a:chExt cx="812800" cy="609600"/>
          </a:xfrm>
        </p:grpSpPr>
        <p:sp>
          <p:nvSpPr>
            <p:cNvPr id="24" name="Freeform 24">
              <a:extLst>
                <a:ext uri="{FF2B5EF4-FFF2-40B4-BE49-F238E27FC236}">
                  <a16:creationId xmlns:a16="http://schemas.microsoft.com/office/drawing/2014/main" id="{2DBBA660-5C31-BB06-70EA-A679BE4AD98B}"/>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5" name="TextBox 25">
              <a:extLst>
                <a:ext uri="{FF2B5EF4-FFF2-40B4-BE49-F238E27FC236}">
                  <a16:creationId xmlns:a16="http://schemas.microsoft.com/office/drawing/2014/main" id="{F43F4501-7057-15D9-9B00-41AD468E35E3}"/>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6" name="Freeform 26">
            <a:extLst>
              <a:ext uri="{FF2B5EF4-FFF2-40B4-BE49-F238E27FC236}">
                <a16:creationId xmlns:a16="http://schemas.microsoft.com/office/drawing/2014/main" id="{0E8DA8B2-FFD3-0045-0C8F-83266ABC8E40}"/>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7" name="Freeform 27">
            <a:extLst>
              <a:ext uri="{FF2B5EF4-FFF2-40B4-BE49-F238E27FC236}">
                <a16:creationId xmlns:a16="http://schemas.microsoft.com/office/drawing/2014/main" id="{68A5DBC7-2710-B1AE-700A-0ED5852E8A01}"/>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sp>
        <p:nvSpPr>
          <p:cNvPr id="28" name="TextBox 28">
            <a:extLst>
              <a:ext uri="{FF2B5EF4-FFF2-40B4-BE49-F238E27FC236}">
                <a16:creationId xmlns:a16="http://schemas.microsoft.com/office/drawing/2014/main" id="{6422E8E8-4E42-4D90-5E97-A12378ABBC7A}"/>
              </a:ext>
            </a:extLst>
          </p:cNvPr>
          <p:cNvSpPr txBox="1"/>
          <p:nvPr/>
        </p:nvSpPr>
        <p:spPr>
          <a:xfrm>
            <a:off x="986285" y="2713269"/>
            <a:ext cx="10907623" cy="596900"/>
          </a:xfrm>
          <a:prstGeom prst="rect">
            <a:avLst/>
          </a:prstGeom>
        </p:spPr>
        <p:txBody>
          <a:bodyPr lIns="0" tIns="0" rIns="0" bIns="0" rtlCol="0" anchor="t">
            <a:spAutoFit/>
          </a:bodyPr>
          <a:lstStyle/>
          <a:p>
            <a:pPr algn="l">
              <a:lnSpc>
                <a:spcPts val="4900"/>
              </a:lnSpc>
            </a:pPr>
            <a:r>
              <a:rPr lang="en-US" sz="3500" b="1">
                <a:solidFill>
                  <a:srgbClr val="5F0EFF"/>
                </a:solidFill>
                <a:latin typeface="Noto Sans Bold"/>
                <a:ea typeface="Noto Sans Bold"/>
                <a:cs typeface="Noto Sans Bold"/>
                <a:sym typeface="Noto Sans Bold"/>
              </a:rPr>
              <a:t>Nội dung trình bày</a:t>
            </a:r>
          </a:p>
        </p:txBody>
      </p:sp>
      <p:sp>
        <p:nvSpPr>
          <p:cNvPr id="29" name="TextBox 29">
            <a:extLst>
              <a:ext uri="{FF2B5EF4-FFF2-40B4-BE49-F238E27FC236}">
                <a16:creationId xmlns:a16="http://schemas.microsoft.com/office/drawing/2014/main" id="{080B02B8-E233-5D25-AB55-61613B43B704}"/>
              </a:ext>
            </a:extLst>
          </p:cNvPr>
          <p:cNvSpPr txBox="1"/>
          <p:nvPr/>
        </p:nvSpPr>
        <p:spPr>
          <a:xfrm>
            <a:off x="1348585" y="4512460"/>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01</a:t>
            </a:r>
          </a:p>
        </p:txBody>
      </p:sp>
      <p:sp>
        <p:nvSpPr>
          <p:cNvPr id="30" name="TextBox 30">
            <a:extLst>
              <a:ext uri="{FF2B5EF4-FFF2-40B4-BE49-F238E27FC236}">
                <a16:creationId xmlns:a16="http://schemas.microsoft.com/office/drawing/2014/main" id="{5BC77EF3-74BC-C455-48D1-0884F42A8DD1}"/>
              </a:ext>
            </a:extLst>
          </p:cNvPr>
          <p:cNvSpPr txBox="1"/>
          <p:nvPr/>
        </p:nvSpPr>
        <p:spPr>
          <a:xfrm>
            <a:off x="2317796" y="4520589"/>
            <a:ext cx="7995967" cy="348109"/>
          </a:xfrm>
          <a:prstGeom prst="rect">
            <a:avLst/>
          </a:prstGeom>
        </p:spPr>
        <p:txBody>
          <a:bodyPr wrap="square" lIns="0" tIns="0" rIns="0" bIns="0" rtlCol="0" anchor="t">
            <a:spAutoFit/>
          </a:bodyPr>
          <a:lstStyle/>
          <a:p>
            <a:pPr algn="l">
              <a:lnSpc>
                <a:spcPts val="2926"/>
              </a:lnSpc>
            </a:pPr>
            <a:r>
              <a:rPr lang="vi-VN" sz="2090" b="1">
                <a:solidFill>
                  <a:srgbClr val="000000"/>
                </a:solidFill>
                <a:latin typeface="Noto Sans Bold"/>
                <a:ea typeface="Noto Sans Bold"/>
                <a:cs typeface="Noto Sans Bold"/>
                <a:sym typeface="Noto Sans Bold"/>
              </a:rPr>
              <a:t>Tổng quan về tăng cường ảnh trong miền không gian</a:t>
            </a:r>
            <a:endParaRPr lang="en-US" sz="2090" b="1">
              <a:solidFill>
                <a:srgbClr val="000000"/>
              </a:solidFill>
              <a:latin typeface="Noto Sans Bold"/>
              <a:ea typeface="Noto Sans Bold"/>
              <a:cs typeface="Noto Sans Bold"/>
              <a:sym typeface="Noto Sans Bold"/>
            </a:endParaRPr>
          </a:p>
        </p:txBody>
      </p:sp>
      <p:grpSp>
        <p:nvGrpSpPr>
          <p:cNvPr id="31" name="Group 31">
            <a:extLst>
              <a:ext uri="{FF2B5EF4-FFF2-40B4-BE49-F238E27FC236}">
                <a16:creationId xmlns:a16="http://schemas.microsoft.com/office/drawing/2014/main" id="{DD446982-0604-4662-5479-B84BF780C5AF}"/>
              </a:ext>
            </a:extLst>
          </p:cNvPr>
          <p:cNvGrpSpPr/>
          <p:nvPr/>
        </p:nvGrpSpPr>
        <p:grpSpPr>
          <a:xfrm>
            <a:off x="1059180" y="5247682"/>
            <a:ext cx="10138495" cy="726721"/>
            <a:chOff x="0" y="0"/>
            <a:chExt cx="3096350" cy="221945"/>
          </a:xfrm>
        </p:grpSpPr>
        <p:sp>
          <p:nvSpPr>
            <p:cNvPr id="32" name="Freeform 32">
              <a:extLst>
                <a:ext uri="{FF2B5EF4-FFF2-40B4-BE49-F238E27FC236}">
                  <a16:creationId xmlns:a16="http://schemas.microsoft.com/office/drawing/2014/main" id="{7F73D3E1-F475-5918-A8FB-85601E9B5C67}"/>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33" name="TextBox 33">
              <a:extLst>
                <a:ext uri="{FF2B5EF4-FFF2-40B4-BE49-F238E27FC236}">
                  <a16:creationId xmlns:a16="http://schemas.microsoft.com/office/drawing/2014/main" id="{064E34E2-0874-A452-F229-12A2D0D8EC63}"/>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34" name="AutoShape 34">
            <a:extLst>
              <a:ext uri="{FF2B5EF4-FFF2-40B4-BE49-F238E27FC236}">
                <a16:creationId xmlns:a16="http://schemas.microsoft.com/office/drawing/2014/main" id="{F2E7BE12-8C8C-42E0-3C1E-4C61ADFFB080}"/>
              </a:ext>
            </a:extLst>
          </p:cNvPr>
          <p:cNvSpPr/>
          <p:nvPr/>
        </p:nvSpPr>
        <p:spPr>
          <a:xfrm>
            <a:off x="2159267" y="5412645"/>
            <a:ext cx="0" cy="396795"/>
          </a:xfrm>
          <a:prstGeom prst="line">
            <a:avLst/>
          </a:prstGeom>
          <a:ln w="19050" cap="flat">
            <a:solidFill>
              <a:srgbClr val="BA97FC"/>
            </a:solidFill>
            <a:prstDash val="solid"/>
            <a:headEnd type="none" w="sm" len="sm"/>
            <a:tailEnd type="none" w="sm" len="sm"/>
          </a:ln>
        </p:spPr>
      </p:sp>
      <p:sp>
        <p:nvSpPr>
          <p:cNvPr id="35" name="TextBox 35">
            <a:extLst>
              <a:ext uri="{FF2B5EF4-FFF2-40B4-BE49-F238E27FC236}">
                <a16:creationId xmlns:a16="http://schemas.microsoft.com/office/drawing/2014/main" id="{8D400F87-38C7-D29F-D4F9-38A548350CFC}"/>
              </a:ext>
            </a:extLst>
          </p:cNvPr>
          <p:cNvSpPr txBox="1"/>
          <p:nvPr/>
        </p:nvSpPr>
        <p:spPr>
          <a:xfrm>
            <a:off x="1348585" y="5413875"/>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02</a:t>
            </a:r>
          </a:p>
        </p:txBody>
      </p:sp>
      <p:sp>
        <p:nvSpPr>
          <p:cNvPr id="36" name="TextBox 36">
            <a:extLst>
              <a:ext uri="{FF2B5EF4-FFF2-40B4-BE49-F238E27FC236}">
                <a16:creationId xmlns:a16="http://schemas.microsoft.com/office/drawing/2014/main" id="{A97B23CF-4EE1-46B7-88C9-6F8B7DA6402D}"/>
              </a:ext>
            </a:extLst>
          </p:cNvPr>
          <p:cNvSpPr txBox="1"/>
          <p:nvPr/>
        </p:nvSpPr>
        <p:spPr>
          <a:xfrm>
            <a:off x="2317796" y="5422004"/>
            <a:ext cx="5555111" cy="348109"/>
          </a:xfrm>
          <a:prstGeom prst="rect">
            <a:avLst/>
          </a:prstGeom>
        </p:spPr>
        <p:txBody>
          <a:bodyPr wrap="square" lIns="0" tIns="0" rIns="0" bIns="0" rtlCol="0" anchor="t">
            <a:spAutoFit/>
          </a:bodyPr>
          <a:lstStyle/>
          <a:p>
            <a:pPr algn="l">
              <a:lnSpc>
                <a:spcPts val="2926"/>
              </a:lnSpc>
            </a:pPr>
            <a:r>
              <a:rPr lang="vi-VN" sz="2090" b="1">
                <a:solidFill>
                  <a:srgbClr val="000000"/>
                </a:solidFill>
                <a:latin typeface="Noto Sans Bold"/>
                <a:ea typeface="Noto Sans Bold"/>
                <a:cs typeface="Noto Sans Bold"/>
                <a:sym typeface="Noto Sans Bold"/>
              </a:rPr>
              <a:t>Các phép biến đổi cường độ cơ bản</a:t>
            </a:r>
            <a:endParaRPr lang="en-US" sz="2090" b="1">
              <a:solidFill>
                <a:srgbClr val="000000"/>
              </a:solidFill>
              <a:latin typeface="Noto Sans Bold"/>
              <a:ea typeface="Noto Sans Bold"/>
              <a:cs typeface="Noto Sans Bold"/>
              <a:sym typeface="Noto Sans Bold"/>
            </a:endParaRPr>
          </a:p>
        </p:txBody>
      </p:sp>
      <p:grpSp>
        <p:nvGrpSpPr>
          <p:cNvPr id="37" name="Group 37">
            <a:extLst>
              <a:ext uri="{FF2B5EF4-FFF2-40B4-BE49-F238E27FC236}">
                <a16:creationId xmlns:a16="http://schemas.microsoft.com/office/drawing/2014/main" id="{ACF59F5A-E8C3-32F0-5D31-8521FD8073CB}"/>
              </a:ext>
            </a:extLst>
          </p:cNvPr>
          <p:cNvGrpSpPr/>
          <p:nvPr/>
        </p:nvGrpSpPr>
        <p:grpSpPr>
          <a:xfrm>
            <a:off x="1059180" y="6145853"/>
            <a:ext cx="10138495" cy="726721"/>
            <a:chOff x="0" y="0"/>
            <a:chExt cx="3096350" cy="221945"/>
          </a:xfrm>
        </p:grpSpPr>
        <p:sp>
          <p:nvSpPr>
            <p:cNvPr id="38" name="Freeform 38">
              <a:extLst>
                <a:ext uri="{FF2B5EF4-FFF2-40B4-BE49-F238E27FC236}">
                  <a16:creationId xmlns:a16="http://schemas.microsoft.com/office/drawing/2014/main" id="{270E5028-2169-4F06-D0B1-228EF0150611}"/>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39" name="TextBox 39">
              <a:extLst>
                <a:ext uri="{FF2B5EF4-FFF2-40B4-BE49-F238E27FC236}">
                  <a16:creationId xmlns:a16="http://schemas.microsoft.com/office/drawing/2014/main" id="{59C78689-15F9-5A13-3B20-31E6FF1480C7}"/>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40" name="AutoShape 40">
            <a:extLst>
              <a:ext uri="{FF2B5EF4-FFF2-40B4-BE49-F238E27FC236}">
                <a16:creationId xmlns:a16="http://schemas.microsoft.com/office/drawing/2014/main" id="{1895CDFA-D0FF-0AA4-6E37-6A284A5A1578}"/>
              </a:ext>
            </a:extLst>
          </p:cNvPr>
          <p:cNvSpPr/>
          <p:nvPr/>
        </p:nvSpPr>
        <p:spPr>
          <a:xfrm>
            <a:off x="2159267" y="6310817"/>
            <a:ext cx="0" cy="396795"/>
          </a:xfrm>
          <a:prstGeom prst="line">
            <a:avLst/>
          </a:prstGeom>
          <a:ln w="19050" cap="flat">
            <a:solidFill>
              <a:srgbClr val="BA97FC"/>
            </a:solidFill>
            <a:prstDash val="solid"/>
            <a:headEnd type="none" w="sm" len="sm"/>
            <a:tailEnd type="none" w="sm" len="sm"/>
          </a:ln>
        </p:spPr>
      </p:sp>
      <p:sp>
        <p:nvSpPr>
          <p:cNvPr id="41" name="TextBox 41">
            <a:extLst>
              <a:ext uri="{FF2B5EF4-FFF2-40B4-BE49-F238E27FC236}">
                <a16:creationId xmlns:a16="http://schemas.microsoft.com/office/drawing/2014/main" id="{7AD4FA5C-D89D-B430-D5A9-4D6D98134C3D}"/>
              </a:ext>
            </a:extLst>
          </p:cNvPr>
          <p:cNvSpPr txBox="1"/>
          <p:nvPr/>
        </p:nvSpPr>
        <p:spPr>
          <a:xfrm>
            <a:off x="1348585" y="6312047"/>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03</a:t>
            </a:r>
          </a:p>
        </p:txBody>
      </p:sp>
      <p:sp>
        <p:nvSpPr>
          <p:cNvPr id="42" name="TextBox 42">
            <a:extLst>
              <a:ext uri="{FF2B5EF4-FFF2-40B4-BE49-F238E27FC236}">
                <a16:creationId xmlns:a16="http://schemas.microsoft.com/office/drawing/2014/main" id="{2AA7D6BA-701B-6B44-36C1-DEBE63BDFD53}"/>
              </a:ext>
            </a:extLst>
          </p:cNvPr>
          <p:cNvSpPr txBox="1"/>
          <p:nvPr/>
        </p:nvSpPr>
        <p:spPr>
          <a:xfrm>
            <a:off x="2317796" y="6320175"/>
            <a:ext cx="8609283" cy="348109"/>
          </a:xfrm>
          <a:prstGeom prst="rect">
            <a:avLst/>
          </a:prstGeom>
        </p:spPr>
        <p:txBody>
          <a:bodyPr wrap="square" lIns="0" tIns="0" rIns="0" bIns="0" rtlCol="0" anchor="t">
            <a:spAutoFit/>
          </a:bodyPr>
          <a:lstStyle/>
          <a:p>
            <a:pPr algn="l">
              <a:lnSpc>
                <a:spcPts val="2926"/>
              </a:lnSpc>
            </a:pPr>
            <a:r>
              <a:rPr lang="vi-VN" sz="2090" b="1">
                <a:solidFill>
                  <a:srgbClr val="000000"/>
                </a:solidFill>
                <a:latin typeface="Noto Sans Bold"/>
                <a:ea typeface="Noto Sans Bold"/>
                <a:cs typeface="Noto Sans Bold"/>
                <a:sym typeface="Noto Sans Bold"/>
              </a:rPr>
              <a:t>Kéo giãn tương phản</a:t>
            </a:r>
            <a:endParaRPr lang="en-US" sz="2090" b="1">
              <a:solidFill>
                <a:srgbClr val="000000"/>
              </a:solidFill>
              <a:latin typeface="Noto Sans Bold"/>
              <a:ea typeface="Noto Sans Bold"/>
              <a:cs typeface="Noto Sans Bold"/>
              <a:sym typeface="Noto Sans Bold"/>
            </a:endParaRPr>
          </a:p>
        </p:txBody>
      </p:sp>
      <p:grpSp>
        <p:nvGrpSpPr>
          <p:cNvPr id="43" name="Group 43">
            <a:extLst>
              <a:ext uri="{FF2B5EF4-FFF2-40B4-BE49-F238E27FC236}">
                <a16:creationId xmlns:a16="http://schemas.microsoft.com/office/drawing/2014/main" id="{AB107FF9-E598-5F5C-B2EA-20F6F1AB1D7D}"/>
              </a:ext>
            </a:extLst>
          </p:cNvPr>
          <p:cNvGrpSpPr/>
          <p:nvPr/>
        </p:nvGrpSpPr>
        <p:grpSpPr>
          <a:xfrm>
            <a:off x="1059180" y="7044025"/>
            <a:ext cx="10138495" cy="726721"/>
            <a:chOff x="0" y="0"/>
            <a:chExt cx="3096350" cy="221945"/>
          </a:xfrm>
        </p:grpSpPr>
        <p:sp>
          <p:nvSpPr>
            <p:cNvPr id="44" name="Freeform 44">
              <a:extLst>
                <a:ext uri="{FF2B5EF4-FFF2-40B4-BE49-F238E27FC236}">
                  <a16:creationId xmlns:a16="http://schemas.microsoft.com/office/drawing/2014/main" id="{0C41FDF5-E63B-DDFA-79B7-0EAD024DDE6D}"/>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45" name="TextBox 45">
              <a:extLst>
                <a:ext uri="{FF2B5EF4-FFF2-40B4-BE49-F238E27FC236}">
                  <a16:creationId xmlns:a16="http://schemas.microsoft.com/office/drawing/2014/main" id="{F6D15937-FB7F-E666-625E-AF82A0994595}"/>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46" name="AutoShape 46">
            <a:extLst>
              <a:ext uri="{FF2B5EF4-FFF2-40B4-BE49-F238E27FC236}">
                <a16:creationId xmlns:a16="http://schemas.microsoft.com/office/drawing/2014/main" id="{F69221F8-20F6-BB50-AB1E-E43212F1AEF6}"/>
              </a:ext>
            </a:extLst>
          </p:cNvPr>
          <p:cNvSpPr/>
          <p:nvPr/>
        </p:nvSpPr>
        <p:spPr>
          <a:xfrm>
            <a:off x="2159267" y="7208988"/>
            <a:ext cx="0" cy="396795"/>
          </a:xfrm>
          <a:prstGeom prst="line">
            <a:avLst/>
          </a:prstGeom>
          <a:ln w="19050" cap="flat">
            <a:solidFill>
              <a:srgbClr val="BA97FC"/>
            </a:solidFill>
            <a:prstDash val="solid"/>
            <a:headEnd type="none" w="sm" len="sm"/>
            <a:tailEnd type="none" w="sm" len="sm"/>
          </a:ln>
        </p:spPr>
      </p:sp>
      <p:sp>
        <p:nvSpPr>
          <p:cNvPr id="47" name="TextBox 47">
            <a:extLst>
              <a:ext uri="{FF2B5EF4-FFF2-40B4-BE49-F238E27FC236}">
                <a16:creationId xmlns:a16="http://schemas.microsoft.com/office/drawing/2014/main" id="{ABF73173-F257-16B2-44CC-D76FE4073DCB}"/>
              </a:ext>
            </a:extLst>
          </p:cNvPr>
          <p:cNvSpPr txBox="1"/>
          <p:nvPr/>
        </p:nvSpPr>
        <p:spPr>
          <a:xfrm>
            <a:off x="1348585" y="7210218"/>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04</a:t>
            </a:r>
          </a:p>
        </p:txBody>
      </p:sp>
      <p:sp>
        <p:nvSpPr>
          <p:cNvPr id="48" name="TextBox 48">
            <a:extLst>
              <a:ext uri="{FF2B5EF4-FFF2-40B4-BE49-F238E27FC236}">
                <a16:creationId xmlns:a16="http://schemas.microsoft.com/office/drawing/2014/main" id="{912F1F28-2040-9298-7219-C1C4FDCBF39E}"/>
              </a:ext>
            </a:extLst>
          </p:cNvPr>
          <p:cNvSpPr txBox="1"/>
          <p:nvPr/>
        </p:nvSpPr>
        <p:spPr>
          <a:xfrm>
            <a:off x="2317796" y="7218346"/>
            <a:ext cx="7737825" cy="348109"/>
          </a:xfrm>
          <a:prstGeom prst="rect">
            <a:avLst/>
          </a:prstGeom>
        </p:spPr>
        <p:txBody>
          <a:bodyPr wrap="square"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Cân bằng histogram</a:t>
            </a:r>
          </a:p>
        </p:txBody>
      </p:sp>
      <p:grpSp>
        <p:nvGrpSpPr>
          <p:cNvPr id="55" name="Group 55">
            <a:extLst>
              <a:ext uri="{FF2B5EF4-FFF2-40B4-BE49-F238E27FC236}">
                <a16:creationId xmlns:a16="http://schemas.microsoft.com/office/drawing/2014/main" id="{965B2D85-EA5C-2BB6-11A1-3C34938D8A87}"/>
              </a:ext>
            </a:extLst>
          </p:cNvPr>
          <p:cNvGrpSpPr/>
          <p:nvPr/>
        </p:nvGrpSpPr>
        <p:grpSpPr>
          <a:xfrm>
            <a:off x="1004357" y="441261"/>
            <a:ext cx="7162712" cy="649857"/>
            <a:chOff x="0" y="0"/>
            <a:chExt cx="1427911" cy="198470"/>
          </a:xfrm>
        </p:grpSpPr>
        <p:sp>
          <p:nvSpPr>
            <p:cNvPr id="56" name="Freeform 56">
              <a:extLst>
                <a:ext uri="{FF2B5EF4-FFF2-40B4-BE49-F238E27FC236}">
                  <a16:creationId xmlns:a16="http://schemas.microsoft.com/office/drawing/2014/main" id="{0675745C-4CF8-46F3-82DB-908AD5F80959}"/>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7" name="TextBox 57">
              <a:extLst>
                <a:ext uri="{FF2B5EF4-FFF2-40B4-BE49-F238E27FC236}">
                  <a16:creationId xmlns:a16="http://schemas.microsoft.com/office/drawing/2014/main" id="{19E18872-050B-EC53-EE3F-FBE33ACEADFA}"/>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8" name="Freeform 58">
            <a:extLst>
              <a:ext uri="{FF2B5EF4-FFF2-40B4-BE49-F238E27FC236}">
                <a16:creationId xmlns:a16="http://schemas.microsoft.com/office/drawing/2014/main" id="{C84DD41D-B132-54C1-455F-BA4CFE753E1A}"/>
              </a:ext>
            </a:extLst>
          </p:cNvPr>
          <p:cNvSpPr/>
          <p:nvPr/>
        </p:nvSpPr>
        <p:spPr>
          <a:xfrm>
            <a:off x="1357771" y="563413"/>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9" name="TextBox 59">
            <a:extLst>
              <a:ext uri="{FF2B5EF4-FFF2-40B4-BE49-F238E27FC236}">
                <a16:creationId xmlns:a16="http://schemas.microsoft.com/office/drawing/2014/main" id="{BF9E35C7-78F8-AEAD-DCD8-F72E75EDE79D}"/>
              </a:ext>
            </a:extLst>
          </p:cNvPr>
          <p:cNvSpPr txBox="1"/>
          <p:nvPr/>
        </p:nvSpPr>
        <p:spPr>
          <a:xfrm>
            <a:off x="2270971" y="531204"/>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grpSp>
        <p:nvGrpSpPr>
          <p:cNvPr id="51" name="Group 43">
            <a:extLst>
              <a:ext uri="{FF2B5EF4-FFF2-40B4-BE49-F238E27FC236}">
                <a16:creationId xmlns:a16="http://schemas.microsoft.com/office/drawing/2014/main" id="{17750DAE-02D7-4A3D-F000-22A93DD93A9C}"/>
              </a:ext>
            </a:extLst>
          </p:cNvPr>
          <p:cNvGrpSpPr/>
          <p:nvPr/>
        </p:nvGrpSpPr>
        <p:grpSpPr>
          <a:xfrm>
            <a:off x="1059180" y="7926028"/>
            <a:ext cx="10138495" cy="726721"/>
            <a:chOff x="0" y="0"/>
            <a:chExt cx="3096350" cy="221945"/>
          </a:xfrm>
        </p:grpSpPr>
        <p:sp>
          <p:nvSpPr>
            <p:cNvPr id="52" name="Freeform 44">
              <a:extLst>
                <a:ext uri="{FF2B5EF4-FFF2-40B4-BE49-F238E27FC236}">
                  <a16:creationId xmlns:a16="http://schemas.microsoft.com/office/drawing/2014/main" id="{E2ADEDD0-9CEC-D646-B6C3-0277B7461857}"/>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53" name="TextBox 45">
              <a:extLst>
                <a:ext uri="{FF2B5EF4-FFF2-40B4-BE49-F238E27FC236}">
                  <a16:creationId xmlns:a16="http://schemas.microsoft.com/office/drawing/2014/main" id="{F1ABB973-1F9E-901D-6C2F-3A4FA40ADA62}"/>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54" name="TextBox 47">
            <a:extLst>
              <a:ext uri="{FF2B5EF4-FFF2-40B4-BE49-F238E27FC236}">
                <a16:creationId xmlns:a16="http://schemas.microsoft.com/office/drawing/2014/main" id="{CAA18726-79E4-F36C-CD76-A4F26AB3DA73}"/>
              </a:ext>
            </a:extLst>
          </p:cNvPr>
          <p:cNvSpPr txBox="1"/>
          <p:nvPr/>
        </p:nvSpPr>
        <p:spPr>
          <a:xfrm>
            <a:off x="1348585" y="8092221"/>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05</a:t>
            </a:r>
          </a:p>
        </p:txBody>
      </p:sp>
      <p:sp>
        <p:nvSpPr>
          <p:cNvPr id="60" name="TextBox 48">
            <a:extLst>
              <a:ext uri="{FF2B5EF4-FFF2-40B4-BE49-F238E27FC236}">
                <a16:creationId xmlns:a16="http://schemas.microsoft.com/office/drawing/2014/main" id="{EAC6B95F-580F-4B4A-BD2F-5B419D09D54D}"/>
              </a:ext>
            </a:extLst>
          </p:cNvPr>
          <p:cNvSpPr txBox="1"/>
          <p:nvPr/>
        </p:nvSpPr>
        <p:spPr>
          <a:xfrm>
            <a:off x="2317796" y="8100349"/>
            <a:ext cx="7737825" cy="348109"/>
          </a:xfrm>
          <a:prstGeom prst="rect">
            <a:avLst/>
          </a:prstGeom>
        </p:spPr>
        <p:txBody>
          <a:bodyPr wrap="square"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Đặc tả histogram</a:t>
            </a:r>
          </a:p>
        </p:txBody>
      </p:sp>
      <p:grpSp>
        <p:nvGrpSpPr>
          <p:cNvPr id="61" name="Group 43">
            <a:extLst>
              <a:ext uri="{FF2B5EF4-FFF2-40B4-BE49-F238E27FC236}">
                <a16:creationId xmlns:a16="http://schemas.microsoft.com/office/drawing/2014/main" id="{5604FB1C-8B28-1536-0757-0D4367B31D2A}"/>
              </a:ext>
            </a:extLst>
          </p:cNvPr>
          <p:cNvGrpSpPr/>
          <p:nvPr/>
        </p:nvGrpSpPr>
        <p:grpSpPr>
          <a:xfrm>
            <a:off x="1059180" y="8837992"/>
            <a:ext cx="10138495" cy="726721"/>
            <a:chOff x="0" y="0"/>
            <a:chExt cx="3096350" cy="221945"/>
          </a:xfrm>
        </p:grpSpPr>
        <p:sp>
          <p:nvSpPr>
            <p:cNvPr id="62" name="Freeform 44">
              <a:extLst>
                <a:ext uri="{FF2B5EF4-FFF2-40B4-BE49-F238E27FC236}">
                  <a16:creationId xmlns:a16="http://schemas.microsoft.com/office/drawing/2014/main" id="{E0938545-19EA-A724-7523-8D5AF6213474}"/>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63" name="TextBox 45">
              <a:extLst>
                <a:ext uri="{FF2B5EF4-FFF2-40B4-BE49-F238E27FC236}">
                  <a16:creationId xmlns:a16="http://schemas.microsoft.com/office/drawing/2014/main" id="{5D39D517-610E-13EA-2789-0D9C97D00827}"/>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64" name="TextBox 47">
            <a:extLst>
              <a:ext uri="{FF2B5EF4-FFF2-40B4-BE49-F238E27FC236}">
                <a16:creationId xmlns:a16="http://schemas.microsoft.com/office/drawing/2014/main" id="{2C41A8BA-F1D7-D13D-693E-2B8A7EEF1CB8}"/>
              </a:ext>
            </a:extLst>
          </p:cNvPr>
          <p:cNvSpPr txBox="1"/>
          <p:nvPr/>
        </p:nvSpPr>
        <p:spPr>
          <a:xfrm>
            <a:off x="1348585" y="9004185"/>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06</a:t>
            </a:r>
          </a:p>
        </p:txBody>
      </p:sp>
      <p:sp>
        <p:nvSpPr>
          <p:cNvPr id="65" name="TextBox 48">
            <a:extLst>
              <a:ext uri="{FF2B5EF4-FFF2-40B4-BE49-F238E27FC236}">
                <a16:creationId xmlns:a16="http://schemas.microsoft.com/office/drawing/2014/main" id="{FFC33688-153F-5AB6-6D73-130BC80463E5}"/>
              </a:ext>
            </a:extLst>
          </p:cNvPr>
          <p:cNvSpPr txBox="1"/>
          <p:nvPr/>
        </p:nvSpPr>
        <p:spPr>
          <a:xfrm>
            <a:off x="2317796" y="9012313"/>
            <a:ext cx="7737825" cy="348109"/>
          </a:xfrm>
          <a:prstGeom prst="rect">
            <a:avLst/>
          </a:prstGeom>
        </p:spPr>
        <p:txBody>
          <a:bodyPr wrap="square"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Cân bằng histogram thích nghi</a:t>
            </a:r>
          </a:p>
        </p:txBody>
      </p:sp>
      <p:sp>
        <p:nvSpPr>
          <p:cNvPr id="67" name="AutoShape 46">
            <a:extLst>
              <a:ext uri="{FF2B5EF4-FFF2-40B4-BE49-F238E27FC236}">
                <a16:creationId xmlns:a16="http://schemas.microsoft.com/office/drawing/2014/main" id="{0378314C-9290-37BC-8B3A-2DFDFAE7DD23}"/>
              </a:ext>
            </a:extLst>
          </p:cNvPr>
          <p:cNvSpPr/>
          <p:nvPr/>
        </p:nvSpPr>
        <p:spPr>
          <a:xfrm>
            <a:off x="2159267" y="8100349"/>
            <a:ext cx="0" cy="396795"/>
          </a:xfrm>
          <a:prstGeom prst="line">
            <a:avLst/>
          </a:prstGeom>
          <a:ln w="19050" cap="flat">
            <a:solidFill>
              <a:srgbClr val="BA97FC"/>
            </a:solidFill>
            <a:prstDash val="solid"/>
            <a:headEnd type="none" w="sm" len="sm"/>
            <a:tailEnd type="none" w="sm" len="sm"/>
          </a:ln>
        </p:spPr>
      </p:sp>
      <p:sp>
        <p:nvSpPr>
          <p:cNvPr id="69" name="AutoShape 46">
            <a:extLst>
              <a:ext uri="{FF2B5EF4-FFF2-40B4-BE49-F238E27FC236}">
                <a16:creationId xmlns:a16="http://schemas.microsoft.com/office/drawing/2014/main" id="{A349EF79-529B-C501-D501-8F8AF10714C6}"/>
              </a:ext>
            </a:extLst>
          </p:cNvPr>
          <p:cNvSpPr/>
          <p:nvPr/>
        </p:nvSpPr>
        <p:spPr>
          <a:xfrm>
            <a:off x="2159267" y="9012313"/>
            <a:ext cx="0" cy="396795"/>
          </a:xfrm>
          <a:prstGeom prst="line">
            <a:avLst/>
          </a:prstGeom>
          <a:ln w="19050" cap="flat">
            <a:solidFill>
              <a:srgbClr val="BA97FC"/>
            </a:solidFill>
            <a:prstDash val="solid"/>
            <a:headEnd type="none" w="sm" len="sm"/>
            <a:tailEnd type="none" w="sm" len="sm"/>
          </a:ln>
        </p:spPr>
      </p:sp>
    </p:spTree>
    <p:extLst>
      <p:ext uri="{BB962C8B-B14F-4D97-AF65-F5344CB8AC3E}">
        <p14:creationId xmlns:p14="http://schemas.microsoft.com/office/powerpoint/2010/main" val="2889790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38A80-70D0-4D24-DEFD-235853103058}"/>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D1E44C1-B012-46FD-F6DE-52C2B56939BD}"/>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D710D8AB-74CF-277E-E15B-AF4FB532B0E8}"/>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15677C85-A72A-4EE1-1818-45D4E5226B7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AE7F2053-ED3C-7805-174C-D5DEEC3F3DEE}"/>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68A834A8-A0E6-C668-B38F-B97C17019A84}"/>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A3C91278-BCF0-9189-FEAA-B48E6677BB3C}"/>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EA8FD3C4-BFA5-93EB-8F85-90127B79E7D4}"/>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61567A3F-FEE5-761D-830C-620D6C2889AA}"/>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9E95BBE6-FA79-A7D5-7BD0-07B0B451BA59}"/>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89510473-11B0-BDEB-0745-36F14D3EA1CB}"/>
              </a:ext>
            </a:extLst>
          </p:cNvPr>
          <p:cNvSpPr txBox="1"/>
          <p:nvPr/>
        </p:nvSpPr>
        <p:spPr>
          <a:xfrm>
            <a:off x="1029366" y="1461176"/>
            <a:ext cx="14667834" cy="792396"/>
          </a:xfrm>
          <a:prstGeom prst="rect">
            <a:avLst/>
          </a:prstGeom>
        </p:spPr>
        <p:txBody>
          <a:bodyPr wrap="square" lIns="0" tIns="0" rIns="0" bIns="0" rtlCol="0" anchor="t">
            <a:spAutoFit/>
          </a:bodyPr>
          <a:lstStyle/>
          <a:p>
            <a:pPr algn="l">
              <a:lnSpc>
                <a:spcPts val="7000"/>
              </a:lnSpc>
            </a:pPr>
            <a:r>
              <a:rPr lang="en-US" sz="3600" b="1">
                <a:solidFill>
                  <a:srgbClr val="000000"/>
                </a:solidFill>
                <a:latin typeface="Noto Sans Bold"/>
                <a:ea typeface="Noto Sans Bold"/>
                <a:cs typeface="Noto Sans Bold"/>
                <a:sym typeface="Noto Sans Bold"/>
              </a:rPr>
              <a:t>TỔNG QUAN VỀ TĂNG CƯỜNG ẢNH TRONG MIỀN KHÔNG GIAN</a:t>
            </a:r>
          </a:p>
        </p:txBody>
      </p:sp>
      <p:sp>
        <p:nvSpPr>
          <p:cNvPr id="22" name="Freeform 22">
            <a:extLst>
              <a:ext uri="{FF2B5EF4-FFF2-40B4-BE49-F238E27FC236}">
                <a16:creationId xmlns:a16="http://schemas.microsoft.com/office/drawing/2014/main" id="{EB4831E0-8492-C954-8492-E1B06AFB0CAE}"/>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464167B0-1CFE-6387-AFF3-2BE95729F41D}"/>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D4DD190C-0299-319A-1518-0E8F7BFC3C13}"/>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6CEC896A-56ED-16FD-B9D4-30B551B6A772}"/>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6C4D6760-51B6-807B-1B2C-E65BFA43E50B}"/>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0251E363-E75E-1987-B393-D4EAEE14D70A}"/>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4" name="Picture 3">
            <a:extLst>
              <a:ext uri="{FF2B5EF4-FFF2-40B4-BE49-F238E27FC236}">
                <a16:creationId xmlns:a16="http://schemas.microsoft.com/office/drawing/2014/main" id="{BECFF6A0-2212-D026-D3B3-F06471E8D2F3}"/>
              </a:ext>
            </a:extLst>
          </p:cNvPr>
          <p:cNvPicPr>
            <a:picLocks noChangeAspect="1"/>
          </p:cNvPicPr>
          <p:nvPr/>
        </p:nvPicPr>
        <p:blipFill>
          <a:blip r:embed="rId4"/>
          <a:stretch>
            <a:fillRect/>
          </a:stretch>
        </p:blipFill>
        <p:spPr>
          <a:xfrm>
            <a:off x="1044605" y="2381853"/>
            <a:ext cx="13477625" cy="7357414"/>
          </a:xfrm>
          <a:prstGeom prst="rect">
            <a:avLst/>
          </a:prstGeom>
        </p:spPr>
      </p:pic>
    </p:spTree>
    <p:extLst>
      <p:ext uri="{BB962C8B-B14F-4D97-AF65-F5344CB8AC3E}">
        <p14:creationId xmlns:p14="http://schemas.microsoft.com/office/powerpoint/2010/main" val="4066730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568DA-4B8E-85A0-7C96-498AF41D837A}"/>
            </a:ext>
          </a:extLst>
        </p:cNvPr>
        <p:cNvGrpSpPr/>
        <p:nvPr/>
      </p:nvGrpSpPr>
      <p:grpSpPr>
        <a:xfrm>
          <a:off x="0" y="0"/>
          <a:ext cx="0" cy="0"/>
          <a:chOff x="0" y="0"/>
          <a:chExt cx="0" cy="0"/>
        </a:xfrm>
      </p:grpSpPr>
      <p:sp>
        <p:nvSpPr>
          <p:cNvPr id="18" name="TextBox 18">
            <a:extLst>
              <a:ext uri="{FF2B5EF4-FFF2-40B4-BE49-F238E27FC236}">
                <a16:creationId xmlns:a16="http://schemas.microsoft.com/office/drawing/2014/main" id="{22F69AF9-30D2-7DFB-164C-F50685F4BAB3}"/>
              </a:ext>
            </a:extLst>
          </p:cNvPr>
          <p:cNvSpPr txBox="1"/>
          <p:nvPr/>
        </p:nvSpPr>
        <p:spPr>
          <a:xfrm>
            <a:off x="1029366" y="1461176"/>
            <a:ext cx="14667834" cy="792396"/>
          </a:xfrm>
          <a:prstGeom prst="rect">
            <a:avLst/>
          </a:prstGeom>
        </p:spPr>
        <p:txBody>
          <a:bodyPr wrap="square" lIns="0" tIns="0" rIns="0" bIns="0" rtlCol="0" anchor="t">
            <a:spAutoFit/>
          </a:bodyPr>
          <a:lstStyle/>
          <a:p>
            <a:pPr algn="l">
              <a:lnSpc>
                <a:spcPts val="7000"/>
              </a:lnSpc>
            </a:pPr>
            <a:r>
              <a:rPr lang="en-US" sz="3600" b="1">
                <a:solidFill>
                  <a:srgbClr val="000000"/>
                </a:solidFill>
                <a:latin typeface="Noto Sans Bold"/>
                <a:ea typeface="Noto Sans Bold"/>
                <a:cs typeface="Noto Sans Bold"/>
                <a:sym typeface="Noto Sans Bold"/>
              </a:rPr>
              <a:t>TỔNG QUAN VỀ TĂNG CƯỜNG ẢNH TRONG MIỀN KHÔNG GIAN</a:t>
            </a:r>
          </a:p>
        </p:txBody>
      </p:sp>
      <p:sp>
        <p:nvSpPr>
          <p:cNvPr id="22" name="Freeform 22">
            <a:extLst>
              <a:ext uri="{FF2B5EF4-FFF2-40B4-BE49-F238E27FC236}">
                <a16:creationId xmlns:a16="http://schemas.microsoft.com/office/drawing/2014/main" id="{F0A612F9-0FA9-B5F5-3B7A-37C3844B009F}"/>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91B1D69E-48D4-B667-A9AE-087E1C665644}"/>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476E9D29-F309-A5AC-EDC3-5A10977EA94B}"/>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AC7772B4-F97E-BA28-C12F-99F0BDD153D7}"/>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B2BAFBE2-5E55-D3C0-C79C-99AB91D249E8}"/>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675A314E-E5D8-6EC4-C60B-C27F6682F0E2}"/>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2" name="Một số hàm biến đổi cường độ s = T(r) thường dùng" descr="Một số hàm biến đổi cường độ s = T(r) thường dùng" title="Một số hàm biến đổi cường độ s = T(r) thường dùng">
            <a:extLst>
              <a:ext uri="{FF2B5EF4-FFF2-40B4-BE49-F238E27FC236}">
                <a16:creationId xmlns:a16="http://schemas.microsoft.com/office/drawing/2014/main" id="{82FF3B91-3A65-5964-2712-13CE9B682F3D}"/>
              </a:ext>
            </a:extLst>
          </p:cNvPr>
          <p:cNvPicPr>
            <a:picLocks noChangeAspect="1"/>
          </p:cNvPicPr>
          <p:nvPr/>
        </p:nvPicPr>
        <p:blipFill>
          <a:blip r:embed="rId4"/>
          <a:srcRect/>
          <a:stretch>
            <a:fillRect/>
          </a:stretch>
        </p:blipFill>
        <p:spPr bwMode="auto">
          <a:xfrm>
            <a:off x="3531928" y="2218849"/>
            <a:ext cx="8722856" cy="7370813"/>
          </a:xfrm>
          <a:prstGeom prst="rect">
            <a:avLst/>
          </a:prstGeom>
        </p:spPr>
      </p:pic>
      <p:sp>
        <p:nvSpPr>
          <p:cNvPr id="14" name="TextBox 13">
            <a:extLst>
              <a:ext uri="{FF2B5EF4-FFF2-40B4-BE49-F238E27FC236}">
                <a16:creationId xmlns:a16="http://schemas.microsoft.com/office/drawing/2014/main" id="{D02A66DE-84E0-E12E-29DB-EF8B583F6DA1}"/>
              </a:ext>
            </a:extLst>
          </p:cNvPr>
          <p:cNvSpPr txBox="1"/>
          <p:nvPr/>
        </p:nvSpPr>
        <p:spPr>
          <a:xfrm>
            <a:off x="4610722" y="9589662"/>
            <a:ext cx="8245716" cy="461665"/>
          </a:xfrm>
          <a:prstGeom prst="rect">
            <a:avLst/>
          </a:prstGeom>
          <a:noFill/>
        </p:spPr>
        <p:txBody>
          <a:bodyPr wrap="square">
            <a:spAutoFit/>
          </a:bodyPr>
          <a:lstStyle/>
          <a:p>
            <a:r>
              <a:rPr lang="vi-VN" sz="2400" i="1">
                <a:effectLst/>
                <a:latin typeface="+mn-lt"/>
                <a:ea typeface="Times New Roman" panose="02020603050405020304" pitchFamily="18" charset="0"/>
              </a:rPr>
              <a:t>Một số hàm biến đổi cường độ s = T(r) thường dùng</a:t>
            </a:r>
            <a:endParaRPr lang="en-US" sz="2400"/>
          </a:p>
        </p:txBody>
      </p:sp>
    </p:spTree>
    <p:extLst>
      <p:ext uri="{BB962C8B-B14F-4D97-AF65-F5344CB8AC3E}">
        <p14:creationId xmlns:p14="http://schemas.microsoft.com/office/powerpoint/2010/main" val="1643339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4C714-51E1-C04B-44F0-80B2FC2137C6}"/>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F46C1013-1088-6112-7C67-AD89A5A4254C}"/>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54B31D1C-45E0-47F9-F176-295FD312DF57}"/>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FFC67D66-3C31-C9D4-2AAE-3F481B5A3890}"/>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7971240E-E2DE-DEF6-D7FD-D805C68BDEA8}"/>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4451AC75-F546-A37E-BBB1-1E3BAE957AF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FC4FBC1D-CB48-FBB0-D8C0-4D25592BDC36}"/>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936B5A14-F54E-CA7F-B711-9AE9343000DA}"/>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2984D4F6-EC15-C5DF-5A9C-D48E0BE6CD8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3C55F3AF-121C-34DD-4542-580BEAAAA0F4}"/>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1FACA65E-E355-E6E1-03CD-F90AEF0B108E}"/>
              </a:ext>
            </a:extLst>
          </p:cNvPr>
          <p:cNvSpPr txBox="1"/>
          <p:nvPr/>
        </p:nvSpPr>
        <p:spPr>
          <a:xfrm>
            <a:off x="1029366" y="1461176"/>
            <a:ext cx="13677234" cy="838819"/>
          </a:xfrm>
          <a:prstGeom prst="rect">
            <a:avLst/>
          </a:prstGeom>
        </p:spPr>
        <p:txBody>
          <a:bodyPr wrap="square"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CÁC PHÉP BIẾN ĐỔI CƯỜNG ĐỘ CƠ BẢN</a:t>
            </a:r>
          </a:p>
        </p:txBody>
      </p:sp>
      <p:sp>
        <p:nvSpPr>
          <p:cNvPr id="22" name="Freeform 22">
            <a:extLst>
              <a:ext uri="{FF2B5EF4-FFF2-40B4-BE49-F238E27FC236}">
                <a16:creationId xmlns:a16="http://schemas.microsoft.com/office/drawing/2014/main" id="{8A77AD65-20C4-22BE-128C-8B18EB6B6381}"/>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8DB0D1EC-DCE1-AD68-6038-12EB30873FE1}"/>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6C8C2FC2-4C59-7CD8-6CC3-56CAE280B491}"/>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825241B7-FCDB-B375-F05F-5DBB9FF144C5}"/>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50DA4A5D-3DE3-DD32-4E9D-72FD3C14EB6C}"/>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EFB74442-62F0-73BA-D0CA-CF7E9CAE7B29}"/>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4" name="Picture 3">
            <a:extLst>
              <a:ext uri="{FF2B5EF4-FFF2-40B4-BE49-F238E27FC236}">
                <a16:creationId xmlns:a16="http://schemas.microsoft.com/office/drawing/2014/main" id="{CF4DF22F-C679-AE10-69C6-A07EDB0955B2}"/>
              </a:ext>
            </a:extLst>
          </p:cNvPr>
          <p:cNvPicPr>
            <a:picLocks noChangeAspect="1"/>
          </p:cNvPicPr>
          <p:nvPr/>
        </p:nvPicPr>
        <p:blipFill>
          <a:blip r:embed="rId4"/>
          <a:stretch>
            <a:fillRect/>
          </a:stretch>
        </p:blipFill>
        <p:spPr>
          <a:xfrm>
            <a:off x="1029366" y="2419350"/>
            <a:ext cx="13220034" cy="7384628"/>
          </a:xfrm>
          <a:prstGeom prst="rect">
            <a:avLst/>
          </a:prstGeom>
        </p:spPr>
      </p:pic>
    </p:spTree>
    <p:extLst>
      <p:ext uri="{BB962C8B-B14F-4D97-AF65-F5344CB8AC3E}">
        <p14:creationId xmlns:p14="http://schemas.microsoft.com/office/powerpoint/2010/main" val="28997450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96015-9D03-39EB-BFC0-B8C12169780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E01AB14-A1DB-14C1-BE3F-AD3E2E98E61A}"/>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CB7E302B-D6CC-E816-A6B4-F093B3118455}"/>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F09CB7C9-2ADB-740C-9D99-63F49B8C7B6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DD9ECAD1-DAD0-7A2C-AC86-E5AE0A2AA44E}"/>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6336A56E-0A8B-7C39-3EFA-1F3807A649DA}"/>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A0B34625-A103-405C-0FA9-5E637096AAA7}"/>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4CF5C4B-D9BD-A281-C7D8-832DAEE6A6F5}"/>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56BFF01A-8565-E7B0-9707-334CF49BCC91}"/>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B5A9860E-CDEC-1984-1FD4-E1C4E4BA39D2}"/>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F5005F1D-71E9-8345-5A59-518430253003}"/>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EEB86A05-009B-1C02-231A-B07255B2FAE2}"/>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8A04C8CB-4D44-5DB0-94C0-527B9D273384}"/>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D8F99E64-4CCD-0784-062E-B94E4680D399}"/>
              </a:ext>
            </a:extLst>
          </p:cNvPr>
          <p:cNvSpPr/>
          <p:nvPr/>
        </p:nvSpPr>
        <p:spPr>
          <a:xfrm>
            <a:off x="1028700" y="3305184"/>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B834C4A8-DEEF-DB84-5BE4-9D4FEF7EC777}"/>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23A68853-F49E-A6F5-676C-FB3E7495BD15}"/>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DE58931F-17AA-1AEE-D646-8E7498CE2133}"/>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DF319873-5243-0B86-CCE7-92529244C43F}"/>
              </a:ext>
            </a:extLst>
          </p:cNvPr>
          <p:cNvSpPr txBox="1"/>
          <p:nvPr/>
        </p:nvSpPr>
        <p:spPr>
          <a:xfrm>
            <a:off x="1028700" y="2129997"/>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KÉO GIÃN TƯƠNG PHẢN</a:t>
            </a:r>
          </a:p>
        </p:txBody>
      </p:sp>
      <p:grpSp>
        <p:nvGrpSpPr>
          <p:cNvPr id="19" name="Group 19">
            <a:extLst>
              <a:ext uri="{FF2B5EF4-FFF2-40B4-BE49-F238E27FC236}">
                <a16:creationId xmlns:a16="http://schemas.microsoft.com/office/drawing/2014/main" id="{9145D4BD-8F12-C0B4-7A82-45C321524D6A}"/>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FEA9E528-3E97-C110-BE13-ECAD5BCF3B88}"/>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CDD7BC8A-E2F8-9250-3DF9-EAE41409A540}"/>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0933E6B6-0EA4-14D1-5A19-212D756370A9}"/>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020A1E47-01DC-A55B-4ABC-25304CF715CF}"/>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652157DB-762B-FD92-846B-A80EDADDA3DC}"/>
              </a:ext>
            </a:extLst>
          </p:cNvPr>
          <p:cNvGrpSpPr/>
          <p:nvPr/>
        </p:nvGrpSpPr>
        <p:grpSpPr>
          <a:xfrm>
            <a:off x="914401" y="3783215"/>
            <a:ext cx="13716000" cy="4901594"/>
            <a:chOff x="0" y="0"/>
            <a:chExt cx="2478455" cy="1685910"/>
          </a:xfrm>
        </p:grpSpPr>
        <p:sp>
          <p:nvSpPr>
            <p:cNvPr id="25" name="Freeform 25">
              <a:extLst>
                <a:ext uri="{FF2B5EF4-FFF2-40B4-BE49-F238E27FC236}">
                  <a16:creationId xmlns:a16="http://schemas.microsoft.com/office/drawing/2014/main" id="{9BD829AC-6E9A-44FA-0633-B68BE137FCE8}"/>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EADE7719-2A6A-A93D-2DC8-67CF908E2E05}"/>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CD677A56-8EB0-5F08-C1F1-0376A22E25C3}"/>
              </a:ext>
            </a:extLst>
          </p:cNvPr>
          <p:cNvGrpSpPr/>
          <p:nvPr/>
        </p:nvGrpSpPr>
        <p:grpSpPr>
          <a:xfrm>
            <a:off x="1205292" y="4053340"/>
            <a:ext cx="978217" cy="978217"/>
            <a:chOff x="0" y="0"/>
            <a:chExt cx="812800" cy="812800"/>
          </a:xfrm>
        </p:grpSpPr>
        <p:sp>
          <p:nvSpPr>
            <p:cNvPr id="28" name="Freeform 28">
              <a:extLst>
                <a:ext uri="{FF2B5EF4-FFF2-40B4-BE49-F238E27FC236}">
                  <a16:creationId xmlns:a16="http://schemas.microsoft.com/office/drawing/2014/main" id="{1F14B3B4-DEAC-C1AF-8A25-ED512A9BA3E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6A746823-9815-9528-5A6C-5E9CC5E1EE3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F7910448-5AB6-A3A3-3385-2ADDEFC34E7A}"/>
              </a:ext>
            </a:extLst>
          </p:cNvPr>
          <p:cNvSpPr/>
          <p:nvPr/>
        </p:nvSpPr>
        <p:spPr>
          <a:xfrm>
            <a:off x="1382114" y="4351821"/>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81FBAF50-9188-EEA1-34DD-89700455BA15}"/>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7DF00A3A-28FD-929F-2FF1-0FD612946807}"/>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5FF0F0B0-CE74-E5E4-69A7-87AB37B48E93}"/>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0C41CD87-DEDD-77AD-3751-A43149712260}"/>
              </a:ext>
            </a:extLst>
          </p:cNvPr>
          <p:cNvSpPr txBox="1"/>
          <p:nvPr/>
        </p:nvSpPr>
        <p:spPr>
          <a:xfrm>
            <a:off x="2452969" y="4335182"/>
            <a:ext cx="7125136" cy="448841"/>
          </a:xfrm>
          <a:prstGeom prst="rect">
            <a:avLst/>
          </a:prstGeom>
        </p:spPr>
        <p:txBody>
          <a:bodyPr wrap="square" lIns="0" tIns="0" rIns="0" bIns="0" rtlCol="0" anchor="t">
            <a:spAutoFit/>
          </a:bodyPr>
          <a:lstStyle/>
          <a:p>
            <a:pPr algn="l">
              <a:lnSpc>
                <a:spcPts val="3499"/>
              </a:lnSpc>
            </a:pPr>
            <a:r>
              <a:rPr lang="en-US" sz="3200" b="1">
                <a:solidFill>
                  <a:srgbClr val="000000"/>
                </a:solidFill>
                <a:latin typeface="Noto Sans Bold"/>
                <a:ea typeface="Noto Sans Bold"/>
                <a:cs typeface="Noto Sans Bold"/>
                <a:sym typeface="Noto Sans Bold"/>
              </a:rPr>
              <a:t>Kéo giãn tuyến tính toàn phần</a:t>
            </a:r>
          </a:p>
        </p:txBody>
      </p:sp>
      <p:sp>
        <p:nvSpPr>
          <p:cNvPr id="55" name="TextBox 55">
            <a:extLst>
              <a:ext uri="{FF2B5EF4-FFF2-40B4-BE49-F238E27FC236}">
                <a16:creationId xmlns:a16="http://schemas.microsoft.com/office/drawing/2014/main" id="{E031FA49-CBC3-ED4E-E558-8BAA9CF0E274}"/>
              </a:ext>
            </a:extLst>
          </p:cNvPr>
          <p:cNvSpPr txBox="1"/>
          <p:nvPr/>
        </p:nvSpPr>
        <p:spPr>
          <a:xfrm>
            <a:off x="1382114" y="5298255"/>
            <a:ext cx="12638686" cy="3016210"/>
          </a:xfrm>
          <a:prstGeom prst="rect">
            <a:avLst/>
          </a:prstGeom>
        </p:spPr>
        <p:txBody>
          <a:bodyPr wrap="square" lIns="0" tIns="0" rIns="0" bIns="0" rtlCol="0" anchor="t">
            <a:spAutoFit/>
          </a:bodyPr>
          <a:lstStyle/>
          <a:p>
            <a:pPr algn="just"/>
            <a:r>
              <a:rPr lang="vi-VN" sz="2800"/>
              <a:t>Với ảnh có dải động hẹp [rmin, rmax], kéo giãn tuyến tính (min–max normalization) ánh xạ đoạn này lên toàn bộ thang xám:</a:t>
            </a:r>
            <a:endParaRPr lang="en-US" sz="2800"/>
          </a:p>
          <a:p>
            <a:pPr algn="just"/>
            <a:endParaRPr lang="en-US" sz="2800"/>
          </a:p>
          <a:p>
            <a:pPr algn="just"/>
            <a:endParaRPr lang="en-US" sz="2800"/>
          </a:p>
          <a:p>
            <a:pPr algn="just"/>
            <a:r>
              <a:rPr lang="vi-VN" sz="2800"/>
              <a:t>Phép biến đổi giữ nguyên hình dạng histogram, chỉ co giãn trục hoành, nên không tạo thêm mức xám mới: ảnh có 81 mức xám phân biệt trước khi kéo giãn sẽ có nhiều nhất 81 mức sau khi kéo giãn, chỉ là các mức đó cách xa nhau hơn. </a:t>
            </a:r>
            <a:endParaRPr lang="en-US" sz="2800"/>
          </a:p>
        </p:txBody>
      </p:sp>
      <p:grpSp>
        <p:nvGrpSpPr>
          <p:cNvPr id="71" name="Group 71">
            <a:extLst>
              <a:ext uri="{FF2B5EF4-FFF2-40B4-BE49-F238E27FC236}">
                <a16:creationId xmlns:a16="http://schemas.microsoft.com/office/drawing/2014/main" id="{93A51098-B10D-2226-5EFF-3E80010CC688}"/>
              </a:ext>
            </a:extLst>
          </p:cNvPr>
          <p:cNvGrpSpPr/>
          <p:nvPr/>
        </p:nvGrpSpPr>
        <p:grpSpPr>
          <a:xfrm>
            <a:off x="1028700" y="1051515"/>
            <a:ext cx="7162712" cy="649857"/>
            <a:chOff x="0" y="0"/>
            <a:chExt cx="1427911" cy="198470"/>
          </a:xfrm>
        </p:grpSpPr>
        <p:sp>
          <p:nvSpPr>
            <p:cNvPr id="72" name="Freeform 72">
              <a:extLst>
                <a:ext uri="{FF2B5EF4-FFF2-40B4-BE49-F238E27FC236}">
                  <a16:creationId xmlns:a16="http://schemas.microsoft.com/office/drawing/2014/main" id="{42540D48-2D33-0716-3BE9-3E3F1B6C42F6}"/>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54C1E5B6-B2B2-DCA3-A054-8045AA5E7A28}"/>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ED821CF2-E7FA-CEA3-59CE-B255EC045358}"/>
              </a:ext>
            </a:extLst>
          </p:cNvPr>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8C49D606-D71B-2CD4-224A-207BA1EB16C3}"/>
              </a:ext>
            </a:extLst>
          </p:cNvPr>
          <p:cNvSpPr txBox="1"/>
          <p:nvPr/>
        </p:nvSpPr>
        <p:spPr>
          <a:xfrm>
            <a:off x="2295314" y="1141458"/>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33" name="Picture 32">
            <a:extLst>
              <a:ext uri="{FF2B5EF4-FFF2-40B4-BE49-F238E27FC236}">
                <a16:creationId xmlns:a16="http://schemas.microsoft.com/office/drawing/2014/main" id="{E5442320-C69C-6924-B1AE-D9966F5C3700}"/>
              </a:ext>
            </a:extLst>
          </p:cNvPr>
          <p:cNvPicPr>
            <a:picLocks noChangeAspect="1"/>
          </p:cNvPicPr>
          <p:nvPr/>
        </p:nvPicPr>
        <p:blipFill>
          <a:blip r:embed="rId9"/>
          <a:stretch>
            <a:fillRect/>
          </a:stretch>
        </p:blipFill>
        <p:spPr>
          <a:xfrm>
            <a:off x="5145206" y="6352161"/>
            <a:ext cx="6740044" cy="482709"/>
          </a:xfrm>
          <a:prstGeom prst="rect">
            <a:avLst/>
          </a:prstGeom>
        </p:spPr>
      </p:pic>
    </p:spTree>
    <p:extLst>
      <p:ext uri="{BB962C8B-B14F-4D97-AF65-F5344CB8AC3E}">
        <p14:creationId xmlns:p14="http://schemas.microsoft.com/office/powerpoint/2010/main" val="11187119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22D20-D0E7-A980-793B-75EFA280815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1BA8C78-E0D9-361A-0CC2-D96BD49DB899}"/>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7451D93B-C542-0129-7E67-2455749C77A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75955690-F935-2799-5307-85867DF52E65}"/>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5851417C-F259-8457-4C7E-038F412D6CA8}"/>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886696AD-4131-08D4-0EB6-D68C02EC8C25}"/>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86874109-0036-3489-6F33-E9B91BF00E73}"/>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FB0F76B-0B00-28EE-8B11-03AF895A8282}"/>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2C6204BE-A069-AB12-A3B6-591E692E4F2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4607CF7E-BF11-F390-D08D-DABA34831645}"/>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278ED17A-CE18-9506-58FE-2E3C25A9A159}"/>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2D8B56FE-6482-EA89-5E71-67FB9D8DE5B3}"/>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C8272A9F-9147-B332-31EC-237F218D3709}"/>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955D475D-9C1F-3BEA-FF6F-0ABC8CF41D84}"/>
              </a:ext>
            </a:extLst>
          </p:cNvPr>
          <p:cNvSpPr/>
          <p:nvPr/>
        </p:nvSpPr>
        <p:spPr>
          <a:xfrm>
            <a:off x="1028700" y="3305184"/>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761E0ED9-9B79-012B-4BC2-75848BC2AC06}"/>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85DE49ED-ED8C-48A1-A995-576EC0A409D2}"/>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3D2FB914-3752-E433-6535-495EB4F0C554}"/>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DFD6983E-8654-041A-1014-F8646EA2C958}"/>
              </a:ext>
            </a:extLst>
          </p:cNvPr>
          <p:cNvSpPr txBox="1"/>
          <p:nvPr/>
        </p:nvSpPr>
        <p:spPr>
          <a:xfrm>
            <a:off x="1028700" y="2129997"/>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KÉO GIÃN TƯƠNG PHẢN</a:t>
            </a:r>
          </a:p>
        </p:txBody>
      </p:sp>
      <p:grpSp>
        <p:nvGrpSpPr>
          <p:cNvPr id="19" name="Group 19">
            <a:extLst>
              <a:ext uri="{FF2B5EF4-FFF2-40B4-BE49-F238E27FC236}">
                <a16:creationId xmlns:a16="http://schemas.microsoft.com/office/drawing/2014/main" id="{21458518-548C-8A32-F523-87A83BDB5738}"/>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8DC7B7E5-2DD7-714E-1F12-9000FBCFDBB0}"/>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65AEF318-5336-0C41-E0A7-6A3CB018F8EC}"/>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1A32F33B-FE08-906A-DDF1-081DF3ACA950}"/>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37486A9E-EFBA-653B-9701-D923608692D0}"/>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5E8A9B51-DE8C-D9FF-862F-47181F0A9C52}"/>
              </a:ext>
            </a:extLst>
          </p:cNvPr>
          <p:cNvGrpSpPr/>
          <p:nvPr/>
        </p:nvGrpSpPr>
        <p:grpSpPr>
          <a:xfrm>
            <a:off x="914401" y="3783215"/>
            <a:ext cx="13716000" cy="4901594"/>
            <a:chOff x="0" y="0"/>
            <a:chExt cx="2478455" cy="1685910"/>
          </a:xfrm>
        </p:grpSpPr>
        <p:sp>
          <p:nvSpPr>
            <p:cNvPr id="25" name="Freeform 25">
              <a:extLst>
                <a:ext uri="{FF2B5EF4-FFF2-40B4-BE49-F238E27FC236}">
                  <a16:creationId xmlns:a16="http://schemas.microsoft.com/office/drawing/2014/main" id="{6D84A581-8834-EB5B-4964-1C5C449CDF0B}"/>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1AF9AE83-1D99-19B0-7A79-0C79CCE69433}"/>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4F4323F0-6FC9-2083-B4CE-9916E28C3E11}"/>
              </a:ext>
            </a:extLst>
          </p:cNvPr>
          <p:cNvGrpSpPr/>
          <p:nvPr/>
        </p:nvGrpSpPr>
        <p:grpSpPr>
          <a:xfrm>
            <a:off x="1205292" y="4053340"/>
            <a:ext cx="978217" cy="978217"/>
            <a:chOff x="0" y="0"/>
            <a:chExt cx="812800" cy="812800"/>
          </a:xfrm>
        </p:grpSpPr>
        <p:sp>
          <p:nvSpPr>
            <p:cNvPr id="28" name="Freeform 28">
              <a:extLst>
                <a:ext uri="{FF2B5EF4-FFF2-40B4-BE49-F238E27FC236}">
                  <a16:creationId xmlns:a16="http://schemas.microsoft.com/office/drawing/2014/main" id="{3A149FB6-59B1-492F-0A6A-1BC231710B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15169472-D626-F908-08F6-1A6E3F903A5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C85A9034-8F58-FAF0-16DB-62656FD82A52}"/>
              </a:ext>
            </a:extLst>
          </p:cNvPr>
          <p:cNvSpPr/>
          <p:nvPr/>
        </p:nvSpPr>
        <p:spPr>
          <a:xfrm>
            <a:off x="1382114" y="4351821"/>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73A4F3EF-316C-B8B5-A01A-F702572E2121}"/>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B56CB866-5127-6E02-C276-37B9479C1E45}"/>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FC53EA44-0453-1771-EA5C-EC0980C3A776}"/>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6FB8FC79-6395-F952-7EEA-1B3EA743C1AA}"/>
              </a:ext>
            </a:extLst>
          </p:cNvPr>
          <p:cNvSpPr txBox="1"/>
          <p:nvPr/>
        </p:nvSpPr>
        <p:spPr>
          <a:xfrm>
            <a:off x="2452969" y="4335182"/>
            <a:ext cx="7125136" cy="448841"/>
          </a:xfrm>
          <a:prstGeom prst="rect">
            <a:avLst/>
          </a:prstGeom>
        </p:spPr>
        <p:txBody>
          <a:bodyPr wrap="square" lIns="0" tIns="0" rIns="0" bIns="0" rtlCol="0" anchor="t">
            <a:spAutoFit/>
          </a:bodyPr>
          <a:lstStyle/>
          <a:p>
            <a:pPr algn="l">
              <a:lnSpc>
                <a:spcPts val="3499"/>
              </a:lnSpc>
            </a:pPr>
            <a:r>
              <a:rPr lang="en-US" sz="3200" b="1">
                <a:solidFill>
                  <a:srgbClr val="000000"/>
                </a:solidFill>
                <a:latin typeface="Noto Sans Bold"/>
                <a:ea typeface="Noto Sans Bold"/>
                <a:cs typeface="Noto Sans Bold"/>
                <a:sym typeface="Noto Sans Bold"/>
              </a:rPr>
              <a:t>Kéo giãn theo phân vị</a:t>
            </a:r>
          </a:p>
        </p:txBody>
      </p:sp>
      <p:sp>
        <p:nvSpPr>
          <p:cNvPr id="55" name="TextBox 55">
            <a:extLst>
              <a:ext uri="{FF2B5EF4-FFF2-40B4-BE49-F238E27FC236}">
                <a16:creationId xmlns:a16="http://schemas.microsoft.com/office/drawing/2014/main" id="{CE3A53AF-BE1C-7AFA-BCBC-BAE01CF64CD5}"/>
              </a:ext>
            </a:extLst>
          </p:cNvPr>
          <p:cNvSpPr txBox="1"/>
          <p:nvPr/>
        </p:nvSpPr>
        <p:spPr>
          <a:xfrm>
            <a:off x="1382114" y="5298255"/>
            <a:ext cx="12638686" cy="2585323"/>
          </a:xfrm>
          <a:prstGeom prst="rect">
            <a:avLst/>
          </a:prstGeom>
        </p:spPr>
        <p:txBody>
          <a:bodyPr wrap="square" lIns="0" tIns="0" rIns="0" bIns="0" rtlCol="0" anchor="t">
            <a:spAutoFit/>
          </a:bodyPr>
          <a:lstStyle/>
          <a:p>
            <a:pPr algn="just"/>
            <a:r>
              <a:rPr lang="vi-VN" sz="2800"/>
              <a:t>Để khắc phục giá trị ngoại lai, ta thay rmin, rmax bằng hai phân vị, chẳng hạn phân vị 1% và 99%, ký hiệu rlo và rhi, rồi cắt các giá trị ngoài đoạn này:</a:t>
            </a:r>
            <a:endParaRPr lang="en-US" sz="2800"/>
          </a:p>
          <a:p>
            <a:pPr algn="just"/>
            <a:endParaRPr lang="en-US" sz="2800"/>
          </a:p>
          <a:p>
            <a:pPr algn="just"/>
            <a:endParaRPr lang="en-US" sz="2800"/>
          </a:p>
          <a:p>
            <a:pPr algn="just"/>
            <a:r>
              <a:rPr lang="vi-VN" sz="2800"/>
              <a:t>Hai tỉ lệ nhỏ điểm ảnh ở hai đầu sẽ bị bão hoà về 0 hoặc L − 1, đổi lại phần lớn ảnh được giãn hiệu quả.</a:t>
            </a:r>
            <a:endParaRPr lang="en-US" sz="2800"/>
          </a:p>
        </p:txBody>
      </p:sp>
      <p:grpSp>
        <p:nvGrpSpPr>
          <p:cNvPr id="71" name="Group 71">
            <a:extLst>
              <a:ext uri="{FF2B5EF4-FFF2-40B4-BE49-F238E27FC236}">
                <a16:creationId xmlns:a16="http://schemas.microsoft.com/office/drawing/2014/main" id="{BD73371B-066A-9119-9458-FDD12EEBC9E5}"/>
              </a:ext>
            </a:extLst>
          </p:cNvPr>
          <p:cNvGrpSpPr/>
          <p:nvPr/>
        </p:nvGrpSpPr>
        <p:grpSpPr>
          <a:xfrm>
            <a:off x="1028700" y="1051515"/>
            <a:ext cx="7162712" cy="649857"/>
            <a:chOff x="0" y="0"/>
            <a:chExt cx="1427911" cy="198470"/>
          </a:xfrm>
        </p:grpSpPr>
        <p:sp>
          <p:nvSpPr>
            <p:cNvPr id="72" name="Freeform 72">
              <a:extLst>
                <a:ext uri="{FF2B5EF4-FFF2-40B4-BE49-F238E27FC236}">
                  <a16:creationId xmlns:a16="http://schemas.microsoft.com/office/drawing/2014/main" id="{EE20F734-D89A-EE39-39E0-F4B95337EC8A}"/>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39131600-5C9B-BBD3-23EA-DF6953BE2BD8}"/>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3B188D00-ED49-B68D-D063-AD3924ADC97F}"/>
              </a:ext>
            </a:extLst>
          </p:cNvPr>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C313891B-7DA8-8396-597C-B6A78303D81F}"/>
              </a:ext>
            </a:extLst>
          </p:cNvPr>
          <p:cNvSpPr txBox="1"/>
          <p:nvPr/>
        </p:nvSpPr>
        <p:spPr>
          <a:xfrm>
            <a:off x="2295314" y="1141458"/>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34" name="Picture 33">
            <a:extLst>
              <a:ext uri="{FF2B5EF4-FFF2-40B4-BE49-F238E27FC236}">
                <a16:creationId xmlns:a16="http://schemas.microsoft.com/office/drawing/2014/main" id="{ED54B327-9408-A181-A0F3-15CD48AC6003}"/>
              </a:ext>
            </a:extLst>
          </p:cNvPr>
          <p:cNvPicPr>
            <a:picLocks noChangeAspect="1"/>
          </p:cNvPicPr>
          <p:nvPr/>
        </p:nvPicPr>
        <p:blipFill>
          <a:blip r:embed="rId9"/>
          <a:stretch>
            <a:fillRect/>
          </a:stretch>
        </p:blipFill>
        <p:spPr>
          <a:xfrm>
            <a:off x="4224157" y="6349695"/>
            <a:ext cx="6863888" cy="447645"/>
          </a:xfrm>
          <a:prstGeom prst="rect">
            <a:avLst/>
          </a:prstGeom>
        </p:spPr>
      </p:pic>
    </p:spTree>
    <p:extLst>
      <p:ext uri="{BB962C8B-B14F-4D97-AF65-F5344CB8AC3E}">
        <p14:creationId xmlns:p14="http://schemas.microsoft.com/office/powerpoint/2010/main" val="1308127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A326D-7A47-27E3-7031-E4DEDB7DB13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7439434-4B8B-1BD8-4206-34F992DAA047}"/>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B6A35D7D-FCBD-F709-A473-54E5BE5F4623}"/>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2A4DB034-3A99-31AF-7FCB-BF6FD336F25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F689BD54-2AB5-C329-4B88-9E8705DC1626}"/>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46B61197-998E-F927-5398-379D4E830C27}"/>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6BE3BCC2-5075-9832-D035-2C97894AE1B6}"/>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63F46B9-BCA7-25C3-053E-71C598A5BF09}"/>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408C63F6-DEE9-5FC8-7A50-14C533EE21A1}"/>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21B6953F-F178-4E73-0C28-F97D48C2515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685A35E-D64C-FC0C-618B-048B787754F8}"/>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A35E5198-FB15-F079-78DB-88C6B8A9E039}"/>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51AF023E-3C38-128A-E29A-31CCBDF807B2}"/>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536B11FC-3CFD-B22C-4F05-807EF33A684B}"/>
              </a:ext>
            </a:extLst>
          </p:cNvPr>
          <p:cNvSpPr/>
          <p:nvPr/>
        </p:nvSpPr>
        <p:spPr>
          <a:xfrm>
            <a:off x="1028700" y="3305184"/>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D9732723-EC5F-5B33-0572-9EA729A73A00}"/>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D1ABA667-4518-05B3-1217-CBF7FD0A873A}"/>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CF28EEB9-D8DE-2662-EE10-A58B2AF9423D}"/>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83EC9561-EE2E-7C26-6913-27752F794DB7}"/>
              </a:ext>
            </a:extLst>
          </p:cNvPr>
          <p:cNvSpPr txBox="1"/>
          <p:nvPr/>
        </p:nvSpPr>
        <p:spPr>
          <a:xfrm>
            <a:off x="1028700" y="2129997"/>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KÉO GIÃN TƯƠNG PHẢN</a:t>
            </a:r>
          </a:p>
        </p:txBody>
      </p:sp>
      <p:grpSp>
        <p:nvGrpSpPr>
          <p:cNvPr id="19" name="Group 19">
            <a:extLst>
              <a:ext uri="{FF2B5EF4-FFF2-40B4-BE49-F238E27FC236}">
                <a16:creationId xmlns:a16="http://schemas.microsoft.com/office/drawing/2014/main" id="{BD9F3890-A562-4993-3F0A-FCEF32E8395F}"/>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3F0C6FAF-479B-F71A-13EF-EF48EC515562}"/>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3E837E1E-E4AB-6B4D-9653-A8B25D27C3B7}"/>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AF12B654-883A-2FCC-B61F-8750D7087A79}"/>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41775F17-3FB4-06E8-7696-FB6D636A96E6}"/>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33ECFF30-8F9E-F4EF-0651-0CBA62B567BA}"/>
              </a:ext>
            </a:extLst>
          </p:cNvPr>
          <p:cNvGrpSpPr/>
          <p:nvPr/>
        </p:nvGrpSpPr>
        <p:grpSpPr>
          <a:xfrm>
            <a:off x="914401" y="3783215"/>
            <a:ext cx="13716000" cy="4901594"/>
            <a:chOff x="0" y="0"/>
            <a:chExt cx="2478455" cy="1685910"/>
          </a:xfrm>
        </p:grpSpPr>
        <p:sp>
          <p:nvSpPr>
            <p:cNvPr id="25" name="Freeform 25">
              <a:extLst>
                <a:ext uri="{FF2B5EF4-FFF2-40B4-BE49-F238E27FC236}">
                  <a16:creationId xmlns:a16="http://schemas.microsoft.com/office/drawing/2014/main" id="{CAA3231C-0815-98A4-40D9-6D382F10AAE5}"/>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A964896E-74C7-C9BF-BF37-959C4BBA5067}"/>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0E3621C0-9302-08EB-DEAF-7B9DEAB27876}"/>
              </a:ext>
            </a:extLst>
          </p:cNvPr>
          <p:cNvGrpSpPr/>
          <p:nvPr/>
        </p:nvGrpSpPr>
        <p:grpSpPr>
          <a:xfrm>
            <a:off x="1205292" y="4053340"/>
            <a:ext cx="978217" cy="978217"/>
            <a:chOff x="0" y="0"/>
            <a:chExt cx="812800" cy="812800"/>
          </a:xfrm>
        </p:grpSpPr>
        <p:sp>
          <p:nvSpPr>
            <p:cNvPr id="28" name="Freeform 28">
              <a:extLst>
                <a:ext uri="{FF2B5EF4-FFF2-40B4-BE49-F238E27FC236}">
                  <a16:creationId xmlns:a16="http://schemas.microsoft.com/office/drawing/2014/main" id="{40DFAEFA-1AC5-EAF2-3C0E-BC6A071425D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C6941FC4-8DE9-8A64-ACB3-AC53EB469A9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63F0908C-1D26-318F-F628-F72B61824920}"/>
              </a:ext>
            </a:extLst>
          </p:cNvPr>
          <p:cNvSpPr/>
          <p:nvPr/>
        </p:nvSpPr>
        <p:spPr>
          <a:xfrm>
            <a:off x="1382114" y="4351821"/>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BE8F17BD-F256-0FE3-D3B0-F8CE149F25C2}"/>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468340EB-BE61-F23C-F31D-E3ABAA5D73EE}"/>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0A86F794-BDE2-97BB-7A7F-028928DD9588}"/>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701E772E-05D8-8533-5D45-EA17BC2AFFF3}"/>
              </a:ext>
            </a:extLst>
          </p:cNvPr>
          <p:cNvSpPr txBox="1"/>
          <p:nvPr/>
        </p:nvSpPr>
        <p:spPr>
          <a:xfrm>
            <a:off x="2452969" y="4335182"/>
            <a:ext cx="7125136" cy="448841"/>
          </a:xfrm>
          <a:prstGeom prst="rect">
            <a:avLst/>
          </a:prstGeom>
        </p:spPr>
        <p:txBody>
          <a:bodyPr wrap="square" lIns="0" tIns="0" rIns="0" bIns="0" rtlCol="0" anchor="t">
            <a:spAutoFit/>
          </a:bodyPr>
          <a:lstStyle/>
          <a:p>
            <a:pPr algn="l">
              <a:lnSpc>
                <a:spcPts val="3499"/>
              </a:lnSpc>
            </a:pPr>
            <a:r>
              <a:rPr lang="en-US" sz="3200" b="1">
                <a:solidFill>
                  <a:srgbClr val="000000"/>
                </a:solidFill>
                <a:latin typeface="Noto Sans Bold"/>
                <a:ea typeface="Noto Sans Bold"/>
                <a:cs typeface="Noto Sans Bold"/>
                <a:sym typeface="Noto Sans Bold"/>
              </a:rPr>
              <a:t>Kéo giãn tuyến tính từng đoạn</a:t>
            </a:r>
          </a:p>
        </p:txBody>
      </p:sp>
      <p:sp>
        <p:nvSpPr>
          <p:cNvPr id="55" name="TextBox 55">
            <a:extLst>
              <a:ext uri="{FF2B5EF4-FFF2-40B4-BE49-F238E27FC236}">
                <a16:creationId xmlns:a16="http://schemas.microsoft.com/office/drawing/2014/main" id="{7A015014-14E6-7E21-1375-F134272E3A72}"/>
              </a:ext>
            </a:extLst>
          </p:cNvPr>
          <p:cNvSpPr txBox="1"/>
          <p:nvPr/>
        </p:nvSpPr>
        <p:spPr>
          <a:xfrm>
            <a:off x="1382114" y="5298255"/>
            <a:ext cx="12638686" cy="2585323"/>
          </a:xfrm>
          <a:prstGeom prst="rect">
            <a:avLst/>
          </a:prstGeom>
        </p:spPr>
        <p:txBody>
          <a:bodyPr wrap="square" lIns="0" tIns="0" rIns="0" bIns="0" rtlCol="0" anchor="t">
            <a:spAutoFit/>
          </a:bodyPr>
          <a:lstStyle/>
          <a:p>
            <a:pPr algn="just"/>
            <a:r>
              <a:rPr lang="vi-VN" sz="2800"/>
              <a:t>Dạng tổng quát hơn là hàm tuyến tính từng đoạn qua các điểm điều khiển (r1, s1), (r2, s2), … Bằng cách chọn độ dốc lớn hơn 1 cho đoạn chứa nhiều thông tin cần làm nổi và độ dốc nhỏ hơn 1 cho các đoạn còn lại, người dùng có thể nhấn mạnh một khoảng cường độ cụ thể, tương tự công cụ Curves trong các phần mềm chỉnh ảnh. Hạn chế là các điểm điều khiển phải được chọn thủ công theo từng ảnh.</a:t>
            </a:r>
            <a:endParaRPr lang="en-US" sz="2800"/>
          </a:p>
        </p:txBody>
      </p:sp>
      <p:grpSp>
        <p:nvGrpSpPr>
          <p:cNvPr id="71" name="Group 71">
            <a:extLst>
              <a:ext uri="{FF2B5EF4-FFF2-40B4-BE49-F238E27FC236}">
                <a16:creationId xmlns:a16="http://schemas.microsoft.com/office/drawing/2014/main" id="{74CE300F-9119-D024-CFD1-935F073BBDB8}"/>
              </a:ext>
            </a:extLst>
          </p:cNvPr>
          <p:cNvGrpSpPr/>
          <p:nvPr/>
        </p:nvGrpSpPr>
        <p:grpSpPr>
          <a:xfrm>
            <a:off x="1028700" y="1051515"/>
            <a:ext cx="7162712" cy="649857"/>
            <a:chOff x="0" y="0"/>
            <a:chExt cx="1427911" cy="198470"/>
          </a:xfrm>
        </p:grpSpPr>
        <p:sp>
          <p:nvSpPr>
            <p:cNvPr id="72" name="Freeform 72">
              <a:extLst>
                <a:ext uri="{FF2B5EF4-FFF2-40B4-BE49-F238E27FC236}">
                  <a16:creationId xmlns:a16="http://schemas.microsoft.com/office/drawing/2014/main" id="{F90F2D06-0BF9-D753-F836-C1687CD006C7}"/>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9E6D8128-49E5-2156-2611-BC9AD66C7808}"/>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B815F1F2-34A4-6BB9-298F-FAD58D919524}"/>
              </a:ext>
            </a:extLst>
          </p:cNvPr>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16ABD0F7-EF40-5413-3EFC-DA7D72582ED7}"/>
              </a:ext>
            </a:extLst>
          </p:cNvPr>
          <p:cNvSpPr txBox="1"/>
          <p:nvPr/>
        </p:nvSpPr>
        <p:spPr>
          <a:xfrm>
            <a:off x="2295314" y="1141458"/>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spTree>
    <p:extLst>
      <p:ext uri="{BB962C8B-B14F-4D97-AF65-F5344CB8AC3E}">
        <p14:creationId xmlns:p14="http://schemas.microsoft.com/office/powerpoint/2010/main" val="1717062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9C1C6-3202-434A-180A-BBF00AEC003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A71C9AE-DC87-30B9-07C5-6B89DC726969}"/>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3BC3682A-E2D0-B36E-22CC-D8E8A222BA4F}"/>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6C702CFA-DC94-AFAE-D262-8C0EC1945987}"/>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4EFE9897-780C-3E40-3453-5B668CB10128}"/>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46EBFF11-3F35-16DB-659B-C93561246A13}"/>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5E62659C-51ED-BD55-199D-127DD9CCC008}"/>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63A83CC-93BC-664B-C4BE-026B978FB7A3}"/>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2452CC9B-7709-357C-A920-966E248D75F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F5BA7148-85E1-8BC5-0583-675F2CE547E8}"/>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89EEC87F-19EB-58A9-8B42-077869F4AE6C}"/>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292A4F4E-B2AF-7B4C-1A88-C3C6C6F101A9}"/>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3D4AD2BB-061B-99E1-4E09-D5F745ECDA64}"/>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679793A3-802A-B7BB-8DEB-A85854EBA9AC}"/>
              </a:ext>
            </a:extLst>
          </p:cNvPr>
          <p:cNvSpPr/>
          <p:nvPr/>
        </p:nvSpPr>
        <p:spPr>
          <a:xfrm>
            <a:off x="1003277" y="2714088"/>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7AE0D221-D14D-9685-6D86-65C727D1F3FB}"/>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B792559B-47C9-C6C0-D55F-1510F9CB0B78}"/>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CAAC25C9-96BF-9960-3B50-D9F4DFC915D5}"/>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1BBE0AAD-0E36-FF65-C1E1-C43C62F4FA34}"/>
              </a:ext>
            </a:extLst>
          </p:cNvPr>
          <p:cNvSpPr txBox="1"/>
          <p:nvPr/>
        </p:nvSpPr>
        <p:spPr>
          <a:xfrm>
            <a:off x="1003277" y="1538901"/>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CÂN BẰNG HISTOGRAM</a:t>
            </a:r>
          </a:p>
        </p:txBody>
      </p:sp>
      <p:grpSp>
        <p:nvGrpSpPr>
          <p:cNvPr id="19" name="Group 19">
            <a:extLst>
              <a:ext uri="{FF2B5EF4-FFF2-40B4-BE49-F238E27FC236}">
                <a16:creationId xmlns:a16="http://schemas.microsoft.com/office/drawing/2014/main" id="{228E4202-6B04-E08C-99E7-590F3335FDA0}"/>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11C33242-80E2-409C-D2DD-24EE8C62CDA0}"/>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961BCFF8-E6A2-1CA1-83B3-DF6CC0F7110E}"/>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607C4698-E31B-441F-29F6-862648D259D7}"/>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8B543C81-8ED6-A509-3B90-F80B280480C8}"/>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98FCAF63-BD29-10AC-7DEC-475E7E314E71}"/>
              </a:ext>
            </a:extLst>
          </p:cNvPr>
          <p:cNvGrpSpPr/>
          <p:nvPr/>
        </p:nvGrpSpPr>
        <p:grpSpPr>
          <a:xfrm>
            <a:off x="888978" y="3192118"/>
            <a:ext cx="15265422" cy="5687075"/>
            <a:chOff x="0" y="0"/>
            <a:chExt cx="2478455" cy="1685910"/>
          </a:xfrm>
        </p:grpSpPr>
        <p:sp>
          <p:nvSpPr>
            <p:cNvPr id="25" name="Freeform 25">
              <a:extLst>
                <a:ext uri="{FF2B5EF4-FFF2-40B4-BE49-F238E27FC236}">
                  <a16:creationId xmlns:a16="http://schemas.microsoft.com/office/drawing/2014/main" id="{7F398F6C-F3C9-B5AB-8DD9-790BC6FBF129}"/>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FA2D9E1F-023B-7760-451B-53EC395A81F9}"/>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73D3751D-282C-1984-4DCA-AA50240949B4}"/>
              </a:ext>
            </a:extLst>
          </p:cNvPr>
          <p:cNvGrpSpPr/>
          <p:nvPr/>
        </p:nvGrpSpPr>
        <p:grpSpPr>
          <a:xfrm>
            <a:off x="1179869" y="3462244"/>
            <a:ext cx="978217" cy="978217"/>
            <a:chOff x="0" y="0"/>
            <a:chExt cx="812800" cy="812800"/>
          </a:xfrm>
        </p:grpSpPr>
        <p:sp>
          <p:nvSpPr>
            <p:cNvPr id="28" name="Freeform 28">
              <a:extLst>
                <a:ext uri="{FF2B5EF4-FFF2-40B4-BE49-F238E27FC236}">
                  <a16:creationId xmlns:a16="http://schemas.microsoft.com/office/drawing/2014/main" id="{5D9184EC-678A-697A-E4E1-B8DE047E779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3C57A7F6-E505-6504-0B55-0F0551B2518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5CE47F44-6189-E002-7003-F74E66FCA9DD}"/>
              </a:ext>
            </a:extLst>
          </p:cNvPr>
          <p:cNvSpPr/>
          <p:nvPr/>
        </p:nvSpPr>
        <p:spPr>
          <a:xfrm>
            <a:off x="1356691" y="3760725"/>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C9A6B3EA-0B0F-2F5A-8CB4-6F1A45DDF9C5}"/>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D0042AEB-2232-AE73-D227-9665D81EDAE7}"/>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06F94688-B86F-72A5-67E8-AF75CEF62D87}"/>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5CC82C98-6876-4DF3-8A22-73C38F1D7F12}"/>
              </a:ext>
            </a:extLst>
          </p:cNvPr>
          <p:cNvSpPr txBox="1"/>
          <p:nvPr/>
        </p:nvSpPr>
        <p:spPr>
          <a:xfrm>
            <a:off x="2427546" y="3744086"/>
            <a:ext cx="7125136" cy="448841"/>
          </a:xfrm>
          <a:prstGeom prst="rect">
            <a:avLst/>
          </a:prstGeom>
        </p:spPr>
        <p:txBody>
          <a:bodyPr wrap="square" lIns="0" tIns="0" rIns="0" bIns="0" rtlCol="0" anchor="t">
            <a:spAutoFit/>
          </a:bodyPr>
          <a:lstStyle/>
          <a:p>
            <a:pPr algn="l">
              <a:lnSpc>
                <a:spcPts val="3499"/>
              </a:lnSpc>
            </a:pPr>
            <a:r>
              <a:rPr lang="vi-VN" sz="3200" b="1">
                <a:solidFill>
                  <a:srgbClr val="000000"/>
                </a:solidFill>
                <a:latin typeface="Noto Sans Bold"/>
                <a:ea typeface="Noto Sans Bold"/>
                <a:cs typeface="Noto Sans Bold"/>
                <a:sym typeface="Noto Sans Bold"/>
              </a:rPr>
              <a:t>Trường hợp liên tục</a:t>
            </a:r>
            <a:endParaRPr lang="en-US" sz="3200" b="1">
              <a:solidFill>
                <a:srgbClr val="000000"/>
              </a:solidFill>
              <a:latin typeface="Noto Sans Bold"/>
              <a:ea typeface="Noto Sans Bold"/>
              <a:cs typeface="Noto Sans Bold"/>
              <a:sym typeface="Noto Sans Bold"/>
            </a:endParaRPr>
          </a:p>
        </p:txBody>
      </p:sp>
      <p:sp>
        <p:nvSpPr>
          <p:cNvPr id="55" name="TextBox 55">
            <a:extLst>
              <a:ext uri="{FF2B5EF4-FFF2-40B4-BE49-F238E27FC236}">
                <a16:creationId xmlns:a16="http://schemas.microsoft.com/office/drawing/2014/main" id="{4C97CD86-F818-B326-891D-F930DF856D6B}"/>
              </a:ext>
            </a:extLst>
          </p:cNvPr>
          <p:cNvSpPr txBox="1"/>
          <p:nvPr/>
        </p:nvSpPr>
        <p:spPr>
          <a:xfrm>
            <a:off x="1325333" y="4629308"/>
            <a:ext cx="12638686" cy="3447098"/>
          </a:xfrm>
          <a:prstGeom prst="rect">
            <a:avLst/>
          </a:prstGeom>
        </p:spPr>
        <p:txBody>
          <a:bodyPr wrap="square" lIns="0" tIns="0" rIns="0" bIns="0" rtlCol="0" anchor="t">
            <a:spAutoFit/>
          </a:bodyPr>
          <a:lstStyle/>
          <a:p>
            <a:pPr algn="just"/>
            <a:r>
              <a:rPr lang="vi-VN" sz="2800"/>
              <a:t>Xét cường độ đã chuẩn hoá r ∈ [0, 1] là biến ngẫu nhiên liên tục có hàm mật độ pr(r). Chọn hàm biến đổi là CDF của chính r:</a:t>
            </a:r>
          </a:p>
          <a:p>
            <a:pPr algn="just"/>
            <a:r>
              <a:rPr lang="vi-VN" sz="2800"/>
              <a:t>	</a:t>
            </a:r>
            <a:endParaRPr lang="en-US" sz="2800"/>
          </a:p>
          <a:p>
            <a:pPr algn="just"/>
            <a:endParaRPr lang="en-US" sz="2800"/>
          </a:p>
          <a:p>
            <a:pPr algn="just"/>
            <a:r>
              <a:rPr lang="vi-VN" sz="2800"/>
              <a:t>Hàm T này đơn điệu không giảm và cho giá trị trong [0, 1], thoả hai điều kiện ở mục 3.1. Từ công thức đổi biến cho biến ngẫu nhiên, mật độ của s là:</a:t>
            </a:r>
          </a:p>
          <a:p>
            <a:pPr algn="just"/>
            <a:r>
              <a:rPr lang="vi-VN" sz="2800"/>
              <a:t>	</a:t>
            </a:r>
            <a:endParaRPr lang="en-US" sz="2800"/>
          </a:p>
          <a:p>
            <a:pPr algn="just"/>
            <a:endParaRPr lang="vi-VN" sz="2800"/>
          </a:p>
        </p:txBody>
      </p:sp>
      <p:grpSp>
        <p:nvGrpSpPr>
          <p:cNvPr id="71" name="Group 71">
            <a:extLst>
              <a:ext uri="{FF2B5EF4-FFF2-40B4-BE49-F238E27FC236}">
                <a16:creationId xmlns:a16="http://schemas.microsoft.com/office/drawing/2014/main" id="{A03C3DDD-FAC1-B239-2143-F4531B64DB00}"/>
              </a:ext>
            </a:extLst>
          </p:cNvPr>
          <p:cNvGrpSpPr/>
          <p:nvPr/>
        </p:nvGrpSpPr>
        <p:grpSpPr>
          <a:xfrm>
            <a:off x="1003277" y="460419"/>
            <a:ext cx="7162712" cy="649857"/>
            <a:chOff x="0" y="0"/>
            <a:chExt cx="1427911" cy="198470"/>
          </a:xfrm>
        </p:grpSpPr>
        <p:sp>
          <p:nvSpPr>
            <p:cNvPr id="72" name="Freeform 72">
              <a:extLst>
                <a:ext uri="{FF2B5EF4-FFF2-40B4-BE49-F238E27FC236}">
                  <a16:creationId xmlns:a16="http://schemas.microsoft.com/office/drawing/2014/main" id="{EB6ED631-CBFE-0CE2-6AD2-992D47D76F3D}"/>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ECA3B74A-CFEC-9A6C-BBA8-DCE40DB6BD5F}"/>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EB29B71F-9420-CA74-885A-C75951D1FF8C}"/>
              </a:ext>
            </a:extLst>
          </p:cNvPr>
          <p:cNvSpPr/>
          <p:nvPr/>
        </p:nvSpPr>
        <p:spPr>
          <a:xfrm>
            <a:off x="1356691" y="582571"/>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CC77B0E4-FB30-3781-5610-923BA1C69783}"/>
              </a:ext>
            </a:extLst>
          </p:cNvPr>
          <p:cNvSpPr txBox="1"/>
          <p:nvPr/>
        </p:nvSpPr>
        <p:spPr>
          <a:xfrm>
            <a:off x="2269891" y="550362"/>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46" name="Picture 45">
            <a:extLst>
              <a:ext uri="{FF2B5EF4-FFF2-40B4-BE49-F238E27FC236}">
                <a16:creationId xmlns:a16="http://schemas.microsoft.com/office/drawing/2014/main" id="{5CCA7EC3-3AAA-C1A1-B288-6D47C45514DD}"/>
              </a:ext>
            </a:extLst>
          </p:cNvPr>
          <p:cNvPicPr>
            <a:picLocks noChangeAspect="1"/>
          </p:cNvPicPr>
          <p:nvPr/>
        </p:nvPicPr>
        <p:blipFill>
          <a:blip r:embed="rId9"/>
          <a:stretch>
            <a:fillRect/>
          </a:stretch>
        </p:blipFill>
        <p:spPr>
          <a:xfrm>
            <a:off x="5719145" y="5642385"/>
            <a:ext cx="3740785" cy="503861"/>
          </a:xfrm>
          <a:prstGeom prst="rect">
            <a:avLst/>
          </a:prstGeom>
        </p:spPr>
      </p:pic>
      <p:pic>
        <p:nvPicPr>
          <p:cNvPr id="48" name="Picture 47">
            <a:extLst>
              <a:ext uri="{FF2B5EF4-FFF2-40B4-BE49-F238E27FC236}">
                <a16:creationId xmlns:a16="http://schemas.microsoft.com/office/drawing/2014/main" id="{28E0079B-C505-C1BC-26AB-027709ACE0DC}"/>
              </a:ext>
            </a:extLst>
          </p:cNvPr>
          <p:cNvPicPr>
            <a:picLocks noChangeAspect="1"/>
          </p:cNvPicPr>
          <p:nvPr/>
        </p:nvPicPr>
        <p:blipFill>
          <a:blip r:embed="rId10"/>
          <a:stretch>
            <a:fillRect/>
          </a:stretch>
        </p:blipFill>
        <p:spPr>
          <a:xfrm>
            <a:off x="5698532" y="7609573"/>
            <a:ext cx="3740785" cy="562773"/>
          </a:xfrm>
          <a:prstGeom prst="rect">
            <a:avLst/>
          </a:prstGeom>
        </p:spPr>
      </p:pic>
    </p:spTree>
    <p:extLst>
      <p:ext uri="{BB962C8B-B14F-4D97-AF65-F5344CB8AC3E}">
        <p14:creationId xmlns:p14="http://schemas.microsoft.com/office/powerpoint/2010/main" val="1972268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9F423-E47F-1B04-6BF0-20B979E53B3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A6297DE-086D-74F4-92C5-D5A4E41FC232}"/>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C9FD20A0-8B8C-003B-E8F9-A99A1419B54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DC491308-6C96-ABA9-1551-DBCA9826F68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25978E06-8AA3-7120-0D4E-7F19128C504A}"/>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64DB7F35-151D-4462-97A2-26D954006532}"/>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8DBBCED4-2FCB-1A63-139D-0369B815AD8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85AB4120-D271-E76B-1039-E743A60D24DB}"/>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94DB7C05-2CE3-196C-86FC-80AA1A24B11B}"/>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649F959F-E2FA-EC2A-2E6E-7DD7B7B961D0}"/>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75F8589B-7D6C-31B9-5E55-A7295AE1E478}"/>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C79856D5-018C-86B4-8F27-CE7AC1FC3A3D}"/>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D09F93EF-CFE2-6BB8-012D-018E55047574}"/>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AF70E0E3-2519-BB61-969F-368878CC5F12}"/>
              </a:ext>
            </a:extLst>
          </p:cNvPr>
          <p:cNvSpPr/>
          <p:nvPr/>
        </p:nvSpPr>
        <p:spPr>
          <a:xfrm>
            <a:off x="1003277" y="2714088"/>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F46D12D8-FE47-D627-CB30-5D71B50C8722}"/>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00C9E463-D2FF-EDFD-C413-A0C55F7B3063}"/>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3081528F-71F7-9228-2E3A-F35C696B4BC6}"/>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37AB3F74-A360-AA21-3C43-CF5FAB320CD9}"/>
              </a:ext>
            </a:extLst>
          </p:cNvPr>
          <p:cNvSpPr txBox="1"/>
          <p:nvPr/>
        </p:nvSpPr>
        <p:spPr>
          <a:xfrm>
            <a:off x="1003277" y="1538901"/>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CÂN BẰNG HISTOGRAM</a:t>
            </a:r>
          </a:p>
        </p:txBody>
      </p:sp>
      <p:grpSp>
        <p:nvGrpSpPr>
          <p:cNvPr id="19" name="Group 19">
            <a:extLst>
              <a:ext uri="{FF2B5EF4-FFF2-40B4-BE49-F238E27FC236}">
                <a16:creationId xmlns:a16="http://schemas.microsoft.com/office/drawing/2014/main" id="{50AD7BFE-8231-BCD2-BDD8-457987C33F0B}"/>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A0BEC0A1-7774-D8AE-12C4-89CD2A2F5DF9}"/>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7D47EAF2-D706-5240-8C66-3CBB87BC4095}"/>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8AD1EBC7-D9B7-1F0E-A102-AA7EB285BC54}"/>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A4A28070-E418-314B-F81D-EF1E8290F57B}"/>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B5E34F54-D73F-173A-5385-0F49C5504971}"/>
              </a:ext>
            </a:extLst>
          </p:cNvPr>
          <p:cNvGrpSpPr/>
          <p:nvPr/>
        </p:nvGrpSpPr>
        <p:grpSpPr>
          <a:xfrm>
            <a:off x="888978" y="3192118"/>
            <a:ext cx="15265422" cy="5687075"/>
            <a:chOff x="0" y="0"/>
            <a:chExt cx="2478455" cy="1685910"/>
          </a:xfrm>
        </p:grpSpPr>
        <p:sp>
          <p:nvSpPr>
            <p:cNvPr id="25" name="Freeform 25">
              <a:extLst>
                <a:ext uri="{FF2B5EF4-FFF2-40B4-BE49-F238E27FC236}">
                  <a16:creationId xmlns:a16="http://schemas.microsoft.com/office/drawing/2014/main" id="{D9392532-F8D5-5BFA-F904-1BE56FD2DA92}"/>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E9B64445-C50A-FF90-B20B-B7F31F21DA13}"/>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DBB40F68-1AEA-CF76-8CB8-EE694CBEF557}"/>
              </a:ext>
            </a:extLst>
          </p:cNvPr>
          <p:cNvGrpSpPr/>
          <p:nvPr/>
        </p:nvGrpSpPr>
        <p:grpSpPr>
          <a:xfrm>
            <a:off x="1179869" y="3462244"/>
            <a:ext cx="978217" cy="978217"/>
            <a:chOff x="0" y="0"/>
            <a:chExt cx="812800" cy="812800"/>
          </a:xfrm>
        </p:grpSpPr>
        <p:sp>
          <p:nvSpPr>
            <p:cNvPr id="28" name="Freeform 28">
              <a:extLst>
                <a:ext uri="{FF2B5EF4-FFF2-40B4-BE49-F238E27FC236}">
                  <a16:creationId xmlns:a16="http://schemas.microsoft.com/office/drawing/2014/main" id="{F20028EC-789A-722C-89C4-C91822EB0D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96788C97-4648-05E2-DB65-B82557CB2E9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089DFF3D-DFF3-23F6-CC9D-A07AD779CD02}"/>
              </a:ext>
            </a:extLst>
          </p:cNvPr>
          <p:cNvSpPr/>
          <p:nvPr/>
        </p:nvSpPr>
        <p:spPr>
          <a:xfrm>
            <a:off x="1356691" y="3760725"/>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4C860DCE-0788-F6F1-4581-131C580A93D6}"/>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19C0D9F2-E7EF-8FD0-3D2C-E733B6A98D78}"/>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B73E67EC-9448-182D-A25F-9DE2C3B6CA04}"/>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BBBAEB0F-3A02-5BF9-ED13-3A7308DC4A57}"/>
              </a:ext>
            </a:extLst>
          </p:cNvPr>
          <p:cNvSpPr txBox="1"/>
          <p:nvPr/>
        </p:nvSpPr>
        <p:spPr>
          <a:xfrm>
            <a:off x="2427546" y="3744086"/>
            <a:ext cx="7125136" cy="448841"/>
          </a:xfrm>
          <a:prstGeom prst="rect">
            <a:avLst/>
          </a:prstGeom>
        </p:spPr>
        <p:txBody>
          <a:bodyPr wrap="square" lIns="0" tIns="0" rIns="0" bIns="0" rtlCol="0" anchor="t">
            <a:spAutoFit/>
          </a:bodyPr>
          <a:lstStyle/>
          <a:p>
            <a:pPr algn="l">
              <a:lnSpc>
                <a:spcPts val="3499"/>
              </a:lnSpc>
            </a:pPr>
            <a:r>
              <a:rPr lang="vi-VN" sz="3200" b="1">
                <a:solidFill>
                  <a:srgbClr val="000000"/>
                </a:solidFill>
                <a:latin typeface="Noto Sans Bold"/>
                <a:ea typeface="Noto Sans Bold"/>
                <a:cs typeface="Noto Sans Bold"/>
                <a:sym typeface="Noto Sans Bold"/>
              </a:rPr>
              <a:t>Trường hợp liên tục</a:t>
            </a:r>
            <a:endParaRPr lang="en-US" sz="3200" b="1">
              <a:solidFill>
                <a:srgbClr val="000000"/>
              </a:solidFill>
              <a:latin typeface="Noto Sans Bold"/>
              <a:ea typeface="Noto Sans Bold"/>
              <a:cs typeface="Noto Sans Bold"/>
              <a:sym typeface="Noto Sans Bold"/>
            </a:endParaRPr>
          </a:p>
        </p:txBody>
      </p:sp>
      <p:sp>
        <p:nvSpPr>
          <p:cNvPr id="55" name="TextBox 55">
            <a:extLst>
              <a:ext uri="{FF2B5EF4-FFF2-40B4-BE49-F238E27FC236}">
                <a16:creationId xmlns:a16="http://schemas.microsoft.com/office/drawing/2014/main" id="{08976E22-6C7E-1A0C-C4E3-F58529174BD0}"/>
              </a:ext>
            </a:extLst>
          </p:cNvPr>
          <p:cNvSpPr txBox="1"/>
          <p:nvPr/>
        </p:nvSpPr>
        <p:spPr>
          <a:xfrm>
            <a:off x="1325332" y="4629308"/>
            <a:ext cx="12924067" cy="3447098"/>
          </a:xfrm>
          <a:prstGeom prst="rect">
            <a:avLst/>
          </a:prstGeom>
        </p:spPr>
        <p:txBody>
          <a:bodyPr wrap="square" lIns="0" tIns="0" rIns="0" bIns="0" rtlCol="0" anchor="t">
            <a:spAutoFit/>
          </a:bodyPr>
          <a:lstStyle/>
          <a:p>
            <a:pPr algn="just"/>
            <a:r>
              <a:rPr lang="vi-VN" sz="2800"/>
              <a:t>Theo định lý cơ bản của giải tích, đạo hàm của T theo r chính là mật độ ban đầu:</a:t>
            </a:r>
          </a:p>
          <a:p>
            <a:pPr algn="just"/>
            <a:endParaRPr lang="en-US" sz="2800"/>
          </a:p>
          <a:p>
            <a:pPr algn="just"/>
            <a:endParaRPr lang="en-US" sz="2800"/>
          </a:p>
          <a:p>
            <a:pPr algn="just"/>
            <a:r>
              <a:rPr lang="vi-VN" sz="2800"/>
              <a:t>Thay vào công thức trên, với giả thiết pr(r) &gt; 0 để T khả nghịch:</a:t>
            </a:r>
          </a:p>
          <a:p>
            <a:pPr algn="just"/>
            <a:r>
              <a:rPr lang="vi-VN" sz="2800"/>
              <a:t>	</a:t>
            </a:r>
            <a:endParaRPr lang="en-US" sz="2800"/>
          </a:p>
          <a:p>
            <a:pPr algn="just"/>
            <a:endParaRPr lang="vi-VN" sz="2800"/>
          </a:p>
          <a:p>
            <a:pPr algn="just"/>
            <a:r>
              <a:rPr lang="vi-VN" sz="2800"/>
              <a:t>Như vậy, bất kể dạng của pr, biến đầu ra s có phân bố đều trên [0, 1]. Đây là kết quả lý thuyết nằm sau cân bằng histogram.</a:t>
            </a:r>
          </a:p>
        </p:txBody>
      </p:sp>
      <p:grpSp>
        <p:nvGrpSpPr>
          <p:cNvPr id="71" name="Group 71">
            <a:extLst>
              <a:ext uri="{FF2B5EF4-FFF2-40B4-BE49-F238E27FC236}">
                <a16:creationId xmlns:a16="http://schemas.microsoft.com/office/drawing/2014/main" id="{D8C6BFFB-3D08-CE2F-68D6-F449FDEBE821}"/>
              </a:ext>
            </a:extLst>
          </p:cNvPr>
          <p:cNvGrpSpPr/>
          <p:nvPr/>
        </p:nvGrpSpPr>
        <p:grpSpPr>
          <a:xfrm>
            <a:off x="1003277" y="460419"/>
            <a:ext cx="7162712" cy="649857"/>
            <a:chOff x="0" y="0"/>
            <a:chExt cx="1427911" cy="198470"/>
          </a:xfrm>
        </p:grpSpPr>
        <p:sp>
          <p:nvSpPr>
            <p:cNvPr id="72" name="Freeform 72">
              <a:extLst>
                <a:ext uri="{FF2B5EF4-FFF2-40B4-BE49-F238E27FC236}">
                  <a16:creationId xmlns:a16="http://schemas.microsoft.com/office/drawing/2014/main" id="{85BCE5C7-D14E-CA53-DD93-DF29E041271D}"/>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A42740DC-8ADB-EBEC-11CA-BCE00D4E1DB2}"/>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5C01EF23-E6EB-3442-1BF5-3645CF8FA5D5}"/>
              </a:ext>
            </a:extLst>
          </p:cNvPr>
          <p:cNvSpPr/>
          <p:nvPr/>
        </p:nvSpPr>
        <p:spPr>
          <a:xfrm>
            <a:off x="1356691" y="582571"/>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100DEF7B-60C2-5895-F6DE-01887E86D342}"/>
              </a:ext>
            </a:extLst>
          </p:cNvPr>
          <p:cNvSpPr txBox="1"/>
          <p:nvPr/>
        </p:nvSpPr>
        <p:spPr>
          <a:xfrm>
            <a:off x="2269891" y="550362"/>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33" name="Picture 32">
            <a:extLst>
              <a:ext uri="{FF2B5EF4-FFF2-40B4-BE49-F238E27FC236}">
                <a16:creationId xmlns:a16="http://schemas.microsoft.com/office/drawing/2014/main" id="{AE744A6B-62BB-2BE7-927C-D0625D6843F8}"/>
              </a:ext>
            </a:extLst>
          </p:cNvPr>
          <p:cNvPicPr>
            <a:picLocks noChangeAspect="1"/>
          </p:cNvPicPr>
          <p:nvPr/>
        </p:nvPicPr>
        <p:blipFill>
          <a:blip r:embed="rId9"/>
          <a:stretch>
            <a:fillRect/>
          </a:stretch>
        </p:blipFill>
        <p:spPr>
          <a:xfrm>
            <a:off x="5032456" y="5279843"/>
            <a:ext cx="3944358" cy="537170"/>
          </a:xfrm>
          <a:prstGeom prst="rect">
            <a:avLst/>
          </a:prstGeom>
        </p:spPr>
      </p:pic>
      <p:pic>
        <p:nvPicPr>
          <p:cNvPr id="35" name="Picture 34">
            <a:extLst>
              <a:ext uri="{FF2B5EF4-FFF2-40B4-BE49-F238E27FC236}">
                <a16:creationId xmlns:a16="http://schemas.microsoft.com/office/drawing/2014/main" id="{4A0AAC7C-749B-D3D2-0D10-73CDA9F00772}"/>
              </a:ext>
            </a:extLst>
          </p:cNvPr>
          <p:cNvPicPr>
            <a:picLocks noChangeAspect="1"/>
          </p:cNvPicPr>
          <p:nvPr/>
        </p:nvPicPr>
        <p:blipFill>
          <a:blip r:embed="rId10"/>
          <a:stretch>
            <a:fillRect/>
          </a:stretch>
        </p:blipFill>
        <p:spPr>
          <a:xfrm>
            <a:off x="4954136" y="6634668"/>
            <a:ext cx="5667011" cy="433700"/>
          </a:xfrm>
          <a:prstGeom prst="rect">
            <a:avLst/>
          </a:prstGeom>
        </p:spPr>
      </p:pic>
    </p:spTree>
    <p:extLst>
      <p:ext uri="{BB962C8B-B14F-4D97-AF65-F5344CB8AC3E}">
        <p14:creationId xmlns:p14="http://schemas.microsoft.com/office/powerpoint/2010/main" val="36021854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AC8DA-89BD-635D-F970-D606BF91E12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37D4763-BF28-59FF-7F78-3B4AC4B50212}"/>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8207CC13-4F89-737E-0CD3-F5DEA0D1E48E}"/>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6D96446F-F10D-4181-2BD4-7E06A95ACF72}"/>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AD860E45-759D-36A1-80A5-44E427932CC2}"/>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D244F7DF-1C8E-5B6C-4467-89FBAD665F78}"/>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C83BCD7E-8766-6F47-9386-2E11C22C89EA}"/>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476C30F3-6F52-7A67-0F3A-1EE6CD4A7E63}"/>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55173B75-5E28-A5CF-CE64-ED5FFDAA2FCF}"/>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1866C894-107F-EAFA-17E6-007BA7F89C6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BD843679-75F1-76CA-D94D-7C12DF5BFD64}"/>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6E573463-A381-2548-B245-A46E904E0594}"/>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95957626-4515-8EE5-9590-0549E8C29A25}"/>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6D7B5037-9452-9A24-67F3-E2FA1F65D365}"/>
              </a:ext>
            </a:extLst>
          </p:cNvPr>
          <p:cNvSpPr/>
          <p:nvPr/>
        </p:nvSpPr>
        <p:spPr>
          <a:xfrm>
            <a:off x="1003277" y="2714088"/>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947FCBB7-DE82-DA0E-CF71-2BD1BA19C0F4}"/>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601E67A4-EE8B-9439-7282-96780C5D42BF}"/>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F387C4D3-B9C1-7FA8-035E-CFE532A0EFB7}"/>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E904DE7D-6E46-3A98-FB99-8C374F697349}"/>
              </a:ext>
            </a:extLst>
          </p:cNvPr>
          <p:cNvSpPr txBox="1"/>
          <p:nvPr/>
        </p:nvSpPr>
        <p:spPr>
          <a:xfrm>
            <a:off x="1003277" y="1538901"/>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CÂN BẰNG HISTOGRAM</a:t>
            </a:r>
          </a:p>
        </p:txBody>
      </p:sp>
      <p:grpSp>
        <p:nvGrpSpPr>
          <p:cNvPr id="19" name="Group 19">
            <a:extLst>
              <a:ext uri="{FF2B5EF4-FFF2-40B4-BE49-F238E27FC236}">
                <a16:creationId xmlns:a16="http://schemas.microsoft.com/office/drawing/2014/main" id="{5E6DCCBD-0C97-25D3-D193-2EB2438EA946}"/>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28A67D14-C1A8-072C-D54B-EF10D47A9234}"/>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D1907A0D-0E8E-BE4B-54DA-D33501EAACB7}"/>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6CBFB021-9E29-C587-6DFE-81C2B224D227}"/>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5966D846-705D-03B3-C8D0-B3E0B9DBF6AC}"/>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2736C0C4-7709-BA2D-711A-EB3F76AC5D14}"/>
              </a:ext>
            </a:extLst>
          </p:cNvPr>
          <p:cNvGrpSpPr/>
          <p:nvPr/>
        </p:nvGrpSpPr>
        <p:grpSpPr>
          <a:xfrm>
            <a:off x="665955" y="2850126"/>
            <a:ext cx="14116845" cy="5783479"/>
            <a:chOff x="0" y="0"/>
            <a:chExt cx="2478455" cy="1685910"/>
          </a:xfrm>
        </p:grpSpPr>
        <p:sp>
          <p:nvSpPr>
            <p:cNvPr id="25" name="Freeform 25">
              <a:extLst>
                <a:ext uri="{FF2B5EF4-FFF2-40B4-BE49-F238E27FC236}">
                  <a16:creationId xmlns:a16="http://schemas.microsoft.com/office/drawing/2014/main" id="{16713768-80AA-19D3-A423-8C37838D3814}"/>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8F214144-484E-FC1A-5A25-C3914BE32415}"/>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2847B11E-5212-E9BD-27FA-0F3317A85B9A}"/>
              </a:ext>
            </a:extLst>
          </p:cNvPr>
          <p:cNvGrpSpPr/>
          <p:nvPr/>
        </p:nvGrpSpPr>
        <p:grpSpPr>
          <a:xfrm>
            <a:off x="1179869" y="3462244"/>
            <a:ext cx="978217" cy="978217"/>
            <a:chOff x="0" y="0"/>
            <a:chExt cx="812800" cy="812800"/>
          </a:xfrm>
        </p:grpSpPr>
        <p:sp>
          <p:nvSpPr>
            <p:cNvPr id="28" name="Freeform 28">
              <a:extLst>
                <a:ext uri="{FF2B5EF4-FFF2-40B4-BE49-F238E27FC236}">
                  <a16:creationId xmlns:a16="http://schemas.microsoft.com/office/drawing/2014/main" id="{F21EA376-F98F-696B-DDE2-17488278C06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D9E00FED-A049-29DA-2FEC-4B6F8FA2481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E20ED767-0683-FD5E-A64D-A7D0A72D9F9B}"/>
              </a:ext>
            </a:extLst>
          </p:cNvPr>
          <p:cNvSpPr/>
          <p:nvPr/>
        </p:nvSpPr>
        <p:spPr>
          <a:xfrm>
            <a:off x="1356691" y="3760725"/>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BBB96504-98CA-3AFA-89BD-E08812FE2757}"/>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165EA788-198F-ECAF-49B4-2F4F4AD00167}"/>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ECF4B7DF-C315-9AC1-64B8-D5B32090B974}"/>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9094450B-D940-8C18-91B0-939B9336C576}"/>
              </a:ext>
            </a:extLst>
          </p:cNvPr>
          <p:cNvSpPr txBox="1"/>
          <p:nvPr/>
        </p:nvSpPr>
        <p:spPr>
          <a:xfrm>
            <a:off x="2427546" y="3744086"/>
            <a:ext cx="7125136" cy="448841"/>
          </a:xfrm>
          <a:prstGeom prst="rect">
            <a:avLst/>
          </a:prstGeom>
        </p:spPr>
        <p:txBody>
          <a:bodyPr wrap="square" lIns="0" tIns="0" rIns="0" bIns="0" rtlCol="0" anchor="t">
            <a:spAutoFit/>
          </a:bodyPr>
          <a:lstStyle/>
          <a:p>
            <a:pPr algn="l">
              <a:lnSpc>
                <a:spcPts val="3499"/>
              </a:lnSpc>
            </a:pPr>
            <a:r>
              <a:rPr lang="vi-VN" sz="3200" b="1">
                <a:solidFill>
                  <a:srgbClr val="000000"/>
                </a:solidFill>
                <a:latin typeface="Noto Sans Bold"/>
                <a:ea typeface="Noto Sans Bold"/>
                <a:cs typeface="Noto Sans Bold"/>
                <a:sym typeface="Noto Sans Bold"/>
              </a:rPr>
              <a:t>Trường hợp </a:t>
            </a:r>
            <a:r>
              <a:rPr lang="en-US" sz="3200" b="1">
                <a:solidFill>
                  <a:srgbClr val="000000"/>
                </a:solidFill>
                <a:latin typeface="Noto Sans Bold"/>
                <a:ea typeface="Noto Sans Bold"/>
                <a:cs typeface="Noto Sans Bold"/>
                <a:sym typeface="Noto Sans Bold"/>
              </a:rPr>
              <a:t>rời rạc</a:t>
            </a:r>
          </a:p>
        </p:txBody>
      </p:sp>
      <p:sp>
        <p:nvSpPr>
          <p:cNvPr id="55" name="TextBox 55">
            <a:extLst>
              <a:ext uri="{FF2B5EF4-FFF2-40B4-BE49-F238E27FC236}">
                <a16:creationId xmlns:a16="http://schemas.microsoft.com/office/drawing/2014/main" id="{F61F5C75-7B25-11BB-039B-B91FAAA7FB99}"/>
              </a:ext>
            </a:extLst>
          </p:cNvPr>
          <p:cNvSpPr txBox="1"/>
          <p:nvPr/>
        </p:nvSpPr>
        <p:spPr>
          <a:xfrm>
            <a:off x="1325333" y="4629308"/>
            <a:ext cx="12210822" cy="2585323"/>
          </a:xfrm>
          <a:prstGeom prst="rect">
            <a:avLst/>
          </a:prstGeom>
        </p:spPr>
        <p:txBody>
          <a:bodyPr wrap="square" lIns="0" tIns="0" rIns="0" bIns="0" rtlCol="0" anchor="t">
            <a:spAutoFit/>
          </a:bodyPr>
          <a:lstStyle/>
          <a:p>
            <a:pPr algn="just"/>
            <a:r>
              <a:rPr lang="vi-VN" sz="2800"/>
              <a:t>Với ảnh số, tích phân được thay bằng tổng và hàm biến đổi trở thành:</a:t>
            </a:r>
            <a:endParaRPr lang="en-US" sz="2800"/>
          </a:p>
          <a:p>
            <a:pPr algn="just"/>
            <a:endParaRPr lang="vi-VN" sz="2800"/>
          </a:p>
          <a:p>
            <a:pPr algn="just"/>
            <a:endParaRPr lang="en-US" sz="2800"/>
          </a:p>
          <a:p>
            <a:pPr algn="just"/>
            <a:endParaRPr lang="en-US" sz="2800"/>
          </a:p>
          <a:p>
            <a:pPr algn="just"/>
            <a:r>
              <a:rPr lang="vi-VN" sz="2800"/>
              <a:t>Giá trị sk thường không nguyên nên được làm tròn về mức xám gần nhất. Trong trường hợp rời rạc, kết quả không đạt phân bố đều chính xác</a:t>
            </a:r>
            <a:r>
              <a:rPr lang="en-US" sz="2800"/>
              <a:t>.</a:t>
            </a:r>
            <a:endParaRPr lang="vi-VN" sz="2800"/>
          </a:p>
        </p:txBody>
      </p:sp>
      <p:grpSp>
        <p:nvGrpSpPr>
          <p:cNvPr id="71" name="Group 71">
            <a:extLst>
              <a:ext uri="{FF2B5EF4-FFF2-40B4-BE49-F238E27FC236}">
                <a16:creationId xmlns:a16="http://schemas.microsoft.com/office/drawing/2014/main" id="{EE42C98A-3E16-5A8F-BCE8-B48503FBBF9F}"/>
              </a:ext>
            </a:extLst>
          </p:cNvPr>
          <p:cNvGrpSpPr/>
          <p:nvPr/>
        </p:nvGrpSpPr>
        <p:grpSpPr>
          <a:xfrm>
            <a:off x="1003277" y="460419"/>
            <a:ext cx="7162712" cy="649857"/>
            <a:chOff x="0" y="0"/>
            <a:chExt cx="1427911" cy="198470"/>
          </a:xfrm>
        </p:grpSpPr>
        <p:sp>
          <p:nvSpPr>
            <p:cNvPr id="72" name="Freeform 72">
              <a:extLst>
                <a:ext uri="{FF2B5EF4-FFF2-40B4-BE49-F238E27FC236}">
                  <a16:creationId xmlns:a16="http://schemas.microsoft.com/office/drawing/2014/main" id="{B71F488B-191D-4711-D64D-4690E9908F20}"/>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574F7F82-8F72-5693-3A16-9CF5F58152B2}"/>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DB382F50-1F09-8244-AC80-13FA50BCA2AE}"/>
              </a:ext>
            </a:extLst>
          </p:cNvPr>
          <p:cNvSpPr/>
          <p:nvPr/>
        </p:nvSpPr>
        <p:spPr>
          <a:xfrm>
            <a:off x="1356691" y="582571"/>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ED74931D-C04F-7999-504C-54115D024AF7}"/>
              </a:ext>
            </a:extLst>
          </p:cNvPr>
          <p:cNvSpPr txBox="1"/>
          <p:nvPr/>
        </p:nvSpPr>
        <p:spPr>
          <a:xfrm>
            <a:off x="2269891" y="550362"/>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34" name="Picture 33">
            <a:extLst>
              <a:ext uri="{FF2B5EF4-FFF2-40B4-BE49-F238E27FC236}">
                <a16:creationId xmlns:a16="http://schemas.microsoft.com/office/drawing/2014/main" id="{C4929E75-FAA8-3F37-F2D7-F8EC6B2A1DC4}"/>
              </a:ext>
            </a:extLst>
          </p:cNvPr>
          <p:cNvPicPr>
            <a:picLocks noChangeAspect="1"/>
          </p:cNvPicPr>
          <p:nvPr/>
        </p:nvPicPr>
        <p:blipFill>
          <a:blip r:embed="rId9"/>
          <a:stretch>
            <a:fillRect/>
          </a:stretch>
        </p:blipFill>
        <p:spPr>
          <a:xfrm>
            <a:off x="2025447" y="5357335"/>
            <a:ext cx="9657537" cy="512920"/>
          </a:xfrm>
          <a:prstGeom prst="rect">
            <a:avLst/>
          </a:prstGeom>
        </p:spPr>
      </p:pic>
    </p:spTree>
    <p:extLst>
      <p:ext uri="{BB962C8B-B14F-4D97-AF65-F5344CB8AC3E}">
        <p14:creationId xmlns:p14="http://schemas.microsoft.com/office/powerpoint/2010/main" val="1745983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87124-91D6-E588-AD6A-EB64A42ADE0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E348EE6-5FE3-1953-C8DE-B46353B6C3AE}"/>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366DF15E-E522-74DD-4069-6DFE433DEAD3}"/>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1C0022B4-D946-66CD-D984-15F0D175F727}"/>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03BA322E-308C-023C-F08C-2F0711A6A06C}"/>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9101E56F-1A5B-06E2-1744-DC623C4F4FD4}"/>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D1D17937-F1F0-B968-DEC1-977089A297D9}"/>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56411DEC-0036-3548-4441-06577600348D}"/>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39B44F93-DC10-7C0D-5CD8-7EF7E8C4995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1256D01C-19C7-F858-00A7-AC691753852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98747034-BF40-D662-BC06-E0519027E1C9}"/>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47157B6F-51FF-D46F-349C-F1C6A73F52B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7F86C02F-C38B-B81C-B096-0FC85876C17A}"/>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18D951D2-9B4A-EE43-02B1-B4B5B457B1E2}"/>
              </a:ext>
            </a:extLst>
          </p:cNvPr>
          <p:cNvSpPr/>
          <p:nvPr/>
        </p:nvSpPr>
        <p:spPr>
          <a:xfrm>
            <a:off x="1028700" y="3305184"/>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33F7F8E4-1C94-1F69-2EC3-1958AD84971E}"/>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B7951E06-029F-3F0B-FD0D-53715A932335}"/>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ED48356C-9CDC-54ED-3828-23FDC61F8907}"/>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EE7994E9-BC87-6A43-1ACC-9CACF318A0F1}"/>
              </a:ext>
            </a:extLst>
          </p:cNvPr>
          <p:cNvSpPr txBox="1"/>
          <p:nvPr/>
        </p:nvSpPr>
        <p:spPr>
          <a:xfrm>
            <a:off x="1028700" y="2129997"/>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Đặc tả histogram</a:t>
            </a:r>
          </a:p>
        </p:txBody>
      </p:sp>
      <p:grpSp>
        <p:nvGrpSpPr>
          <p:cNvPr id="19" name="Group 19">
            <a:extLst>
              <a:ext uri="{FF2B5EF4-FFF2-40B4-BE49-F238E27FC236}">
                <a16:creationId xmlns:a16="http://schemas.microsoft.com/office/drawing/2014/main" id="{D9CB40B2-18D9-8A42-D36E-B77234F0663B}"/>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F510CF78-FB0E-0292-AC65-6D3C9AB1A627}"/>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6C88CF84-F37E-9B5A-6FEB-EF5008E3CE2B}"/>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EB2482AA-CD36-9CE7-D2C2-4583E1970F8E}"/>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2A99D989-086D-1490-E164-1930B9582E51}"/>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0E4BA795-95D8-FA4F-AA1F-3AF144DC4EE8}"/>
              </a:ext>
            </a:extLst>
          </p:cNvPr>
          <p:cNvGrpSpPr/>
          <p:nvPr/>
        </p:nvGrpSpPr>
        <p:grpSpPr>
          <a:xfrm>
            <a:off x="914401" y="3783215"/>
            <a:ext cx="13716000" cy="4901594"/>
            <a:chOff x="0" y="0"/>
            <a:chExt cx="2478455" cy="1685910"/>
          </a:xfrm>
        </p:grpSpPr>
        <p:sp>
          <p:nvSpPr>
            <p:cNvPr id="25" name="Freeform 25">
              <a:extLst>
                <a:ext uri="{FF2B5EF4-FFF2-40B4-BE49-F238E27FC236}">
                  <a16:creationId xmlns:a16="http://schemas.microsoft.com/office/drawing/2014/main" id="{53B91234-08B0-DD6D-ADC9-F704FA4ACCF6}"/>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8C2ACC68-C0B7-004A-5839-473D9AEDDF18}"/>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CC066259-27FE-B5C9-3354-CFCDEFA4C98B}"/>
              </a:ext>
            </a:extLst>
          </p:cNvPr>
          <p:cNvGrpSpPr/>
          <p:nvPr/>
        </p:nvGrpSpPr>
        <p:grpSpPr>
          <a:xfrm>
            <a:off x="1205292" y="4053340"/>
            <a:ext cx="978217" cy="978217"/>
            <a:chOff x="0" y="0"/>
            <a:chExt cx="812800" cy="812800"/>
          </a:xfrm>
        </p:grpSpPr>
        <p:sp>
          <p:nvSpPr>
            <p:cNvPr id="28" name="Freeform 28">
              <a:extLst>
                <a:ext uri="{FF2B5EF4-FFF2-40B4-BE49-F238E27FC236}">
                  <a16:creationId xmlns:a16="http://schemas.microsoft.com/office/drawing/2014/main" id="{3FDF54A5-27A5-25BB-14FE-FCDEAEE86FA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B1AEDE73-D411-FC39-9B7C-E5A007E180F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DDF0B8C8-F496-A53B-474B-AB221591CF1E}"/>
              </a:ext>
            </a:extLst>
          </p:cNvPr>
          <p:cNvSpPr/>
          <p:nvPr/>
        </p:nvSpPr>
        <p:spPr>
          <a:xfrm>
            <a:off x="1382114" y="4351821"/>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71916CF3-1BD8-40CD-AA91-E96562D6B7FE}"/>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AAC3EB46-CF65-8257-FD89-5AB1BBB9712B}"/>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73D84823-25E7-04D1-8EE3-0D2757554B49}"/>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A4A9C613-57AF-23F1-D591-4F52FDE252E0}"/>
              </a:ext>
            </a:extLst>
          </p:cNvPr>
          <p:cNvSpPr txBox="1"/>
          <p:nvPr/>
        </p:nvSpPr>
        <p:spPr>
          <a:xfrm>
            <a:off x="2452969" y="4335182"/>
            <a:ext cx="7125136" cy="448841"/>
          </a:xfrm>
          <a:prstGeom prst="rect">
            <a:avLst/>
          </a:prstGeom>
        </p:spPr>
        <p:txBody>
          <a:bodyPr wrap="square" lIns="0" tIns="0" rIns="0" bIns="0" rtlCol="0" anchor="t">
            <a:spAutoFit/>
          </a:bodyPr>
          <a:lstStyle/>
          <a:p>
            <a:pPr algn="l">
              <a:lnSpc>
                <a:spcPts val="3499"/>
              </a:lnSpc>
            </a:pPr>
            <a:r>
              <a:rPr lang="en-US" sz="3200" b="1">
                <a:solidFill>
                  <a:srgbClr val="000000"/>
                </a:solidFill>
                <a:latin typeface="Noto Sans Bold"/>
                <a:ea typeface="Noto Sans Bold"/>
                <a:cs typeface="Noto Sans Bold"/>
                <a:sym typeface="Noto Sans Bold"/>
              </a:rPr>
              <a:t>Tóm tắt nội dung</a:t>
            </a:r>
          </a:p>
        </p:txBody>
      </p:sp>
      <p:sp>
        <p:nvSpPr>
          <p:cNvPr id="55" name="TextBox 55">
            <a:extLst>
              <a:ext uri="{FF2B5EF4-FFF2-40B4-BE49-F238E27FC236}">
                <a16:creationId xmlns:a16="http://schemas.microsoft.com/office/drawing/2014/main" id="{82CD704D-F582-3B24-A9F3-BDC3ACD74AB0}"/>
              </a:ext>
            </a:extLst>
          </p:cNvPr>
          <p:cNvSpPr txBox="1"/>
          <p:nvPr/>
        </p:nvSpPr>
        <p:spPr>
          <a:xfrm>
            <a:off x="1382114" y="5298255"/>
            <a:ext cx="12791086" cy="2585323"/>
          </a:xfrm>
          <a:prstGeom prst="rect">
            <a:avLst/>
          </a:prstGeom>
        </p:spPr>
        <p:txBody>
          <a:bodyPr wrap="square" lIns="0" tIns="0" rIns="0" bIns="0" rtlCol="0" anchor="t">
            <a:spAutoFit/>
          </a:bodyPr>
          <a:lstStyle/>
          <a:p>
            <a:pPr algn="just"/>
            <a:r>
              <a:rPr lang="vi-VN" sz="2800"/>
              <a:t>Cân bằng histogram luôn hướng tới phân bố đều. Điều này đôi khi không phải mục tiêu mong muốn: ảnh đầu ra phân bố đều thường quá sáng ở vùng tối và có tương phản mạnh quá mức. Đặc tả histogram (histogram specification, hay histogram matching) cho phép người dùng chọn một histogram đích pz(z), chẳng hạn histogram của một ảnh tham chiếu hoặc một phân bố Gauss, rồi biến đổi ảnh đầu vào sao cho histogram đầu ra gần với histogram đích.</a:t>
            </a:r>
            <a:endParaRPr lang="en-US" sz="2800"/>
          </a:p>
        </p:txBody>
      </p:sp>
      <p:grpSp>
        <p:nvGrpSpPr>
          <p:cNvPr id="71" name="Group 71">
            <a:extLst>
              <a:ext uri="{FF2B5EF4-FFF2-40B4-BE49-F238E27FC236}">
                <a16:creationId xmlns:a16="http://schemas.microsoft.com/office/drawing/2014/main" id="{E286B131-677F-E97C-0E29-4936F80B5B81}"/>
              </a:ext>
            </a:extLst>
          </p:cNvPr>
          <p:cNvGrpSpPr/>
          <p:nvPr/>
        </p:nvGrpSpPr>
        <p:grpSpPr>
          <a:xfrm>
            <a:off x="1028700" y="1051515"/>
            <a:ext cx="7162712" cy="649857"/>
            <a:chOff x="0" y="0"/>
            <a:chExt cx="1427911" cy="198470"/>
          </a:xfrm>
        </p:grpSpPr>
        <p:sp>
          <p:nvSpPr>
            <p:cNvPr id="72" name="Freeform 72">
              <a:extLst>
                <a:ext uri="{FF2B5EF4-FFF2-40B4-BE49-F238E27FC236}">
                  <a16:creationId xmlns:a16="http://schemas.microsoft.com/office/drawing/2014/main" id="{DD6DF521-0568-D1EE-5A4D-A2A21CC1CB7C}"/>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C4DE3D9C-7C74-F36D-111C-337E3E80DA1D}"/>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E56639ED-F6B1-BE53-DCA5-D0AFF677F891}"/>
              </a:ext>
            </a:extLst>
          </p:cNvPr>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B2B53B8B-7512-B2B2-8B24-327634EE0112}"/>
              </a:ext>
            </a:extLst>
          </p:cNvPr>
          <p:cNvSpPr txBox="1"/>
          <p:nvPr/>
        </p:nvSpPr>
        <p:spPr>
          <a:xfrm>
            <a:off x="2295314" y="1141458"/>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spTree>
    <p:extLst>
      <p:ext uri="{BB962C8B-B14F-4D97-AF65-F5344CB8AC3E}">
        <p14:creationId xmlns:p14="http://schemas.microsoft.com/office/powerpoint/2010/main" val="33353503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AB7B9-352E-269D-C60D-6B06451006E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CDD5FB4-89A0-1FA2-FE15-A548D62684F7}"/>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7FF9190F-0D00-DDAC-4D57-83151F8324CF}"/>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17067D39-A197-39DC-E8CA-A8870A8EAAD3}"/>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540F4C7A-20C3-85A1-2160-A1F41D906161}"/>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F866D59A-1424-F3F9-A569-16F584C8C47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CD6A4DDD-6463-CD12-2A8A-13B7C47FAC8C}"/>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D4F79A90-A918-1126-4B0A-F286145C4A43}"/>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8C975A6F-4B27-C752-FB60-49C91B47055F}"/>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DFBB237F-D251-E73C-1D19-F3C9BFC0FE73}"/>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642270EF-820E-40C5-59AE-857AE5E18525}"/>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57639904-3DF7-B0B3-0F5F-F9BC67A64F1E}"/>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D371DF01-53A3-CB1A-8751-45B72B60D896}"/>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6FB71CA2-C95C-7C24-343D-39BE28FCDAC8}"/>
              </a:ext>
            </a:extLst>
          </p:cNvPr>
          <p:cNvSpPr/>
          <p:nvPr/>
        </p:nvSpPr>
        <p:spPr>
          <a:xfrm>
            <a:off x="1028700" y="3305184"/>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8F28B38C-BCD5-EC1D-3BD0-8B0324EA4DA4}"/>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F104E00A-43EF-91FF-0C2B-F6E0C7E962C7}"/>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C09D7576-90BB-877B-6DAC-11F450850227}"/>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407EF85D-04AA-E06E-BA26-6BA28D937346}"/>
              </a:ext>
            </a:extLst>
          </p:cNvPr>
          <p:cNvSpPr txBox="1"/>
          <p:nvPr/>
        </p:nvSpPr>
        <p:spPr>
          <a:xfrm>
            <a:off x="1028700" y="2129997"/>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Đặc tả histogram</a:t>
            </a:r>
          </a:p>
        </p:txBody>
      </p:sp>
      <p:grpSp>
        <p:nvGrpSpPr>
          <p:cNvPr id="19" name="Group 19">
            <a:extLst>
              <a:ext uri="{FF2B5EF4-FFF2-40B4-BE49-F238E27FC236}">
                <a16:creationId xmlns:a16="http://schemas.microsoft.com/office/drawing/2014/main" id="{3FC21186-BD95-825C-1A61-DC8411DB9705}"/>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3ADF88FC-45BF-E50D-40B7-F4A5EC2642D6}"/>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4C16E14E-F7A0-20B9-F2E1-7F9D575F2227}"/>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8B471DC8-1787-2A47-684C-9BCE50C8C253}"/>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2E76C278-514A-E136-FA06-7C3F35577B29}"/>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879CE390-9A20-CF9D-2BCD-F82AFC6DB372}"/>
              </a:ext>
            </a:extLst>
          </p:cNvPr>
          <p:cNvGrpSpPr/>
          <p:nvPr/>
        </p:nvGrpSpPr>
        <p:grpSpPr>
          <a:xfrm>
            <a:off x="914401" y="3783215"/>
            <a:ext cx="13716000" cy="4901594"/>
            <a:chOff x="0" y="0"/>
            <a:chExt cx="2478455" cy="1685910"/>
          </a:xfrm>
        </p:grpSpPr>
        <p:sp>
          <p:nvSpPr>
            <p:cNvPr id="25" name="Freeform 25">
              <a:extLst>
                <a:ext uri="{FF2B5EF4-FFF2-40B4-BE49-F238E27FC236}">
                  <a16:creationId xmlns:a16="http://schemas.microsoft.com/office/drawing/2014/main" id="{B92B8FE0-68A9-1961-E0E6-7558CD2352A0}"/>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DB3F7054-D156-7198-8DA3-371E20458DE8}"/>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868F1D5E-0142-F662-443F-0B305608369B}"/>
              </a:ext>
            </a:extLst>
          </p:cNvPr>
          <p:cNvGrpSpPr/>
          <p:nvPr/>
        </p:nvGrpSpPr>
        <p:grpSpPr>
          <a:xfrm>
            <a:off x="1205292" y="4053340"/>
            <a:ext cx="978217" cy="978217"/>
            <a:chOff x="0" y="0"/>
            <a:chExt cx="812800" cy="812800"/>
          </a:xfrm>
        </p:grpSpPr>
        <p:sp>
          <p:nvSpPr>
            <p:cNvPr id="28" name="Freeform 28">
              <a:extLst>
                <a:ext uri="{FF2B5EF4-FFF2-40B4-BE49-F238E27FC236}">
                  <a16:creationId xmlns:a16="http://schemas.microsoft.com/office/drawing/2014/main" id="{A92A8609-D682-3297-0FD3-45A69612EA1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96C8AD28-FA6A-4864-6916-EDDFA50B0ED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470128C5-1A90-3584-9DBD-FEB281D54B24}"/>
              </a:ext>
            </a:extLst>
          </p:cNvPr>
          <p:cNvSpPr/>
          <p:nvPr/>
        </p:nvSpPr>
        <p:spPr>
          <a:xfrm>
            <a:off x="1382114" y="4351821"/>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E35CB1A8-8485-1221-2091-9C6D2A6337E8}"/>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24AFDDFB-3A96-A877-46A8-9CA81CB0A961}"/>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519374F5-FBE7-7327-65D5-4E6952856411}"/>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CA894B00-0EFB-71A1-9029-542130CF829D}"/>
              </a:ext>
            </a:extLst>
          </p:cNvPr>
          <p:cNvSpPr txBox="1"/>
          <p:nvPr/>
        </p:nvSpPr>
        <p:spPr>
          <a:xfrm>
            <a:off x="2452969" y="4335182"/>
            <a:ext cx="7125136" cy="448841"/>
          </a:xfrm>
          <a:prstGeom prst="rect">
            <a:avLst/>
          </a:prstGeom>
        </p:spPr>
        <p:txBody>
          <a:bodyPr wrap="square" lIns="0" tIns="0" rIns="0" bIns="0" rtlCol="0" anchor="t">
            <a:spAutoFit/>
          </a:bodyPr>
          <a:lstStyle/>
          <a:p>
            <a:pPr algn="l">
              <a:lnSpc>
                <a:spcPts val="3499"/>
              </a:lnSpc>
            </a:pPr>
            <a:r>
              <a:rPr lang="en-US" sz="3200" b="1">
                <a:solidFill>
                  <a:srgbClr val="000000"/>
                </a:solidFill>
                <a:latin typeface="Noto Sans Bold"/>
                <a:ea typeface="Noto Sans Bold"/>
                <a:cs typeface="Noto Sans Bold"/>
                <a:sym typeface="Noto Sans Bold"/>
              </a:rPr>
              <a:t>Tóm tắt nội dung</a:t>
            </a:r>
          </a:p>
        </p:txBody>
      </p:sp>
      <p:sp>
        <p:nvSpPr>
          <p:cNvPr id="55" name="TextBox 55">
            <a:extLst>
              <a:ext uri="{FF2B5EF4-FFF2-40B4-BE49-F238E27FC236}">
                <a16:creationId xmlns:a16="http://schemas.microsoft.com/office/drawing/2014/main" id="{0A5B4DC5-B0D5-DB34-A421-EB9097A0BBFE}"/>
              </a:ext>
            </a:extLst>
          </p:cNvPr>
          <p:cNvSpPr txBox="1"/>
          <p:nvPr/>
        </p:nvSpPr>
        <p:spPr>
          <a:xfrm>
            <a:off x="1382114" y="5298255"/>
            <a:ext cx="12791086" cy="3016210"/>
          </a:xfrm>
          <a:prstGeom prst="rect">
            <a:avLst/>
          </a:prstGeom>
        </p:spPr>
        <p:txBody>
          <a:bodyPr wrap="square" lIns="0" tIns="0" rIns="0" bIns="0" rtlCol="0" anchor="t">
            <a:spAutoFit/>
          </a:bodyPr>
          <a:lstStyle/>
          <a:p>
            <a:pPr algn="just"/>
            <a:r>
              <a:rPr lang="vi-VN" sz="2800"/>
              <a:t>Ý tưởng là dùng phân bố đều làm trung gian. Gọi T là hàm cân bằng của ảnh đầu vào và G là hàm cân bằng của histogram đích:</a:t>
            </a:r>
            <a:endParaRPr lang="en-US" sz="2800"/>
          </a:p>
          <a:p>
            <a:pPr algn="just"/>
            <a:endParaRPr lang="vi-VN" sz="2800"/>
          </a:p>
          <a:p>
            <a:pPr algn="just"/>
            <a:r>
              <a:rPr lang="vi-VN" sz="2800"/>
              <a:t>	</a:t>
            </a:r>
          </a:p>
          <a:p>
            <a:pPr algn="just"/>
            <a:r>
              <a:rPr lang="vi-VN" sz="2800"/>
              <a:t>Nếu cả hai đều dẫn về phân bố đều thì ảnh đầu ra có thể thu được bằng cách tính s = T(r) rồi lấy ngược qua G:</a:t>
            </a:r>
            <a:endParaRPr lang="en-US" sz="2800"/>
          </a:p>
          <a:p>
            <a:pPr algn="just"/>
            <a:endParaRPr lang="vi-VN" sz="2800"/>
          </a:p>
        </p:txBody>
      </p:sp>
      <p:grpSp>
        <p:nvGrpSpPr>
          <p:cNvPr id="71" name="Group 71">
            <a:extLst>
              <a:ext uri="{FF2B5EF4-FFF2-40B4-BE49-F238E27FC236}">
                <a16:creationId xmlns:a16="http://schemas.microsoft.com/office/drawing/2014/main" id="{09CF63D8-5A67-25CE-124E-F1FFCB5A9901}"/>
              </a:ext>
            </a:extLst>
          </p:cNvPr>
          <p:cNvGrpSpPr/>
          <p:nvPr/>
        </p:nvGrpSpPr>
        <p:grpSpPr>
          <a:xfrm>
            <a:off x="1028700" y="1051515"/>
            <a:ext cx="7162712" cy="649857"/>
            <a:chOff x="0" y="0"/>
            <a:chExt cx="1427911" cy="198470"/>
          </a:xfrm>
        </p:grpSpPr>
        <p:sp>
          <p:nvSpPr>
            <p:cNvPr id="72" name="Freeform 72">
              <a:extLst>
                <a:ext uri="{FF2B5EF4-FFF2-40B4-BE49-F238E27FC236}">
                  <a16:creationId xmlns:a16="http://schemas.microsoft.com/office/drawing/2014/main" id="{947F6B71-D644-A37B-CD09-5FAABE90F137}"/>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DC6E0CAC-4130-54A8-714B-60BE40392655}"/>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79CD2734-18A7-85E6-104A-BD34F3D469F6}"/>
              </a:ext>
            </a:extLst>
          </p:cNvPr>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CCBC0E4C-BA04-291D-C54E-40F06F4F899D}"/>
              </a:ext>
            </a:extLst>
          </p:cNvPr>
          <p:cNvSpPr txBox="1"/>
          <p:nvPr/>
        </p:nvSpPr>
        <p:spPr>
          <a:xfrm>
            <a:off x="2295314" y="1141458"/>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33" name="Picture 32">
            <a:extLst>
              <a:ext uri="{FF2B5EF4-FFF2-40B4-BE49-F238E27FC236}">
                <a16:creationId xmlns:a16="http://schemas.microsoft.com/office/drawing/2014/main" id="{91285ADB-BF81-138D-DC9B-CDF8CE62606B}"/>
              </a:ext>
            </a:extLst>
          </p:cNvPr>
          <p:cNvPicPr>
            <a:picLocks noChangeAspect="1"/>
          </p:cNvPicPr>
          <p:nvPr/>
        </p:nvPicPr>
        <p:blipFill>
          <a:blip r:embed="rId9"/>
          <a:stretch>
            <a:fillRect/>
          </a:stretch>
        </p:blipFill>
        <p:spPr>
          <a:xfrm>
            <a:off x="3487087" y="6362567"/>
            <a:ext cx="7979369" cy="434773"/>
          </a:xfrm>
          <a:prstGeom prst="rect">
            <a:avLst/>
          </a:prstGeom>
        </p:spPr>
      </p:pic>
      <p:pic>
        <p:nvPicPr>
          <p:cNvPr id="35" name="Picture 34">
            <a:extLst>
              <a:ext uri="{FF2B5EF4-FFF2-40B4-BE49-F238E27FC236}">
                <a16:creationId xmlns:a16="http://schemas.microsoft.com/office/drawing/2014/main" id="{7C5A555F-100E-05EF-EB3C-31263F6813CF}"/>
              </a:ext>
            </a:extLst>
          </p:cNvPr>
          <p:cNvPicPr>
            <a:picLocks noChangeAspect="1"/>
          </p:cNvPicPr>
          <p:nvPr/>
        </p:nvPicPr>
        <p:blipFill>
          <a:blip r:embed="rId10"/>
          <a:stretch>
            <a:fillRect/>
          </a:stretch>
        </p:blipFill>
        <p:spPr>
          <a:xfrm>
            <a:off x="5203070" y="8018167"/>
            <a:ext cx="4011699" cy="447586"/>
          </a:xfrm>
          <a:prstGeom prst="rect">
            <a:avLst/>
          </a:prstGeom>
        </p:spPr>
      </p:pic>
    </p:spTree>
    <p:extLst>
      <p:ext uri="{BB962C8B-B14F-4D97-AF65-F5344CB8AC3E}">
        <p14:creationId xmlns:p14="http://schemas.microsoft.com/office/powerpoint/2010/main" val="1873283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AD6BC-C342-9BCC-D07C-C6649B7A5ED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C438180-F4C0-DF3C-DE14-AE5B1F496CED}"/>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B84663F6-8081-032B-9B63-F4140A98A31F}"/>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4D762DA7-117E-A540-0073-0DEC90ABF89A}"/>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67B2901C-B93C-6BCB-66C2-7F331C32A293}"/>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BD8CB9F8-1D10-3E95-CFD4-908F02C99E4D}"/>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BF190B52-61E2-A40B-2570-D5AD8A5D4CBA}"/>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A82CB4DF-5BF2-5FB1-7508-05F6E6ADB4EA}"/>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0DF9725B-85B8-F660-FC14-8FC5936F5973}"/>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C2F7E984-D210-497F-6237-00335DC1F516}"/>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F66EDAF7-F0C5-6D1C-E6BD-C2794DA14408}"/>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87A3EBFB-BB88-C88F-4ECC-1CC0D60AAEE1}"/>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904A64B0-5F17-BEE8-1053-3CF971197F96}"/>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A852179F-956B-8371-21A4-83AB53395866}"/>
              </a:ext>
            </a:extLst>
          </p:cNvPr>
          <p:cNvSpPr/>
          <p:nvPr/>
        </p:nvSpPr>
        <p:spPr>
          <a:xfrm>
            <a:off x="1028700" y="3305184"/>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7ED73D63-CE46-60CD-9681-5F47FAC6E78D}"/>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87819AF4-C789-B4CA-8CC7-3D1F31D21D90}"/>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42EB05D0-8E5B-6209-B376-40B1FC6DF328}"/>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59F91FA5-374C-1B22-42E4-AB8591419CEB}"/>
              </a:ext>
            </a:extLst>
          </p:cNvPr>
          <p:cNvSpPr txBox="1"/>
          <p:nvPr/>
        </p:nvSpPr>
        <p:spPr>
          <a:xfrm>
            <a:off x="1028700" y="2129997"/>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Đặc tả histogram</a:t>
            </a:r>
          </a:p>
        </p:txBody>
      </p:sp>
      <p:grpSp>
        <p:nvGrpSpPr>
          <p:cNvPr id="19" name="Group 19">
            <a:extLst>
              <a:ext uri="{FF2B5EF4-FFF2-40B4-BE49-F238E27FC236}">
                <a16:creationId xmlns:a16="http://schemas.microsoft.com/office/drawing/2014/main" id="{3D076395-E667-A648-957F-380490A5CB8B}"/>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5D4BD52F-E18A-914B-B821-65CADC144853}"/>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16F84EA6-1042-1410-6BD8-887C6A5C934E}"/>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9374EA80-7B78-221A-F3A4-2BB273E0E67C}"/>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E2BEC1DB-3C42-1B84-7CEF-EC7C2BEC779D}"/>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69A64379-8648-18C4-A759-74460DE6A44D}"/>
              </a:ext>
            </a:extLst>
          </p:cNvPr>
          <p:cNvGrpSpPr/>
          <p:nvPr/>
        </p:nvGrpSpPr>
        <p:grpSpPr>
          <a:xfrm>
            <a:off x="914401" y="3783215"/>
            <a:ext cx="13716000" cy="4901594"/>
            <a:chOff x="0" y="0"/>
            <a:chExt cx="2478455" cy="1685910"/>
          </a:xfrm>
        </p:grpSpPr>
        <p:sp>
          <p:nvSpPr>
            <p:cNvPr id="25" name="Freeform 25">
              <a:extLst>
                <a:ext uri="{FF2B5EF4-FFF2-40B4-BE49-F238E27FC236}">
                  <a16:creationId xmlns:a16="http://schemas.microsoft.com/office/drawing/2014/main" id="{A2203930-8877-B2E3-2D02-1F67DC376BE0}"/>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61F5671B-DF2F-DBE8-DF80-F455924847A7}"/>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806B4F24-5D97-579E-A503-3752E0FB4679}"/>
              </a:ext>
            </a:extLst>
          </p:cNvPr>
          <p:cNvGrpSpPr/>
          <p:nvPr/>
        </p:nvGrpSpPr>
        <p:grpSpPr>
          <a:xfrm>
            <a:off x="1205292" y="4053340"/>
            <a:ext cx="978217" cy="978217"/>
            <a:chOff x="0" y="0"/>
            <a:chExt cx="812800" cy="812800"/>
          </a:xfrm>
        </p:grpSpPr>
        <p:sp>
          <p:nvSpPr>
            <p:cNvPr id="28" name="Freeform 28">
              <a:extLst>
                <a:ext uri="{FF2B5EF4-FFF2-40B4-BE49-F238E27FC236}">
                  <a16:creationId xmlns:a16="http://schemas.microsoft.com/office/drawing/2014/main" id="{A3DBB004-D206-3F9D-CC84-B87BCAD2B4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887D9A48-5A6F-EC5F-B989-76D70A61C60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35C4577B-0F64-0B4F-E62A-99DC998906AF}"/>
              </a:ext>
            </a:extLst>
          </p:cNvPr>
          <p:cNvSpPr/>
          <p:nvPr/>
        </p:nvSpPr>
        <p:spPr>
          <a:xfrm>
            <a:off x="1382114" y="4351821"/>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F6EEEED3-7734-8FF2-F1EF-75390C33D659}"/>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1E4C7EB1-2343-323F-748B-59E4C21614F6}"/>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02F84965-CDAB-6FEF-ADD2-2F2F07F9B344}"/>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9202F740-2A40-4331-D310-15D8043847FC}"/>
              </a:ext>
            </a:extLst>
          </p:cNvPr>
          <p:cNvSpPr txBox="1"/>
          <p:nvPr/>
        </p:nvSpPr>
        <p:spPr>
          <a:xfrm>
            <a:off x="2452969" y="4335182"/>
            <a:ext cx="7125136" cy="448841"/>
          </a:xfrm>
          <a:prstGeom prst="rect">
            <a:avLst/>
          </a:prstGeom>
        </p:spPr>
        <p:txBody>
          <a:bodyPr wrap="square" lIns="0" tIns="0" rIns="0" bIns="0" rtlCol="0" anchor="t">
            <a:spAutoFit/>
          </a:bodyPr>
          <a:lstStyle/>
          <a:p>
            <a:pPr algn="l">
              <a:lnSpc>
                <a:spcPts val="3499"/>
              </a:lnSpc>
            </a:pPr>
            <a:r>
              <a:rPr lang="en-US" sz="3200" b="1">
                <a:solidFill>
                  <a:srgbClr val="000000"/>
                </a:solidFill>
                <a:latin typeface="Noto Sans Bold"/>
                <a:ea typeface="Noto Sans Bold"/>
                <a:cs typeface="Noto Sans Bold"/>
                <a:sym typeface="Noto Sans Bold"/>
              </a:rPr>
              <a:t>Tóm tắt nội dung</a:t>
            </a:r>
          </a:p>
        </p:txBody>
      </p:sp>
      <p:sp>
        <p:nvSpPr>
          <p:cNvPr id="55" name="TextBox 55">
            <a:extLst>
              <a:ext uri="{FF2B5EF4-FFF2-40B4-BE49-F238E27FC236}">
                <a16:creationId xmlns:a16="http://schemas.microsoft.com/office/drawing/2014/main" id="{7AC03282-C826-6A54-DCAA-90ADC1B3CC8C}"/>
              </a:ext>
            </a:extLst>
          </p:cNvPr>
          <p:cNvSpPr txBox="1"/>
          <p:nvPr/>
        </p:nvSpPr>
        <p:spPr>
          <a:xfrm>
            <a:off x="1382114" y="5298255"/>
            <a:ext cx="12791086" cy="3016210"/>
          </a:xfrm>
          <a:prstGeom prst="rect">
            <a:avLst/>
          </a:prstGeom>
        </p:spPr>
        <p:txBody>
          <a:bodyPr wrap="square" lIns="0" tIns="0" rIns="0" bIns="0" rtlCol="0" anchor="t">
            <a:spAutoFit/>
          </a:bodyPr>
          <a:lstStyle/>
          <a:p>
            <a:pPr algn="just"/>
            <a:r>
              <a:rPr lang="vi-VN" sz="2800"/>
              <a:t>Trong trường hợp rời rạc, G có thể không khả nghịch vì có những mức z có pz(z) = 0 hoặc các giá trị bằng nhau. Cách xử lý thường dùng là với mỗi sk, chọn z nhỏ nhất sao cho G(z) gần nhất với sk. Quy trình gồm các bước sau.</a:t>
            </a:r>
          </a:p>
          <a:p>
            <a:pPr marL="514350" indent="-514350" algn="just">
              <a:buFont typeface="+mj-lt"/>
              <a:buAutoNum type="arabicPeriod"/>
            </a:pPr>
            <a:r>
              <a:rPr lang="vi-VN" sz="2800"/>
              <a:t>Tính histogram và hàm T cho ảnh đầu vào.</a:t>
            </a:r>
          </a:p>
          <a:p>
            <a:pPr marL="514350" indent="-514350" algn="just">
              <a:buFont typeface="+mj-lt"/>
              <a:buAutoNum type="arabicPeriod"/>
            </a:pPr>
            <a:r>
              <a:rPr lang="vi-VN" sz="2800"/>
              <a:t>Tính hàm G từ histogram đích đã cho.</a:t>
            </a:r>
          </a:p>
          <a:p>
            <a:pPr marL="514350" indent="-514350" algn="just">
              <a:buFont typeface="+mj-lt"/>
              <a:buAutoNum type="arabicPeriod"/>
            </a:pPr>
            <a:r>
              <a:rPr lang="vi-VN" sz="2800"/>
              <a:t>Với mỗi mức rk, tính sk = T(rk), rồi tìm mức zk sao cho |G(zk) − sk| nhỏ nhất.</a:t>
            </a:r>
          </a:p>
          <a:p>
            <a:pPr marL="514350" indent="-514350" algn="just">
              <a:buFont typeface="+mj-lt"/>
              <a:buAutoNum type="arabicPeriod"/>
            </a:pPr>
            <a:r>
              <a:rPr lang="vi-VN" sz="2800"/>
              <a:t>Lưu ánh xạ rk → zk thành LUT và áp dụng cho mọi điểm ảnh.</a:t>
            </a:r>
          </a:p>
        </p:txBody>
      </p:sp>
      <p:grpSp>
        <p:nvGrpSpPr>
          <p:cNvPr id="71" name="Group 71">
            <a:extLst>
              <a:ext uri="{FF2B5EF4-FFF2-40B4-BE49-F238E27FC236}">
                <a16:creationId xmlns:a16="http://schemas.microsoft.com/office/drawing/2014/main" id="{1AEA85B4-70C7-BB43-40F7-8E9CAA459B42}"/>
              </a:ext>
            </a:extLst>
          </p:cNvPr>
          <p:cNvGrpSpPr/>
          <p:nvPr/>
        </p:nvGrpSpPr>
        <p:grpSpPr>
          <a:xfrm>
            <a:off x="1028700" y="1051515"/>
            <a:ext cx="7162712" cy="649857"/>
            <a:chOff x="0" y="0"/>
            <a:chExt cx="1427911" cy="198470"/>
          </a:xfrm>
        </p:grpSpPr>
        <p:sp>
          <p:nvSpPr>
            <p:cNvPr id="72" name="Freeform 72">
              <a:extLst>
                <a:ext uri="{FF2B5EF4-FFF2-40B4-BE49-F238E27FC236}">
                  <a16:creationId xmlns:a16="http://schemas.microsoft.com/office/drawing/2014/main" id="{0209C141-BD40-CD67-E311-2F2DF35538D5}"/>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931FF5AC-3BCD-1428-D9A8-BFF902AB0E1C}"/>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E7F83E71-23C0-7DCA-CA65-21DBC1C0E93F}"/>
              </a:ext>
            </a:extLst>
          </p:cNvPr>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10FBE1FF-22D7-1B8E-3A76-11EC599EEEB0}"/>
              </a:ext>
            </a:extLst>
          </p:cNvPr>
          <p:cNvSpPr txBox="1"/>
          <p:nvPr/>
        </p:nvSpPr>
        <p:spPr>
          <a:xfrm>
            <a:off x="2295314" y="1141458"/>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spTree>
    <p:extLst>
      <p:ext uri="{BB962C8B-B14F-4D97-AF65-F5344CB8AC3E}">
        <p14:creationId xmlns:p14="http://schemas.microsoft.com/office/powerpoint/2010/main" val="531479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DBDE0-4F7B-88B5-58B2-41C689829597}"/>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216029A3-0733-0B6C-48E9-31F8D7F69E52}"/>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2FC17BDA-3451-B40D-0CD3-D3F524C49E0D}"/>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ED793A7E-D6CF-38F4-D82E-66D5F18AAC0A}"/>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559B7548-FB16-1DC5-0FB6-808248DF90B1}"/>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B3DFBA57-7B13-9F7F-5DD9-BB7162306482}"/>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4BF048ED-329E-8690-E968-2FC1B3AA2F1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0B9EA9F-3467-DF54-2745-46653988CA31}"/>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EE176A37-F56A-7B29-1EB7-5136C7C5E431}"/>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50DBFB72-86D1-ED75-CC89-775B8AB59F7C}"/>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2DE5D4EB-642F-798F-B9A6-58B25C46E3B2}"/>
              </a:ext>
            </a:extLst>
          </p:cNvPr>
          <p:cNvSpPr txBox="1"/>
          <p:nvPr/>
        </p:nvSpPr>
        <p:spPr>
          <a:xfrm>
            <a:off x="1029366" y="1461176"/>
            <a:ext cx="13677234" cy="838819"/>
          </a:xfrm>
          <a:prstGeom prst="rect">
            <a:avLst/>
          </a:prstGeom>
        </p:spPr>
        <p:txBody>
          <a:bodyPr wrap="square"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Cân bằng histogram thích nghi</a:t>
            </a:r>
          </a:p>
        </p:txBody>
      </p:sp>
      <p:sp>
        <p:nvSpPr>
          <p:cNvPr id="22" name="Freeform 22">
            <a:extLst>
              <a:ext uri="{FF2B5EF4-FFF2-40B4-BE49-F238E27FC236}">
                <a16:creationId xmlns:a16="http://schemas.microsoft.com/office/drawing/2014/main" id="{A974FEEC-BE3B-D3A9-8411-6DA0B742E0A4}"/>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9A0D249A-E91C-CFB5-F48C-A37D6691A2AA}"/>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5DD61DBA-5134-773C-4D98-6BDE989FCFCB}"/>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FDE53747-C281-C0A8-76F5-D9431C4801B7}"/>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249E31E4-BC3D-88B8-E60D-9CFDFD0CE233}"/>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927AF34F-DD65-B1AE-6742-1979BBA627D6}"/>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3" name="Picture 2">
            <a:extLst>
              <a:ext uri="{FF2B5EF4-FFF2-40B4-BE49-F238E27FC236}">
                <a16:creationId xmlns:a16="http://schemas.microsoft.com/office/drawing/2014/main" id="{45818282-F8D6-F9CE-1A2C-65D85711BD8E}"/>
              </a:ext>
            </a:extLst>
          </p:cNvPr>
          <p:cNvPicPr>
            <a:picLocks noChangeAspect="1"/>
          </p:cNvPicPr>
          <p:nvPr/>
        </p:nvPicPr>
        <p:blipFill>
          <a:blip r:embed="rId4"/>
          <a:stretch>
            <a:fillRect/>
          </a:stretch>
        </p:blipFill>
        <p:spPr>
          <a:xfrm>
            <a:off x="1029366" y="2337490"/>
            <a:ext cx="13248106" cy="7400309"/>
          </a:xfrm>
          <a:prstGeom prst="rect">
            <a:avLst/>
          </a:prstGeom>
        </p:spPr>
      </p:pic>
    </p:spTree>
    <p:extLst>
      <p:ext uri="{BB962C8B-B14F-4D97-AF65-F5344CB8AC3E}">
        <p14:creationId xmlns:p14="http://schemas.microsoft.com/office/powerpoint/2010/main" val="1684241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D3546-1615-2A79-AE4F-2DAD757D018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E2EC3A2-4709-C53E-3531-D38E233CAEAB}"/>
              </a:ext>
            </a:extLst>
          </p:cNvPr>
          <p:cNvGrpSpPr/>
          <p:nvPr/>
        </p:nvGrpSpPr>
        <p:grpSpPr>
          <a:xfrm>
            <a:off x="11926753" y="0"/>
            <a:ext cx="13716000" cy="10287000"/>
            <a:chOff x="0" y="0"/>
            <a:chExt cx="812800" cy="609600"/>
          </a:xfrm>
        </p:grpSpPr>
        <p:sp>
          <p:nvSpPr>
            <p:cNvPr id="3" name="Freeform 3">
              <a:extLst>
                <a:ext uri="{FF2B5EF4-FFF2-40B4-BE49-F238E27FC236}">
                  <a16:creationId xmlns:a16="http://schemas.microsoft.com/office/drawing/2014/main" id="{A6B321EE-884E-7881-84ED-DB9118944250}"/>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DD3F98D2-51B3-F407-8DE6-70878687DCC5}"/>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C6EBAE05-7E1D-7DD8-59ED-897AB10D0261}"/>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45112DAF-4DFA-2CF8-CDC8-2814A84CBA62}"/>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044986AD-EC6C-09A9-8A4A-464A27622E02}"/>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262D6ABA-7D8D-6A37-DFF9-245FD5252817}"/>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84AF175A-38A2-EE69-4992-6AD152465A33}"/>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011B1BE0-0894-7097-0D3D-53578D012F6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D21E9529-FBB9-46CC-9166-4160F7838C3F}"/>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918ACDE5-AD9E-0376-4C77-D15AE208187E}"/>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F3B8151B-513D-99FF-E47F-126595F4C89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75B1D404-7D7C-0E89-A76B-FB5C66F72F72}"/>
              </a:ext>
            </a:extLst>
          </p:cNvPr>
          <p:cNvSpPr/>
          <p:nvPr/>
        </p:nvSpPr>
        <p:spPr>
          <a:xfrm>
            <a:off x="1092530" y="2039613"/>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FD950731-1118-5DBA-AB50-07DF01B97AF4}"/>
              </a:ext>
            </a:extLst>
          </p:cNvPr>
          <p:cNvGrpSpPr/>
          <p:nvPr/>
        </p:nvGrpSpPr>
        <p:grpSpPr>
          <a:xfrm>
            <a:off x="1016457" y="3234461"/>
            <a:ext cx="10138495" cy="726721"/>
            <a:chOff x="0" y="0"/>
            <a:chExt cx="3096350" cy="221945"/>
          </a:xfrm>
        </p:grpSpPr>
        <p:sp>
          <p:nvSpPr>
            <p:cNvPr id="16" name="Freeform 16">
              <a:extLst>
                <a:ext uri="{FF2B5EF4-FFF2-40B4-BE49-F238E27FC236}">
                  <a16:creationId xmlns:a16="http://schemas.microsoft.com/office/drawing/2014/main" id="{D239F0EE-4F6F-DA23-3D55-5DE8713136BC}"/>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17" name="TextBox 17">
              <a:extLst>
                <a:ext uri="{FF2B5EF4-FFF2-40B4-BE49-F238E27FC236}">
                  <a16:creationId xmlns:a16="http://schemas.microsoft.com/office/drawing/2014/main" id="{50F10EBF-C001-BF08-48CB-202AAA6C5ED1}"/>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18" name="AutoShape 18">
            <a:extLst>
              <a:ext uri="{FF2B5EF4-FFF2-40B4-BE49-F238E27FC236}">
                <a16:creationId xmlns:a16="http://schemas.microsoft.com/office/drawing/2014/main" id="{C0C7C443-8976-CDFC-F7F5-701FF537EC4B}"/>
              </a:ext>
            </a:extLst>
          </p:cNvPr>
          <p:cNvSpPr/>
          <p:nvPr/>
        </p:nvSpPr>
        <p:spPr>
          <a:xfrm>
            <a:off x="2116544" y="3399425"/>
            <a:ext cx="0" cy="396795"/>
          </a:xfrm>
          <a:prstGeom prst="line">
            <a:avLst/>
          </a:prstGeom>
          <a:ln w="19050" cap="flat">
            <a:solidFill>
              <a:srgbClr val="BA97FC"/>
            </a:solidFill>
            <a:prstDash val="solid"/>
            <a:headEnd type="none" w="sm" len="sm"/>
            <a:tailEnd type="none" w="sm" len="sm"/>
          </a:ln>
        </p:spPr>
      </p:sp>
      <p:grpSp>
        <p:nvGrpSpPr>
          <p:cNvPr id="19" name="Group 19">
            <a:extLst>
              <a:ext uri="{FF2B5EF4-FFF2-40B4-BE49-F238E27FC236}">
                <a16:creationId xmlns:a16="http://schemas.microsoft.com/office/drawing/2014/main" id="{415AFA9F-0F4D-0385-162E-0984CD5C013D}"/>
              </a:ext>
            </a:extLst>
          </p:cNvPr>
          <p:cNvGrpSpPr/>
          <p:nvPr/>
        </p:nvGrpSpPr>
        <p:grpSpPr>
          <a:xfrm>
            <a:off x="11640961" y="304912"/>
            <a:ext cx="11731896" cy="8798922"/>
            <a:chOff x="0" y="0"/>
            <a:chExt cx="812800" cy="609600"/>
          </a:xfrm>
        </p:grpSpPr>
        <p:sp>
          <p:nvSpPr>
            <p:cNvPr id="20" name="Freeform 20">
              <a:extLst>
                <a:ext uri="{FF2B5EF4-FFF2-40B4-BE49-F238E27FC236}">
                  <a16:creationId xmlns:a16="http://schemas.microsoft.com/office/drawing/2014/main" id="{81D5E56F-CCF0-300D-7ACC-3D4B27BFF0AF}"/>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21" name="TextBox 21">
              <a:extLst>
                <a:ext uri="{FF2B5EF4-FFF2-40B4-BE49-F238E27FC236}">
                  <a16:creationId xmlns:a16="http://schemas.microsoft.com/office/drawing/2014/main" id="{440F44F8-4472-95AE-63AC-FA1356344D4A}"/>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TextBox 22">
            <a:extLst>
              <a:ext uri="{FF2B5EF4-FFF2-40B4-BE49-F238E27FC236}">
                <a16:creationId xmlns:a16="http://schemas.microsoft.com/office/drawing/2014/main" id="{508109D0-6DEC-7DA7-4EE5-D34D97A0A1DF}"/>
              </a:ext>
            </a:extLst>
          </p:cNvPr>
          <p:cNvSpPr txBox="1"/>
          <p:nvPr/>
        </p:nvSpPr>
        <p:spPr>
          <a:xfrm>
            <a:off x="1004356" y="1338620"/>
            <a:ext cx="12531803" cy="492443"/>
          </a:xfrm>
          <a:prstGeom prst="rect">
            <a:avLst/>
          </a:prstGeom>
        </p:spPr>
        <p:txBody>
          <a:bodyPr wrap="square" lIns="0" tIns="0" rIns="0" bIns="0" rtlCol="0" anchor="t">
            <a:spAutoFit/>
          </a:bodyPr>
          <a:lstStyle/>
          <a:p>
            <a:pPr algn="l"/>
            <a:r>
              <a:rPr lang="en-US" sz="3200" b="1">
                <a:solidFill>
                  <a:srgbClr val="000000"/>
                </a:solidFill>
                <a:latin typeface="Noto Sans Bold"/>
                <a:ea typeface="Noto Sans Bold"/>
                <a:cs typeface="Noto Sans Bold"/>
                <a:sym typeface="Noto Sans Bold"/>
              </a:rPr>
              <a:t>CHƯƠNG III: PHÂN TÍCH YÊU CẦU, QUY TRÌNH THỰC NGHIỆM</a:t>
            </a:r>
          </a:p>
        </p:txBody>
      </p:sp>
      <p:grpSp>
        <p:nvGrpSpPr>
          <p:cNvPr id="23" name="Group 23">
            <a:extLst>
              <a:ext uri="{FF2B5EF4-FFF2-40B4-BE49-F238E27FC236}">
                <a16:creationId xmlns:a16="http://schemas.microsoft.com/office/drawing/2014/main" id="{CD247A65-8F6B-2E0A-C602-28FD54672281}"/>
              </a:ext>
            </a:extLst>
          </p:cNvPr>
          <p:cNvGrpSpPr/>
          <p:nvPr/>
        </p:nvGrpSpPr>
        <p:grpSpPr>
          <a:xfrm>
            <a:off x="12069673" y="782942"/>
            <a:ext cx="11731896" cy="8798922"/>
            <a:chOff x="0" y="0"/>
            <a:chExt cx="812800" cy="609600"/>
          </a:xfrm>
        </p:grpSpPr>
        <p:sp>
          <p:nvSpPr>
            <p:cNvPr id="24" name="Freeform 24">
              <a:extLst>
                <a:ext uri="{FF2B5EF4-FFF2-40B4-BE49-F238E27FC236}">
                  <a16:creationId xmlns:a16="http://schemas.microsoft.com/office/drawing/2014/main" id="{F52E6829-0296-EFB6-3AA2-03134B27C425}"/>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5" name="TextBox 25">
              <a:extLst>
                <a:ext uri="{FF2B5EF4-FFF2-40B4-BE49-F238E27FC236}">
                  <a16:creationId xmlns:a16="http://schemas.microsoft.com/office/drawing/2014/main" id="{B79BC8F9-EFF0-F24C-CCDF-69C2D90ACF9A}"/>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6" name="Freeform 26">
            <a:extLst>
              <a:ext uri="{FF2B5EF4-FFF2-40B4-BE49-F238E27FC236}">
                <a16:creationId xmlns:a16="http://schemas.microsoft.com/office/drawing/2014/main" id="{54156258-B497-A2D8-AD01-3BAD6A8B002F}"/>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7" name="Freeform 27">
            <a:extLst>
              <a:ext uri="{FF2B5EF4-FFF2-40B4-BE49-F238E27FC236}">
                <a16:creationId xmlns:a16="http://schemas.microsoft.com/office/drawing/2014/main" id="{1BDA8A27-BFDB-7DF3-25BC-001BBAC8C1D2}"/>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sp>
        <p:nvSpPr>
          <p:cNvPr id="28" name="TextBox 28">
            <a:extLst>
              <a:ext uri="{FF2B5EF4-FFF2-40B4-BE49-F238E27FC236}">
                <a16:creationId xmlns:a16="http://schemas.microsoft.com/office/drawing/2014/main" id="{FFAFB8DA-B73F-C7D3-4DA1-097537CF3353}"/>
              </a:ext>
            </a:extLst>
          </p:cNvPr>
          <p:cNvSpPr txBox="1"/>
          <p:nvPr/>
        </p:nvSpPr>
        <p:spPr>
          <a:xfrm>
            <a:off x="1061853" y="2335145"/>
            <a:ext cx="10907623" cy="596900"/>
          </a:xfrm>
          <a:prstGeom prst="rect">
            <a:avLst/>
          </a:prstGeom>
        </p:spPr>
        <p:txBody>
          <a:bodyPr lIns="0" tIns="0" rIns="0" bIns="0" rtlCol="0" anchor="t">
            <a:spAutoFit/>
          </a:bodyPr>
          <a:lstStyle/>
          <a:p>
            <a:pPr algn="l">
              <a:lnSpc>
                <a:spcPts val="4900"/>
              </a:lnSpc>
            </a:pPr>
            <a:r>
              <a:rPr lang="en-US" sz="3500" b="1">
                <a:solidFill>
                  <a:srgbClr val="5F0EFF"/>
                </a:solidFill>
                <a:latin typeface="Noto Sans Bold"/>
                <a:ea typeface="Noto Sans Bold"/>
                <a:cs typeface="Noto Sans Bold"/>
                <a:sym typeface="Noto Sans Bold"/>
              </a:rPr>
              <a:t>Nội dung trình bày</a:t>
            </a:r>
          </a:p>
        </p:txBody>
      </p:sp>
      <p:sp>
        <p:nvSpPr>
          <p:cNvPr id="29" name="TextBox 29">
            <a:extLst>
              <a:ext uri="{FF2B5EF4-FFF2-40B4-BE49-F238E27FC236}">
                <a16:creationId xmlns:a16="http://schemas.microsoft.com/office/drawing/2014/main" id="{313AEB8D-5E6D-6BB8-280A-05EF1CDA033B}"/>
              </a:ext>
            </a:extLst>
          </p:cNvPr>
          <p:cNvSpPr txBox="1"/>
          <p:nvPr/>
        </p:nvSpPr>
        <p:spPr>
          <a:xfrm>
            <a:off x="1305862" y="3400654"/>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01</a:t>
            </a:r>
          </a:p>
        </p:txBody>
      </p:sp>
      <p:sp>
        <p:nvSpPr>
          <p:cNvPr id="30" name="TextBox 30">
            <a:extLst>
              <a:ext uri="{FF2B5EF4-FFF2-40B4-BE49-F238E27FC236}">
                <a16:creationId xmlns:a16="http://schemas.microsoft.com/office/drawing/2014/main" id="{F3F097A2-064A-43BA-3873-96DAA0232472}"/>
              </a:ext>
            </a:extLst>
          </p:cNvPr>
          <p:cNvSpPr txBox="1"/>
          <p:nvPr/>
        </p:nvSpPr>
        <p:spPr>
          <a:xfrm>
            <a:off x="2275073" y="3408783"/>
            <a:ext cx="7995967" cy="348109"/>
          </a:xfrm>
          <a:prstGeom prst="rect">
            <a:avLst/>
          </a:prstGeom>
        </p:spPr>
        <p:txBody>
          <a:bodyPr wrap="square" lIns="0" tIns="0" rIns="0" bIns="0" rtlCol="0" anchor="t">
            <a:spAutoFit/>
          </a:bodyPr>
          <a:lstStyle/>
          <a:p>
            <a:pPr algn="l">
              <a:lnSpc>
                <a:spcPts val="2926"/>
              </a:lnSpc>
            </a:pPr>
            <a:r>
              <a:rPr lang="vi-VN" sz="2090" b="1">
                <a:solidFill>
                  <a:srgbClr val="000000"/>
                </a:solidFill>
                <a:latin typeface="Noto Sans Bold"/>
                <a:ea typeface="Noto Sans Bold"/>
                <a:cs typeface="Noto Sans Bold"/>
                <a:sym typeface="Noto Sans Bold"/>
              </a:rPr>
              <a:t>Tác nhân và yêu cầu chức năng tham chiếu</a:t>
            </a:r>
            <a:endParaRPr lang="en-US" sz="2090" b="1">
              <a:solidFill>
                <a:srgbClr val="000000"/>
              </a:solidFill>
              <a:latin typeface="Noto Sans Bold"/>
              <a:ea typeface="Noto Sans Bold"/>
              <a:cs typeface="Noto Sans Bold"/>
              <a:sym typeface="Noto Sans Bold"/>
            </a:endParaRPr>
          </a:p>
        </p:txBody>
      </p:sp>
      <p:grpSp>
        <p:nvGrpSpPr>
          <p:cNvPr id="31" name="Group 31">
            <a:extLst>
              <a:ext uri="{FF2B5EF4-FFF2-40B4-BE49-F238E27FC236}">
                <a16:creationId xmlns:a16="http://schemas.microsoft.com/office/drawing/2014/main" id="{82AA5FD0-C170-E3F5-6464-83E013605043}"/>
              </a:ext>
            </a:extLst>
          </p:cNvPr>
          <p:cNvGrpSpPr/>
          <p:nvPr/>
        </p:nvGrpSpPr>
        <p:grpSpPr>
          <a:xfrm>
            <a:off x="1016457" y="4135876"/>
            <a:ext cx="10138495" cy="726721"/>
            <a:chOff x="0" y="0"/>
            <a:chExt cx="3096350" cy="221945"/>
          </a:xfrm>
        </p:grpSpPr>
        <p:sp>
          <p:nvSpPr>
            <p:cNvPr id="32" name="Freeform 32">
              <a:extLst>
                <a:ext uri="{FF2B5EF4-FFF2-40B4-BE49-F238E27FC236}">
                  <a16:creationId xmlns:a16="http://schemas.microsoft.com/office/drawing/2014/main" id="{6DCFAB0F-2481-D530-BE88-A9AC10A4E790}"/>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33" name="TextBox 33">
              <a:extLst>
                <a:ext uri="{FF2B5EF4-FFF2-40B4-BE49-F238E27FC236}">
                  <a16:creationId xmlns:a16="http://schemas.microsoft.com/office/drawing/2014/main" id="{0F86B9F1-440E-B495-D6D6-E66A00DC1BE8}"/>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34" name="AutoShape 34">
            <a:extLst>
              <a:ext uri="{FF2B5EF4-FFF2-40B4-BE49-F238E27FC236}">
                <a16:creationId xmlns:a16="http://schemas.microsoft.com/office/drawing/2014/main" id="{2AB8157E-D29C-E68A-BE6A-921F9FD35D45}"/>
              </a:ext>
            </a:extLst>
          </p:cNvPr>
          <p:cNvSpPr/>
          <p:nvPr/>
        </p:nvSpPr>
        <p:spPr>
          <a:xfrm>
            <a:off x="2116544" y="4300839"/>
            <a:ext cx="0" cy="396795"/>
          </a:xfrm>
          <a:prstGeom prst="line">
            <a:avLst/>
          </a:prstGeom>
          <a:ln w="19050" cap="flat">
            <a:solidFill>
              <a:srgbClr val="BA97FC"/>
            </a:solidFill>
            <a:prstDash val="solid"/>
            <a:headEnd type="none" w="sm" len="sm"/>
            <a:tailEnd type="none" w="sm" len="sm"/>
          </a:ln>
        </p:spPr>
      </p:sp>
      <p:sp>
        <p:nvSpPr>
          <p:cNvPr id="35" name="TextBox 35">
            <a:extLst>
              <a:ext uri="{FF2B5EF4-FFF2-40B4-BE49-F238E27FC236}">
                <a16:creationId xmlns:a16="http://schemas.microsoft.com/office/drawing/2014/main" id="{19B9FEB1-A978-70AC-6DA9-7A7DC2BDFF0E}"/>
              </a:ext>
            </a:extLst>
          </p:cNvPr>
          <p:cNvSpPr txBox="1"/>
          <p:nvPr/>
        </p:nvSpPr>
        <p:spPr>
          <a:xfrm>
            <a:off x="1305862" y="4302069"/>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02</a:t>
            </a:r>
          </a:p>
        </p:txBody>
      </p:sp>
      <p:sp>
        <p:nvSpPr>
          <p:cNvPr id="36" name="TextBox 36">
            <a:extLst>
              <a:ext uri="{FF2B5EF4-FFF2-40B4-BE49-F238E27FC236}">
                <a16:creationId xmlns:a16="http://schemas.microsoft.com/office/drawing/2014/main" id="{E3C13A49-D63C-E782-0F18-7C68A2DC8954}"/>
              </a:ext>
            </a:extLst>
          </p:cNvPr>
          <p:cNvSpPr txBox="1"/>
          <p:nvPr/>
        </p:nvSpPr>
        <p:spPr>
          <a:xfrm>
            <a:off x="2275073" y="4310198"/>
            <a:ext cx="5555111" cy="348109"/>
          </a:xfrm>
          <a:prstGeom prst="rect">
            <a:avLst/>
          </a:prstGeom>
        </p:spPr>
        <p:txBody>
          <a:bodyPr wrap="square" lIns="0" tIns="0" rIns="0" bIns="0" rtlCol="0" anchor="t">
            <a:spAutoFit/>
          </a:bodyPr>
          <a:lstStyle/>
          <a:p>
            <a:pPr algn="l">
              <a:lnSpc>
                <a:spcPts val="2926"/>
              </a:lnSpc>
            </a:pPr>
            <a:r>
              <a:rPr lang="vi-VN" sz="2090" b="1">
                <a:solidFill>
                  <a:srgbClr val="000000"/>
                </a:solidFill>
                <a:latin typeface="Noto Sans Bold"/>
                <a:ea typeface="Noto Sans Bold"/>
                <a:cs typeface="Noto Sans Bold"/>
                <a:sym typeface="Noto Sans Bold"/>
              </a:rPr>
              <a:t>Yêu cầu phi chức năng tham chiếu</a:t>
            </a:r>
            <a:endParaRPr lang="en-US" sz="2090" b="1">
              <a:solidFill>
                <a:srgbClr val="000000"/>
              </a:solidFill>
              <a:latin typeface="Noto Sans Bold"/>
              <a:ea typeface="Noto Sans Bold"/>
              <a:cs typeface="Noto Sans Bold"/>
              <a:sym typeface="Noto Sans Bold"/>
            </a:endParaRPr>
          </a:p>
        </p:txBody>
      </p:sp>
      <p:grpSp>
        <p:nvGrpSpPr>
          <p:cNvPr id="37" name="Group 37">
            <a:extLst>
              <a:ext uri="{FF2B5EF4-FFF2-40B4-BE49-F238E27FC236}">
                <a16:creationId xmlns:a16="http://schemas.microsoft.com/office/drawing/2014/main" id="{1C201DA9-F2E5-77C0-1D48-3F6B5E885D33}"/>
              </a:ext>
            </a:extLst>
          </p:cNvPr>
          <p:cNvGrpSpPr/>
          <p:nvPr/>
        </p:nvGrpSpPr>
        <p:grpSpPr>
          <a:xfrm>
            <a:off x="1016457" y="5034047"/>
            <a:ext cx="10138495" cy="726721"/>
            <a:chOff x="0" y="0"/>
            <a:chExt cx="3096350" cy="221945"/>
          </a:xfrm>
        </p:grpSpPr>
        <p:sp>
          <p:nvSpPr>
            <p:cNvPr id="38" name="Freeform 38">
              <a:extLst>
                <a:ext uri="{FF2B5EF4-FFF2-40B4-BE49-F238E27FC236}">
                  <a16:creationId xmlns:a16="http://schemas.microsoft.com/office/drawing/2014/main" id="{C12DB6C8-3F54-6AC3-9105-65D204A9FD40}"/>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39" name="TextBox 39">
              <a:extLst>
                <a:ext uri="{FF2B5EF4-FFF2-40B4-BE49-F238E27FC236}">
                  <a16:creationId xmlns:a16="http://schemas.microsoft.com/office/drawing/2014/main" id="{E7933353-3C6D-B272-4257-494E062594DF}"/>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40" name="AutoShape 40">
            <a:extLst>
              <a:ext uri="{FF2B5EF4-FFF2-40B4-BE49-F238E27FC236}">
                <a16:creationId xmlns:a16="http://schemas.microsoft.com/office/drawing/2014/main" id="{0C76FD35-1C2A-7560-715D-F5DB5B65CA62}"/>
              </a:ext>
            </a:extLst>
          </p:cNvPr>
          <p:cNvSpPr/>
          <p:nvPr/>
        </p:nvSpPr>
        <p:spPr>
          <a:xfrm>
            <a:off x="2116544" y="5199011"/>
            <a:ext cx="0" cy="396795"/>
          </a:xfrm>
          <a:prstGeom prst="line">
            <a:avLst/>
          </a:prstGeom>
          <a:ln w="19050" cap="flat">
            <a:solidFill>
              <a:srgbClr val="BA97FC"/>
            </a:solidFill>
            <a:prstDash val="solid"/>
            <a:headEnd type="none" w="sm" len="sm"/>
            <a:tailEnd type="none" w="sm" len="sm"/>
          </a:ln>
        </p:spPr>
      </p:sp>
      <p:sp>
        <p:nvSpPr>
          <p:cNvPr id="41" name="TextBox 41">
            <a:extLst>
              <a:ext uri="{FF2B5EF4-FFF2-40B4-BE49-F238E27FC236}">
                <a16:creationId xmlns:a16="http://schemas.microsoft.com/office/drawing/2014/main" id="{EBE33666-3922-82C2-CCAA-9FD22090F251}"/>
              </a:ext>
            </a:extLst>
          </p:cNvPr>
          <p:cNvSpPr txBox="1"/>
          <p:nvPr/>
        </p:nvSpPr>
        <p:spPr>
          <a:xfrm>
            <a:off x="1305862" y="5200241"/>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03</a:t>
            </a:r>
          </a:p>
        </p:txBody>
      </p:sp>
      <p:sp>
        <p:nvSpPr>
          <p:cNvPr id="42" name="TextBox 42">
            <a:extLst>
              <a:ext uri="{FF2B5EF4-FFF2-40B4-BE49-F238E27FC236}">
                <a16:creationId xmlns:a16="http://schemas.microsoft.com/office/drawing/2014/main" id="{B8B8BADA-FE7B-78DB-5D0F-50161DEE5E63}"/>
              </a:ext>
            </a:extLst>
          </p:cNvPr>
          <p:cNvSpPr txBox="1"/>
          <p:nvPr/>
        </p:nvSpPr>
        <p:spPr>
          <a:xfrm>
            <a:off x="2275073" y="5208369"/>
            <a:ext cx="8609283" cy="348109"/>
          </a:xfrm>
          <a:prstGeom prst="rect">
            <a:avLst/>
          </a:prstGeom>
        </p:spPr>
        <p:txBody>
          <a:bodyPr wrap="square" lIns="0" tIns="0" rIns="0" bIns="0" rtlCol="0" anchor="t">
            <a:spAutoFit/>
          </a:bodyPr>
          <a:lstStyle/>
          <a:p>
            <a:pPr algn="l">
              <a:lnSpc>
                <a:spcPts val="2926"/>
              </a:lnSpc>
            </a:pPr>
            <a:r>
              <a:rPr lang="vi-VN" sz="2090" b="1">
                <a:solidFill>
                  <a:srgbClr val="000000"/>
                </a:solidFill>
                <a:latin typeface="Noto Sans Bold"/>
                <a:ea typeface="Noto Sans Bold"/>
                <a:cs typeface="Noto Sans Bold"/>
                <a:sym typeface="Noto Sans Bold"/>
              </a:rPr>
              <a:t>Quy trình thực nghiệm</a:t>
            </a:r>
            <a:endParaRPr lang="en-US" sz="2090" b="1">
              <a:solidFill>
                <a:srgbClr val="000000"/>
              </a:solidFill>
              <a:latin typeface="Noto Sans Bold"/>
              <a:ea typeface="Noto Sans Bold"/>
              <a:cs typeface="Noto Sans Bold"/>
              <a:sym typeface="Noto Sans Bold"/>
            </a:endParaRPr>
          </a:p>
        </p:txBody>
      </p:sp>
      <p:grpSp>
        <p:nvGrpSpPr>
          <p:cNvPr id="43" name="Group 43">
            <a:extLst>
              <a:ext uri="{FF2B5EF4-FFF2-40B4-BE49-F238E27FC236}">
                <a16:creationId xmlns:a16="http://schemas.microsoft.com/office/drawing/2014/main" id="{BD956D8C-4F5F-B2A6-2787-3006234094E9}"/>
              </a:ext>
            </a:extLst>
          </p:cNvPr>
          <p:cNvGrpSpPr/>
          <p:nvPr/>
        </p:nvGrpSpPr>
        <p:grpSpPr>
          <a:xfrm>
            <a:off x="1016457" y="5932219"/>
            <a:ext cx="10138495" cy="726721"/>
            <a:chOff x="0" y="0"/>
            <a:chExt cx="3096350" cy="221945"/>
          </a:xfrm>
        </p:grpSpPr>
        <p:sp>
          <p:nvSpPr>
            <p:cNvPr id="44" name="Freeform 44">
              <a:extLst>
                <a:ext uri="{FF2B5EF4-FFF2-40B4-BE49-F238E27FC236}">
                  <a16:creationId xmlns:a16="http://schemas.microsoft.com/office/drawing/2014/main" id="{6406EFE2-04C5-1DAE-4287-034E28A7E70F}"/>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45" name="TextBox 45">
              <a:extLst>
                <a:ext uri="{FF2B5EF4-FFF2-40B4-BE49-F238E27FC236}">
                  <a16:creationId xmlns:a16="http://schemas.microsoft.com/office/drawing/2014/main" id="{527EE342-600B-1D5C-DF69-E89121C17340}"/>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46" name="AutoShape 46">
            <a:extLst>
              <a:ext uri="{FF2B5EF4-FFF2-40B4-BE49-F238E27FC236}">
                <a16:creationId xmlns:a16="http://schemas.microsoft.com/office/drawing/2014/main" id="{937DAD20-CB1A-ACC5-5D9D-88A461322154}"/>
              </a:ext>
            </a:extLst>
          </p:cNvPr>
          <p:cNvSpPr/>
          <p:nvPr/>
        </p:nvSpPr>
        <p:spPr>
          <a:xfrm>
            <a:off x="2116544" y="6097182"/>
            <a:ext cx="0" cy="396795"/>
          </a:xfrm>
          <a:prstGeom prst="line">
            <a:avLst/>
          </a:prstGeom>
          <a:ln w="19050" cap="flat">
            <a:solidFill>
              <a:srgbClr val="BA97FC"/>
            </a:solidFill>
            <a:prstDash val="solid"/>
            <a:headEnd type="none" w="sm" len="sm"/>
            <a:tailEnd type="none" w="sm" len="sm"/>
          </a:ln>
        </p:spPr>
      </p:sp>
      <p:sp>
        <p:nvSpPr>
          <p:cNvPr id="47" name="TextBox 47">
            <a:extLst>
              <a:ext uri="{FF2B5EF4-FFF2-40B4-BE49-F238E27FC236}">
                <a16:creationId xmlns:a16="http://schemas.microsoft.com/office/drawing/2014/main" id="{53D7DAEA-7AA8-7965-1491-E057F1B35661}"/>
              </a:ext>
            </a:extLst>
          </p:cNvPr>
          <p:cNvSpPr txBox="1"/>
          <p:nvPr/>
        </p:nvSpPr>
        <p:spPr>
          <a:xfrm>
            <a:off x="1305862" y="6098412"/>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04</a:t>
            </a:r>
          </a:p>
        </p:txBody>
      </p:sp>
      <p:sp>
        <p:nvSpPr>
          <p:cNvPr id="48" name="TextBox 48">
            <a:extLst>
              <a:ext uri="{FF2B5EF4-FFF2-40B4-BE49-F238E27FC236}">
                <a16:creationId xmlns:a16="http://schemas.microsoft.com/office/drawing/2014/main" id="{8ADB0E1F-8C5B-757C-656C-47C7E5A19A34}"/>
              </a:ext>
            </a:extLst>
          </p:cNvPr>
          <p:cNvSpPr txBox="1"/>
          <p:nvPr/>
        </p:nvSpPr>
        <p:spPr>
          <a:xfrm>
            <a:off x="2275073" y="6106540"/>
            <a:ext cx="7737825" cy="348109"/>
          </a:xfrm>
          <a:prstGeom prst="rect">
            <a:avLst/>
          </a:prstGeom>
        </p:spPr>
        <p:txBody>
          <a:bodyPr wrap="square"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Đặc tả các tình huống sử dụng tham chiếu</a:t>
            </a:r>
          </a:p>
        </p:txBody>
      </p:sp>
      <p:grpSp>
        <p:nvGrpSpPr>
          <p:cNvPr id="55" name="Group 55">
            <a:extLst>
              <a:ext uri="{FF2B5EF4-FFF2-40B4-BE49-F238E27FC236}">
                <a16:creationId xmlns:a16="http://schemas.microsoft.com/office/drawing/2014/main" id="{BB0F5E2A-646A-E419-9352-6A083DDF06BF}"/>
              </a:ext>
            </a:extLst>
          </p:cNvPr>
          <p:cNvGrpSpPr/>
          <p:nvPr/>
        </p:nvGrpSpPr>
        <p:grpSpPr>
          <a:xfrm>
            <a:off x="1004357" y="441261"/>
            <a:ext cx="7162712" cy="649857"/>
            <a:chOff x="0" y="0"/>
            <a:chExt cx="1427911" cy="198470"/>
          </a:xfrm>
        </p:grpSpPr>
        <p:sp>
          <p:nvSpPr>
            <p:cNvPr id="56" name="Freeform 56">
              <a:extLst>
                <a:ext uri="{FF2B5EF4-FFF2-40B4-BE49-F238E27FC236}">
                  <a16:creationId xmlns:a16="http://schemas.microsoft.com/office/drawing/2014/main" id="{6EA7DF51-0245-C5DE-BF01-719B4BFD388F}"/>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7" name="TextBox 57">
              <a:extLst>
                <a:ext uri="{FF2B5EF4-FFF2-40B4-BE49-F238E27FC236}">
                  <a16:creationId xmlns:a16="http://schemas.microsoft.com/office/drawing/2014/main" id="{06F930CD-8FFF-42BA-10B3-DC6136D18F02}"/>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8" name="Freeform 58">
            <a:extLst>
              <a:ext uri="{FF2B5EF4-FFF2-40B4-BE49-F238E27FC236}">
                <a16:creationId xmlns:a16="http://schemas.microsoft.com/office/drawing/2014/main" id="{2B618023-D5D6-6980-7C63-6AFC0C146DE7}"/>
              </a:ext>
            </a:extLst>
          </p:cNvPr>
          <p:cNvSpPr/>
          <p:nvPr/>
        </p:nvSpPr>
        <p:spPr>
          <a:xfrm>
            <a:off x="1357771" y="563413"/>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9" name="TextBox 59">
            <a:extLst>
              <a:ext uri="{FF2B5EF4-FFF2-40B4-BE49-F238E27FC236}">
                <a16:creationId xmlns:a16="http://schemas.microsoft.com/office/drawing/2014/main" id="{4E01A4A1-0394-57A8-5F7F-765E1D68869D}"/>
              </a:ext>
            </a:extLst>
          </p:cNvPr>
          <p:cNvSpPr txBox="1"/>
          <p:nvPr/>
        </p:nvSpPr>
        <p:spPr>
          <a:xfrm>
            <a:off x="2270971" y="531204"/>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spTree>
    <p:extLst>
      <p:ext uri="{BB962C8B-B14F-4D97-AF65-F5344CB8AC3E}">
        <p14:creationId xmlns:p14="http://schemas.microsoft.com/office/powerpoint/2010/main" val="22676052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B769F-E82B-B97C-7008-10CF8A8344C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D067993-7E35-97F7-0124-6EC5BF429A0E}"/>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4A78CE3F-EBDA-E3BB-FDBD-CB7D6EB36BF3}"/>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7BCD345C-A363-B18F-6823-1F0FF5F1827A}"/>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B956FDF3-21E7-CB26-ECAE-7A82509F9801}"/>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1AC48FB1-8323-AE29-8552-301BF63ED835}"/>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CA554B1D-F721-2F77-C237-57B4D38CCBD9}"/>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10D9A8FC-1574-39E4-C906-8AC47685D3CD}"/>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97EBFAC1-16E2-B2AA-1BAA-119050B2DD30}"/>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D07EB72D-9275-5DFD-472E-86BAD818D31A}"/>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32BC0A0-088B-365C-8348-823B4E5FC668}"/>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2C761790-E5C6-6B18-6FD7-0F9E7CB14972}"/>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B74C82A1-6355-3446-3E84-4B7D65C7231C}"/>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9190B6A0-4056-2F26-08CB-39B4D686CAC2}"/>
              </a:ext>
            </a:extLst>
          </p:cNvPr>
          <p:cNvSpPr/>
          <p:nvPr/>
        </p:nvSpPr>
        <p:spPr>
          <a:xfrm>
            <a:off x="1028700" y="3305184"/>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F83987FB-5375-6F35-12F7-72F5E9883405}"/>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D0688867-FC73-D90E-59A4-17C12146788D}"/>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0A959761-1B9B-70FD-BEEE-ECE5C78F9050}"/>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5B1B3481-1A29-18F9-8FD3-76DF4C79EDE5}"/>
              </a:ext>
            </a:extLst>
          </p:cNvPr>
          <p:cNvSpPr txBox="1"/>
          <p:nvPr/>
        </p:nvSpPr>
        <p:spPr>
          <a:xfrm>
            <a:off x="1028700" y="2129997"/>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Tác nhân và yêu cầu chức năng</a:t>
            </a:r>
          </a:p>
        </p:txBody>
      </p:sp>
      <p:grpSp>
        <p:nvGrpSpPr>
          <p:cNvPr id="19" name="Group 19">
            <a:extLst>
              <a:ext uri="{FF2B5EF4-FFF2-40B4-BE49-F238E27FC236}">
                <a16:creationId xmlns:a16="http://schemas.microsoft.com/office/drawing/2014/main" id="{C2A64898-D0BD-E054-C143-4AA9D0CC1E31}"/>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F4DF8D48-5B6A-7475-A4BC-A25AB43F4C6C}"/>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C7300877-4713-D1D7-23E9-1A0A329FC357}"/>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022A2ED0-EFD5-F72B-AA2A-8F2C21CC5E31}"/>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0D74A044-0B6A-1F03-FBD9-F130A830BC89}"/>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7B85B880-23EE-B0BF-8F2D-939D7B910CC3}"/>
              </a:ext>
            </a:extLst>
          </p:cNvPr>
          <p:cNvGrpSpPr/>
          <p:nvPr/>
        </p:nvGrpSpPr>
        <p:grpSpPr>
          <a:xfrm>
            <a:off x="914401" y="3795051"/>
            <a:ext cx="10236470" cy="4889758"/>
            <a:chOff x="0" y="0"/>
            <a:chExt cx="2478455" cy="1685910"/>
          </a:xfrm>
        </p:grpSpPr>
        <p:sp>
          <p:nvSpPr>
            <p:cNvPr id="25" name="Freeform 25">
              <a:extLst>
                <a:ext uri="{FF2B5EF4-FFF2-40B4-BE49-F238E27FC236}">
                  <a16:creationId xmlns:a16="http://schemas.microsoft.com/office/drawing/2014/main" id="{A7167F44-20E7-413F-4D23-BFEF962CB812}"/>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49BF8AD1-D986-2E13-C9BC-B545D4EDA950}"/>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072B44D3-6ECB-5DD3-67F6-2A6AC0AF63F4}"/>
              </a:ext>
            </a:extLst>
          </p:cNvPr>
          <p:cNvGrpSpPr/>
          <p:nvPr/>
        </p:nvGrpSpPr>
        <p:grpSpPr>
          <a:xfrm>
            <a:off x="1205292" y="4053340"/>
            <a:ext cx="978217" cy="978217"/>
            <a:chOff x="0" y="0"/>
            <a:chExt cx="812800" cy="812800"/>
          </a:xfrm>
        </p:grpSpPr>
        <p:sp>
          <p:nvSpPr>
            <p:cNvPr id="28" name="Freeform 28">
              <a:extLst>
                <a:ext uri="{FF2B5EF4-FFF2-40B4-BE49-F238E27FC236}">
                  <a16:creationId xmlns:a16="http://schemas.microsoft.com/office/drawing/2014/main" id="{58F6B76D-F86F-48E5-EE69-4B4039AA60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747738E7-0692-583B-5410-FF5FCACD158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3E2FE0F0-A9A7-3B13-E68C-090DE65FA937}"/>
              </a:ext>
            </a:extLst>
          </p:cNvPr>
          <p:cNvSpPr/>
          <p:nvPr/>
        </p:nvSpPr>
        <p:spPr>
          <a:xfrm>
            <a:off x="1382114" y="4351821"/>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FE019CC3-A153-A8DD-844B-BA3CCEA655B6}"/>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586851D2-CC5C-EFBA-1042-8EBF84AB4E4D}"/>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41FAE47C-7C5A-8068-0210-C2112463246C}"/>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B0275C31-2C02-80CF-6B40-20DC998298C5}"/>
              </a:ext>
            </a:extLst>
          </p:cNvPr>
          <p:cNvSpPr txBox="1"/>
          <p:nvPr/>
        </p:nvSpPr>
        <p:spPr>
          <a:xfrm>
            <a:off x="2452969" y="4335182"/>
            <a:ext cx="7125136" cy="448841"/>
          </a:xfrm>
          <a:prstGeom prst="rect">
            <a:avLst/>
          </a:prstGeom>
        </p:spPr>
        <p:txBody>
          <a:bodyPr wrap="square" lIns="0" tIns="0" rIns="0" bIns="0" rtlCol="0" anchor="t">
            <a:spAutoFit/>
          </a:bodyPr>
          <a:lstStyle/>
          <a:p>
            <a:pPr algn="l">
              <a:lnSpc>
                <a:spcPts val="3499"/>
              </a:lnSpc>
            </a:pPr>
            <a:r>
              <a:rPr lang="en-US" sz="3200" b="1">
                <a:solidFill>
                  <a:srgbClr val="000000"/>
                </a:solidFill>
                <a:latin typeface="Noto Sans Bold"/>
                <a:ea typeface="Noto Sans Bold"/>
                <a:cs typeface="Noto Sans Bold"/>
                <a:sym typeface="Noto Sans Bold"/>
              </a:rPr>
              <a:t>Tóm tắt nội dung</a:t>
            </a:r>
          </a:p>
        </p:txBody>
      </p:sp>
      <p:sp>
        <p:nvSpPr>
          <p:cNvPr id="55" name="TextBox 55">
            <a:extLst>
              <a:ext uri="{FF2B5EF4-FFF2-40B4-BE49-F238E27FC236}">
                <a16:creationId xmlns:a16="http://schemas.microsoft.com/office/drawing/2014/main" id="{01603AC8-D7CB-DBB5-5392-4CD2BFE1F83B}"/>
              </a:ext>
            </a:extLst>
          </p:cNvPr>
          <p:cNvSpPr txBox="1"/>
          <p:nvPr/>
        </p:nvSpPr>
        <p:spPr>
          <a:xfrm>
            <a:off x="1382113" y="5298255"/>
            <a:ext cx="9009197" cy="1723549"/>
          </a:xfrm>
          <a:prstGeom prst="rect">
            <a:avLst/>
          </a:prstGeom>
        </p:spPr>
        <p:txBody>
          <a:bodyPr wrap="square" lIns="0" tIns="0" rIns="0" bIns="0" rtlCol="0" anchor="t">
            <a:spAutoFit/>
          </a:bodyPr>
          <a:lstStyle/>
          <a:p>
            <a:pPr algn="just"/>
            <a:r>
              <a:rPr lang="vi-VN" sz="2800"/>
              <a:t>Tác nhân thực tế thể hiện trong demo là một người dùng: tải ảnh lên hoặc chọn ảnh mẫu, thao tác các công cụ, xem phân tích và tải kết quả. Mã nguồn không thể hiện đăng nhập, phân quyền hay vai trò quản trị.</a:t>
            </a:r>
          </a:p>
        </p:txBody>
      </p:sp>
      <p:grpSp>
        <p:nvGrpSpPr>
          <p:cNvPr id="71" name="Group 71">
            <a:extLst>
              <a:ext uri="{FF2B5EF4-FFF2-40B4-BE49-F238E27FC236}">
                <a16:creationId xmlns:a16="http://schemas.microsoft.com/office/drawing/2014/main" id="{5E84C448-0159-3A02-7A24-BF1384472E0E}"/>
              </a:ext>
            </a:extLst>
          </p:cNvPr>
          <p:cNvGrpSpPr/>
          <p:nvPr/>
        </p:nvGrpSpPr>
        <p:grpSpPr>
          <a:xfrm>
            <a:off x="1028700" y="1051515"/>
            <a:ext cx="7162712" cy="649857"/>
            <a:chOff x="0" y="0"/>
            <a:chExt cx="1427911" cy="198470"/>
          </a:xfrm>
        </p:grpSpPr>
        <p:sp>
          <p:nvSpPr>
            <p:cNvPr id="72" name="Freeform 72">
              <a:extLst>
                <a:ext uri="{FF2B5EF4-FFF2-40B4-BE49-F238E27FC236}">
                  <a16:creationId xmlns:a16="http://schemas.microsoft.com/office/drawing/2014/main" id="{C4E868DF-04E5-6A2A-AFF7-B0CE74D3096E}"/>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C1F9F088-1705-3CFB-258C-CD4048C924C2}"/>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84E52A8E-CC5E-7D91-5CF7-B5AAE4043CB9}"/>
              </a:ext>
            </a:extLst>
          </p:cNvPr>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66148E1F-B7CC-F26C-F5B9-80D602C83F7A}"/>
              </a:ext>
            </a:extLst>
          </p:cNvPr>
          <p:cNvSpPr txBox="1"/>
          <p:nvPr/>
        </p:nvSpPr>
        <p:spPr>
          <a:xfrm>
            <a:off x="2295314" y="1141458"/>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spTree>
    <p:extLst>
      <p:ext uri="{BB962C8B-B14F-4D97-AF65-F5344CB8AC3E}">
        <p14:creationId xmlns:p14="http://schemas.microsoft.com/office/powerpoint/2010/main" val="39840860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D5687-0132-179B-77B0-BA1285C7B4C6}"/>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06FE46ED-29FD-D98C-7205-3FA673C3FCB2}"/>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1237CB65-30EA-ECF6-2955-0792FF6DDDCC}"/>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0D398890-3AFA-D8C6-06B4-3297C793D39F}"/>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DA33E5B5-C97A-6B2A-B9F6-9D38820C4222}"/>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7C401614-EB3B-13FC-AA3C-30425FFA4A73}"/>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97263495-62F0-C9E8-B885-F3569682FB4A}"/>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95EBA8DA-022C-461D-A4AF-08FB54FE83DD}"/>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14B1A008-8523-6651-D0B3-697847ABE832}"/>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1650A58E-5DC4-E143-DDCC-688B155919E7}"/>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2471F954-B0CE-2FA0-85FF-7143C5B078C9}"/>
              </a:ext>
            </a:extLst>
          </p:cNvPr>
          <p:cNvSpPr txBox="1"/>
          <p:nvPr/>
        </p:nvSpPr>
        <p:spPr>
          <a:xfrm>
            <a:off x="1029366" y="1461176"/>
            <a:ext cx="13677234" cy="838819"/>
          </a:xfrm>
          <a:prstGeom prst="rect">
            <a:avLst/>
          </a:prstGeom>
        </p:spPr>
        <p:txBody>
          <a:bodyPr wrap="square"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Tác nhân và yêu cầu chức năng</a:t>
            </a:r>
          </a:p>
        </p:txBody>
      </p:sp>
      <p:grpSp>
        <p:nvGrpSpPr>
          <p:cNvPr id="54" name="Group 54">
            <a:extLst>
              <a:ext uri="{FF2B5EF4-FFF2-40B4-BE49-F238E27FC236}">
                <a16:creationId xmlns:a16="http://schemas.microsoft.com/office/drawing/2014/main" id="{C838CBAC-2505-D68D-EB74-CF51EC1A4D2F}"/>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4F696F77-7CA4-E3E8-1D46-24858B162928}"/>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37315182-2511-113B-0147-051FE4CE9B85}"/>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3CC7035B-0E58-0514-456C-45D4EA82B9B9}"/>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6" name="TextBox 66">
            <a:extLst>
              <a:ext uri="{FF2B5EF4-FFF2-40B4-BE49-F238E27FC236}">
                <a16:creationId xmlns:a16="http://schemas.microsoft.com/office/drawing/2014/main" id="{4F0F53E8-1678-E93F-8477-EC2467E2AB60}"/>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3" name="Picture 2">
            <a:extLst>
              <a:ext uri="{FF2B5EF4-FFF2-40B4-BE49-F238E27FC236}">
                <a16:creationId xmlns:a16="http://schemas.microsoft.com/office/drawing/2014/main" id="{A9E88C72-1B41-0673-F699-952934B4E0E3}"/>
              </a:ext>
            </a:extLst>
          </p:cNvPr>
          <p:cNvPicPr>
            <a:picLocks noChangeAspect="1"/>
          </p:cNvPicPr>
          <p:nvPr/>
        </p:nvPicPr>
        <p:blipFill>
          <a:blip r:embed="rId3"/>
          <a:stretch>
            <a:fillRect/>
          </a:stretch>
        </p:blipFill>
        <p:spPr>
          <a:xfrm>
            <a:off x="1217613" y="2504909"/>
            <a:ext cx="6974465" cy="6872730"/>
          </a:xfrm>
          <a:prstGeom prst="rect">
            <a:avLst/>
          </a:prstGeom>
        </p:spPr>
      </p:pic>
      <p:pic>
        <p:nvPicPr>
          <p:cNvPr id="15" name="Picture 14">
            <a:extLst>
              <a:ext uri="{FF2B5EF4-FFF2-40B4-BE49-F238E27FC236}">
                <a16:creationId xmlns:a16="http://schemas.microsoft.com/office/drawing/2014/main" id="{131EC211-DE95-D319-0857-0906D8F7D06A}"/>
              </a:ext>
            </a:extLst>
          </p:cNvPr>
          <p:cNvPicPr>
            <a:picLocks noChangeAspect="1"/>
          </p:cNvPicPr>
          <p:nvPr/>
        </p:nvPicPr>
        <p:blipFill>
          <a:blip r:embed="rId4"/>
          <a:stretch>
            <a:fillRect/>
          </a:stretch>
        </p:blipFill>
        <p:spPr>
          <a:xfrm>
            <a:off x="8207964" y="3162300"/>
            <a:ext cx="9105769" cy="5663524"/>
          </a:xfrm>
          <a:prstGeom prst="rect">
            <a:avLst/>
          </a:prstGeom>
        </p:spPr>
      </p:pic>
    </p:spTree>
    <p:extLst>
      <p:ext uri="{BB962C8B-B14F-4D97-AF65-F5344CB8AC3E}">
        <p14:creationId xmlns:p14="http://schemas.microsoft.com/office/powerpoint/2010/main" val="4067764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C1E3A-73B5-60DA-ABDA-AB3A7AFC600A}"/>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CE06340-2118-B87D-29F6-BCAC85FAD699}"/>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FAA0BAA7-36F6-2E94-8FC9-7C926AE8E10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6BA6DD2D-02E9-CA0E-95FE-940742E3C32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6BEC6E9-F91B-494C-0652-0F5862A0DF20}"/>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410E3E94-CA95-BBE8-1D2C-C5E5BC1AEB71}"/>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054BD5A9-BA0C-2D80-9551-AFB56E592F36}"/>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94D1592-B2B4-94D2-038D-554FCF122BE2}"/>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1B512CA1-3367-D18E-9EA9-FC1A6FB696D3}"/>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633D66FC-B458-8C47-FDB8-AAFD5C224318}"/>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61D84499-067F-14F1-D59E-44CB5CC9B319}"/>
              </a:ext>
            </a:extLst>
          </p:cNvPr>
          <p:cNvSpPr txBox="1"/>
          <p:nvPr/>
        </p:nvSpPr>
        <p:spPr>
          <a:xfrm>
            <a:off x="1029366" y="1461176"/>
            <a:ext cx="13677234" cy="838819"/>
          </a:xfrm>
          <a:prstGeom prst="rect">
            <a:avLst/>
          </a:prstGeom>
        </p:spPr>
        <p:txBody>
          <a:bodyPr wrap="square"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Yêu cầu phi chức năng</a:t>
            </a:r>
          </a:p>
        </p:txBody>
      </p:sp>
      <p:sp>
        <p:nvSpPr>
          <p:cNvPr id="22" name="Freeform 22">
            <a:extLst>
              <a:ext uri="{FF2B5EF4-FFF2-40B4-BE49-F238E27FC236}">
                <a16:creationId xmlns:a16="http://schemas.microsoft.com/office/drawing/2014/main" id="{97DD9EA8-0091-BC69-123A-CC82D2DE531F}"/>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5D71273B-5720-98A3-F61A-2D77EF9086D9}"/>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98C9E3AA-B24D-5E10-2CC3-0FDB60DC3710}"/>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C98F4B3C-7CB1-BB28-B0FF-4C7F1ECE8A8F}"/>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B31C7615-BED0-D2F1-B9F8-B5AC4BDB6018}"/>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CA741C07-4E32-1D3D-3A63-4E2A251EF488}"/>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4" name="Picture 3">
            <a:extLst>
              <a:ext uri="{FF2B5EF4-FFF2-40B4-BE49-F238E27FC236}">
                <a16:creationId xmlns:a16="http://schemas.microsoft.com/office/drawing/2014/main" id="{84CADFF4-B738-4EF3-B2BF-E6D87B4FBCC8}"/>
              </a:ext>
            </a:extLst>
          </p:cNvPr>
          <p:cNvPicPr>
            <a:picLocks noChangeAspect="1"/>
          </p:cNvPicPr>
          <p:nvPr/>
        </p:nvPicPr>
        <p:blipFill>
          <a:blip r:embed="rId4"/>
          <a:stretch>
            <a:fillRect/>
          </a:stretch>
        </p:blipFill>
        <p:spPr>
          <a:xfrm>
            <a:off x="762000" y="2419349"/>
            <a:ext cx="13258800" cy="7406283"/>
          </a:xfrm>
          <a:prstGeom prst="rect">
            <a:avLst/>
          </a:prstGeom>
        </p:spPr>
      </p:pic>
    </p:spTree>
    <p:extLst>
      <p:ext uri="{BB962C8B-B14F-4D97-AF65-F5344CB8AC3E}">
        <p14:creationId xmlns:p14="http://schemas.microsoft.com/office/powerpoint/2010/main" val="41281468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4AFF7-F2DA-B43D-CFEB-F2D6D5F2932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4F97301-6B91-2E2C-1542-C12FB80B11C0}"/>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E20C0207-DA38-11A3-AA30-CAB0BCA15A15}"/>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62F8D375-8BFA-8300-120E-E011C9E91CE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A1827126-F7AD-5CC7-1169-4CFB3ACCC3B5}"/>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C627658C-9E7D-A841-51F8-AE0E81CCD77D}"/>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83D3DF87-F641-C4E2-2983-DDF3C0604F00}"/>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054D9694-BB15-210F-5D0D-E7386C2014F0}"/>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38CE4AEC-5E10-9824-0298-391D0D8EC0C4}"/>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DA5C0EFD-9D59-DE1A-25D0-04F8C272E91E}"/>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B91415E6-886A-2F05-AF1F-B5DF8C3C7E36}"/>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397CC8B5-0345-4C1C-99C4-67957FFFD420}"/>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2D2C5575-854A-36BA-F49A-D646A5141502}"/>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1242DC1B-D463-CD51-07F5-CC3110A3AEA1}"/>
              </a:ext>
            </a:extLst>
          </p:cNvPr>
          <p:cNvSpPr/>
          <p:nvPr/>
        </p:nvSpPr>
        <p:spPr>
          <a:xfrm>
            <a:off x="1006736" y="2729788"/>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DC0B9F68-2868-BB04-CF45-C58D8AAA04FE}"/>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B1977EDA-7546-7484-9380-DFA9453C10A5}"/>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B079E71D-2FC0-8723-9242-DFFF4DB51CDF}"/>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44FD4256-C678-6E5C-D124-76E396390AC5}"/>
              </a:ext>
            </a:extLst>
          </p:cNvPr>
          <p:cNvSpPr txBox="1"/>
          <p:nvPr/>
        </p:nvSpPr>
        <p:spPr>
          <a:xfrm>
            <a:off x="1006736" y="1554601"/>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Quy trình thực nghiệm</a:t>
            </a:r>
          </a:p>
        </p:txBody>
      </p:sp>
      <p:grpSp>
        <p:nvGrpSpPr>
          <p:cNvPr id="19" name="Group 19">
            <a:extLst>
              <a:ext uri="{FF2B5EF4-FFF2-40B4-BE49-F238E27FC236}">
                <a16:creationId xmlns:a16="http://schemas.microsoft.com/office/drawing/2014/main" id="{D04A3975-736B-9388-270A-E4814D9D345E}"/>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2004677B-7A3F-2FED-FC3E-1F3A6ABAD0EC}"/>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C081563E-ADC6-1D59-2D70-570F501D73E9}"/>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367A0535-36CA-B4EA-9502-293284FB293C}"/>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E26E1E31-ED6C-7892-BBFB-5883BFEF1FD3}"/>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53F9EA57-7B53-C863-D502-273BFD0D4141}"/>
              </a:ext>
            </a:extLst>
          </p:cNvPr>
          <p:cNvGrpSpPr/>
          <p:nvPr/>
        </p:nvGrpSpPr>
        <p:grpSpPr>
          <a:xfrm>
            <a:off x="890680" y="2853375"/>
            <a:ext cx="15262817" cy="7302754"/>
            <a:chOff x="0" y="0"/>
            <a:chExt cx="2478455" cy="1685910"/>
          </a:xfrm>
        </p:grpSpPr>
        <p:sp>
          <p:nvSpPr>
            <p:cNvPr id="25" name="Freeform 25">
              <a:extLst>
                <a:ext uri="{FF2B5EF4-FFF2-40B4-BE49-F238E27FC236}">
                  <a16:creationId xmlns:a16="http://schemas.microsoft.com/office/drawing/2014/main" id="{EA6682BD-610B-4BDD-172E-25C7EFCF5A73}"/>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FB5F5BBD-119B-FEAD-E7B9-66BFE2A2BAC7}"/>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93CE4F52-177F-4636-BFEE-9C4B909536EF}"/>
              </a:ext>
            </a:extLst>
          </p:cNvPr>
          <p:cNvGrpSpPr/>
          <p:nvPr/>
        </p:nvGrpSpPr>
        <p:grpSpPr>
          <a:xfrm>
            <a:off x="1203536" y="3687061"/>
            <a:ext cx="978217" cy="978217"/>
            <a:chOff x="0" y="0"/>
            <a:chExt cx="812800" cy="812800"/>
          </a:xfrm>
        </p:grpSpPr>
        <p:sp>
          <p:nvSpPr>
            <p:cNvPr id="28" name="Freeform 28">
              <a:extLst>
                <a:ext uri="{FF2B5EF4-FFF2-40B4-BE49-F238E27FC236}">
                  <a16:creationId xmlns:a16="http://schemas.microsoft.com/office/drawing/2014/main" id="{E92CD2F0-391D-47B9-7DC5-15A2277A2D5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B45C9601-72CB-3829-335B-15F62FF1A5F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34D7D191-F374-5A54-E558-EB90C95D2231}"/>
              </a:ext>
            </a:extLst>
          </p:cNvPr>
          <p:cNvSpPr/>
          <p:nvPr/>
        </p:nvSpPr>
        <p:spPr>
          <a:xfrm>
            <a:off x="1380358" y="3985542"/>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82DC86EB-8E40-FC6A-17DA-B5397D7752CF}"/>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E30C40DE-FB28-91A1-5CEA-7BB464B48FB1}"/>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C1D1E0C7-7D17-C73E-658C-25AD4E64797E}"/>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C39AD5CB-1DE1-C952-1382-F562E767C8C8}"/>
              </a:ext>
            </a:extLst>
          </p:cNvPr>
          <p:cNvSpPr txBox="1"/>
          <p:nvPr/>
        </p:nvSpPr>
        <p:spPr>
          <a:xfrm>
            <a:off x="2451213" y="3968903"/>
            <a:ext cx="7125136" cy="448841"/>
          </a:xfrm>
          <a:prstGeom prst="rect">
            <a:avLst/>
          </a:prstGeom>
        </p:spPr>
        <p:txBody>
          <a:bodyPr wrap="square" lIns="0" tIns="0" rIns="0" bIns="0" rtlCol="0" anchor="t">
            <a:spAutoFit/>
          </a:bodyPr>
          <a:lstStyle/>
          <a:p>
            <a:pPr algn="l">
              <a:lnSpc>
                <a:spcPts val="3499"/>
              </a:lnSpc>
            </a:pPr>
            <a:r>
              <a:rPr lang="en-US" sz="3200" b="1">
                <a:solidFill>
                  <a:srgbClr val="000000"/>
                </a:solidFill>
                <a:latin typeface="Noto Sans Bold"/>
                <a:ea typeface="Noto Sans Bold"/>
                <a:cs typeface="Noto Sans Bold"/>
                <a:sym typeface="Noto Sans Bold"/>
              </a:rPr>
              <a:t>Tóm tắt nội dung</a:t>
            </a:r>
          </a:p>
        </p:txBody>
      </p:sp>
      <p:sp>
        <p:nvSpPr>
          <p:cNvPr id="55" name="TextBox 55">
            <a:extLst>
              <a:ext uri="{FF2B5EF4-FFF2-40B4-BE49-F238E27FC236}">
                <a16:creationId xmlns:a16="http://schemas.microsoft.com/office/drawing/2014/main" id="{A61E0D24-7F5A-704F-D58C-738D335A9B5D}"/>
              </a:ext>
            </a:extLst>
          </p:cNvPr>
          <p:cNvSpPr txBox="1"/>
          <p:nvPr/>
        </p:nvSpPr>
        <p:spPr>
          <a:xfrm>
            <a:off x="2200356" y="4841647"/>
            <a:ext cx="13039644" cy="1723549"/>
          </a:xfrm>
          <a:prstGeom prst="rect">
            <a:avLst/>
          </a:prstGeom>
        </p:spPr>
        <p:txBody>
          <a:bodyPr wrap="square" lIns="0" tIns="0" rIns="0" bIns="0" rtlCol="0" anchor="t">
            <a:spAutoFit/>
          </a:bodyPr>
          <a:lstStyle/>
          <a:p>
            <a:pPr algn="just"/>
            <a:r>
              <a:rPr lang="vi-VN" sz="2800"/>
              <a:t>Quy trình thực nghiệm chung cho mọi kỹ thuật được mô tả ở hình. Ảnh được đọc và chuyển về ảnh xám (hoặc kênh sáng), histogram và các thống kê được tính trước, sau đó phép biến đổi được áp dụng, rồi tính lại thống kê và các chỉ số trên ảnh kết quả để so sánh.</a:t>
            </a:r>
          </a:p>
        </p:txBody>
      </p:sp>
      <p:grpSp>
        <p:nvGrpSpPr>
          <p:cNvPr id="71" name="Group 71">
            <a:extLst>
              <a:ext uri="{FF2B5EF4-FFF2-40B4-BE49-F238E27FC236}">
                <a16:creationId xmlns:a16="http://schemas.microsoft.com/office/drawing/2014/main" id="{30F3D314-15A6-BBCD-CC1C-850BAB6027BD}"/>
              </a:ext>
            </a:extLst>
          </p:cNvPr>
          <p:cNvGrpSpPr/>
          <p:nvPr/>
        </p:nvGrpSpPr>
        <p:grpSpPr>
          <a:xfrm>
            <a:off x="1006736" y="476119"/>
            <a:ext cx="7162712" cy="649857"/>
            <a:chOff x="0" y="0"/>
            <a:chExt cx="1427911" cy="198470"/>
          </a:xfrm>
        </p:grpSpPr>
        <p:sp>
          <p:nvSpPr>
            <p:cNvPr id="72" name="Freeform 72">
              <a:extLst>
                <a:ext uri="{FF2B5EF4-FFF2-40B4-BE49-F238E27FC236}">
                  <a16:creationId xmlns:a16="http://schemas.microsoft.com/office/drawing/2014/main" id="{51DF21D6-7D1B-52B2-2FA1-DBF4EE87FA4B}"/>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26F37CBD-E2C7-0325-E4F6-4018E80E82DB}"/>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6166B61D-FD95-5DE7-69A7-656159824FFA}"/>
              </a:ext>
            </a:extLst>
          </p:cNvPr>
          <p:cNvSpPr/>
          <p:nvPr/>
        </p:nvSpPr>
        <p:spPr>
          <a:xfrm>
            <a:off x="1360150" y="598271"/>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53147261-7F4C-C17D-7008-6CBFA3F35245}"/>
              </a:ext>
            </a:extLst>
          </p:cNvPr>
          <p:cNvSpPr txBox="1"/>
          <p:nvPr/>
        </p:nvSpPr>
        <p:spPr>
          <a:xfrm>
            <a:off x="2273350" y="566062"/>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30" name="Quy trình thực nghiệm tăng cường ảnh dựa trên histogram" descr="Quy trình thực nghiệm tăng cường ảnh dựa trên histogram" title="Quy trình thực nghiệm tăng cường ảnh dựa trên histogram">
            <a:extLst>
              <a:ext uri="{FF2B5EF4-FFF2-40B4-BE49-F238E27FC236}">
                <a16:creationId xmlns:a16="http://schemas.microsoft.com/office/drawing/2014/main" id="{0486CA77-4361-395A-5F01-692D9908615A}"/>
              </a:ext>
            </a:extLst>
          </p:cNvPr>
          <p:cNvPicPr>
            <a:picLocks noChangeAspect="1"/>
          </p:cNvPicPr>
          <p:nvPr/>
        </p:nvPicPr>
        <p:blipFill>
          <a:blip r:embed="rId9"/>
          <a:srcRect/>
          <a:stretch>
            <a:fillRect/>
          </a:stretch>
        </p:blipFill>
        <p:spPr bwMode="auto">
          <a:xfrm>
            <a:off x="2244385" y="6620455"/>
            <a:ext cx="12934351" cy="3210491"/>
          </a:xfrm>
          <a:prstGeom prst="rect">
            <a:avLst/>
          </a:prstGeom>
        </p:spPr>
      </p:pic>
    </p:spTree>
    <p:extLst>
      <p:ext uri="{BB962C8B-B14F-4D97-AF65-F5344CB8AC3E}">
        <p14:creationId xmlns:p14="http://schemas.microsoft.com/office/powerpoint/2010/main" val="37078754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7028E-1BB0-4A17-AB94-B76279130690}"/>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E06AE642-3793-B6C6-3BCA-8AABF294CC80}"/>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CF5483A8-5D0C-4ECE-F886-78A99C6ADA1D}"/>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805EB9D0-BE06-0B76-19DC-6D55B04CAE7E}"/>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90E3A3C4-1FDB-B23C-1D33-9A3BC754A089}"/>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513E553F-E8C9-EA62-9DF6-AE09243EB2E4}"/>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C8A3DE7E-D7FF-D75A-3847-60A24C687F18}"/>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EA890F89-447D-78C6-2D9A-CF4B6008E217}"/>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FB17BC37-DAD2-8439-68C2-8728EB6B1193}"/>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C814CD70-2E7A-3B79-0DC1-2BAF98B5E756}"/>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919B12BF-05EB-B405-4D89-77EC078B602A}"/>
              </a:ext>
            </a:extLst>
          </p:cNvPr>
          <p:cNvSpPr txBox="1"/>
          <p:nvPr/>
        </p:nvSpPr>
        <p:spPr>
          <a:xfrm>
            <a:off x="1029366" y="1461176"/>
            <a:ext cx="13677234" cy="838819"/>
          </a:xfrm>
          <a:prstGeom prst="rect">
            <a:avLst/>
          </a:prstGeom>
        </p:spPr>
        <p:txBody>
          <a:bodyPr wrap="square"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Đặc tả các tình huống sử dụng tham chiếu</a:t>
            </a:r>
          </a:p>
        </p:txBody>
      </p:sp>
      <p:sp>
        <p:nvSpPr>
          <p:cNvPr id="22" name="Freeform 22">
            <a:extLst>
              <a:ext uri="{FF2B5EF4-FFF2-40B4-BE49-F238E27FC236}">
                <a16:creationId xmlns:a16="http://schemas.microsoft.com/office/drawing/2014/main" id="{52070E9A-1D11-DA8C-7641-3E887EB8E875}"/>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B9D82331-191C-9025-42B2-C57614DC18EA}"/>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2AA1B093-7950-691F-34E5-4CA71D51DA76}"/>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24CDD91E-A6AC-EB96-5100-F34107A7AEF9}"/>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4DC29A5C-5D8B-D192-7705-711C123F222C}"/>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8F4C7A98-8EB7-2E25-B39E-47F5D3C4096D}"/>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15" name="Picture 14">
            <a:extLst>
              <a:ext uri="{FF2B5EF4-FFF2-40B4-BE49-F238E27FC236}">
                <a16:creationId xmlns:a16="http://schemas.microsoft.com/office/drawing/2014/main" id="{A2979DFD-A307-6709-04A0-EA0B502D6472}"/>
              </a:ext>
            </a:extLst>
          </p:cNvPr>
          <p:cNvPicPr>
            <a:picLocks noChangeAspect="1"/>
          </p:cNvPicPr>
          <p:nvPr/>
        </p:nvPicPr>
        <p:blipFill>
          <a:blip r:embed="rId4"/>
          <a:stretch>
            <a:fillRect/>
          </a:stretch>
        </p:blipFill>
        <p:spPr>
          <a:xfrm>
            <a:off x="1029365" y="2475442"/>
            <a:ext cx="13042033" cy="6478058"/>
          </a:xfrm>
          <a:prstGeom prst="rect">
            <a:avLst/>
          </a:prstGeom>
        </p:spPr>
      </p:pic>
    </p:spTree>
    <p:extLst>
      <p:ext uri="{BB962C8B-B14F-4D97-AF65-F5344CB8AC3E}">
        <p14:creationId xmlns:p14="http://schemas.microsoft.com/office/powerpoint/2010/main" val="13601235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0B22E-7BFA-D065-2EC7-608DA0073E85}"/>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F2A17A45-C256-DA26-685E-292E62DFC7C5}"/>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80C294BF-8F4B-4FC6-23D5-FFDE19770E01}"/>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89E2F8A1-0A0D-BA7C-21F3-A3142B39D82C}"/>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E4C65425-3D1D-DC28-2BC0-50BB5DF88421}"/>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1B07E027-CF25-18F5-2EC1-C5F584F584AF}"/>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E2A32268-E6E8-F6F9-D683-21E1ACBD6C5F}"/>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17A591B0-71B2-9722-5C2F-1E9E539EC0C8}"/>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E5C36015-4071-498E-5009-1A46C1DD3B17}"/>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E758C018-710E-6844-9451-20CD342A28CC}"/>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4B324234-2F28-BBC6-7A0D-D9B70982732F}"/>
              </a:ext>
            </a:extLst>
          </p:cNvPr>
          <p:cNvSpPr txBox="1"/>
          <p:nvPr/>
        </p:nvSpPr>
        <p:spPr>
          <a:xfrm>
            <a:off x="1029366" y="1461176"/>
            <a:ext cx="13677234" cy="838819"/>
          </a:xfrm>
          <a:prstGeom prst="rect">
            <a:avLst/>
          </a:prstGeom>
        </p:spPr>
        <p:txBody>
          <a:bodyPr wrap="square"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Đặc tả các tình huống sử dụng tham chiếu</a:t>
            </a:r>
          </a:p>
        </p:txBody>
      </p:sp>
      <p:sp>
        <p:nvSpPr>
          <p:cNvPr id="22" name="Freeform 22">
            <a:extLst>
              <a:ext uri="{FF2B5EF4-FFF2-40B4-BE49-F238E27FC236}">
                <a16:creationId xmlns:a16="http://schemas.microsoft.com/office/drawing/2014/main" id="{E558E6DC-D6A7-BD0D-B16C-4E2E8FAFAD25}"/>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9D6B053D-20B1-19AB-4EAA-62CE7E24F2BD}"/>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8381674E-4B2F-512D-4E01-D75887CB6E83}"/>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FC9A0282-829D-6AE8-A3A9-9432CFCE3B20}"/>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A393B6A1-BE41-A43B-C746-BB44769AD936}"/>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86B07F63-DF8E-79EB-3D45-B20E73C119AE}"/>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3" name="Picture 2">
            <a:extLst>
              <a:ext uri="{FF2B5EF4-FFF2-40B4-BE49-F238E27FC236}">
                <a16:creationId xmlns:a16="http://schemas.microsoft.com/office/drawing/2014/main" id="{713C4CA8-6858-FCA1-3490-6AFA89934593}"/>
              </a:ext>
            </a:extLst>
          </p:cNvPr>
          <p:cNvPicPr>
            <a:picLocks noChangeAspect="1"/>
          </p:cNvPicPr>
          <p:nvPr/>
        </p:nvPicPr>
        <p:blipFill>
          <a:blip r:embed="rId4"/>
          <a:stretch>
            <a:fillRect/>
          </a:stretch>
        </p:blipFill>
        <p:spPr>
          <a:xfrm>
            <a:off x="1059845" y="3338842"/>
            <a:ext cx="12898736" cy="5602994"/>
          </a:xfrm>
          <a:prstGeom prst="rect">
            <a:avLst/>
          </a:prstGeom>
        </p:spPr>
      </p:pic>
      <p:pic>
        <p:nvPicPr>
          <p:cNvPr id="14" name="Picture 13">
            <a:extLst>
              <a:ext uri="{FF2B5EF4-FFF2-40B4-BE49-F238E27FC236}">
                <a16:creationId xmlns:a16="http://schemas.microsoft.com/office/drawing/2014/main" id="{CB9DB897-EAE3-DEBF-F269-2EC5A2AB2FA2}"/>
              </a:ext>
            </a:extLst>
          </p:cNvPr>
          <p:cNvPicPr>
            <a:picLocks noChangeAspect="1"/>
          </p:cNvPicPr>
          <p:nvPr/>
        </p:nvPicPr>
        <p:blipFill>
          <a:blip r:embed="rId5"/>
          <a:stretch>
            <a:fillRect/>
          </a:stretch>
        </p:blipFill>
        <p:spPr>
          <a:xfrm>
            <a:off x="1059845" y="2513505"/>
            <a:ext cx="12868257" cy="945975"/>
          </a:xfrm>
          <a:prstGeom prst="rect">
            <a:avLst/>
          </a:prstGeom>
        </p:spPr>
      </p:pic>
    </p:spTree>
    <p:extLst>
      <p:ext uri="{BB962C8B-B14F-4D97-AF65-F5344CB8AC3E}">
        <p14:creationId xmlns:p14="http://schemas.microsoft.com/office/powerpoint/2010/main" val="11277703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0C6BB-9629-21F9-F841-DA4961E5B6D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C169260-6A79-D20A-DD0A-9553724E2DF8}"/>
              </a:ext>
            </a:extLst>
          </p:cNvPr>
          <p:cNvGrpSpPr/>
          <p:nvPr/>
        </p:nvGrpSpPr>
        <p:grpSpPr>
          <a:xfrm>
            <a:off x="11926753" y="0"/>
            <a:ext cx="13716000" cy="10287000"/>
            <a:chOff x="0" y="0"/>
            <a:chExt cx="812800" cy="609600"/>
          </a:xfrm>
        </p:grpSpPr>
        <p:sp>
          <p:nvSpPr>
            <p:cNvPr id="3" name="Freeform 3">
              <a:extLst>
                <a:ext uri="{FF2B5EF4-FFF2-40B4-BE49-F238E27FC236}">
                  <a16:creationId xmlns:a16="http://schemas.microsoft.com/office/drawing/2014/main" id="{48B09F24-4D77-53CB-08CA-B85BD5459EA6}"/>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21C5AC82-E0B5-36B6-B1CD-48A8C96C0033}"/>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12C9F5C3-F4D6-D71F-531B-B3325A4EC312}"/>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0D9E76CB-776B-83A3-F63F-91B4861C5041}"/>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F8707976-4073-9973-F38F-E5669B8B5EFA}"/>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F1DFF29-B1C1-849B-CE1D-1E35FA3AD69A}"/>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5764907E-9A12-1408-EF2B-53502F06C5B8}"/>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E862922F-A7C8-60B9-D989-3AFAC2027DC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C8B1F8B2-93DF-48AB-9431-1FB9D89BE050}"/>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8B765699-387E-374C-93DE-93698A144958}"/>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77B789C0-CC4C-9093-AF8F-F4F3BCC784CD}"/>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D18C6AC2-0B2B-F402-E309-BFBCCE7C7C9E}"/>
              </a:ext>
            </a:extLst>
          </p:cNvPr>
          <p:cNvSpPr/>
          <p:nvPr/>
        </p:nvSpPr>
        <p:spPr>
          <a:xfrm>
            <a:off x="1028700" y="2552700"/>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DDA79BF0-FF2E-51FB-C3D9-B2418013C803}"/>
              </a:ext>
            </a:extLst>
          </p:cNvPr>
          <p:cNvGrpSpPr/>
          <p:nvPr/>
        </p:nvGrpSpPr>
        <p:grpSpPr>
          <a:xfrm>
            <a:off x="1059180" y="4346267"/>
            <a:ext cx="10138495" cy="726721"/>
            <a:chOff x="0" y="0"/>
            <a:chExt cx="3096350" cy="221945"/>
          </a:xfrm>
        </p:grpSpPr>
        <p:sp>
          <p:nvSpPr>
            <p:cNvPr id="16" name="Freeform 16">
              <a:extLst>
                <a:ext uri="{FF2B5EF4-FFF2-40B4-BE49-F238E27FC236}">
                  <a16:creationId xmlns:a16="http://schemas.microsoft.com/office/drawing/2014/main" id="{1E2D138E-3385-40B2-6A70-22C9613519F9}"/>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17" name="TextBox 17">
              <a:extLst>
                <a:ext uri="{FF2B5EF4-FFF2-40B4-BE49-F238E27FC236}">
                  <a16:creationId xmlns:a16="http://schemas.microsoft.com/office/drawing/2014/main" id="{4028A78A-FB61-810B-AD27-5B9EAE3F0DED}"/>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18" name="AutoShape 18">
            <a:extLst>
              <a:ext uri="{FF2B5EF4-FFF2-40B4-BE49-F238E27FC236}">
                <a16:creationId xmlns:a16="http://schemas.microsoft.com/office/drawing/2014/main" id="{266ACC44-5910-38DF-CEE3-8F51EA8FAFA6}"/>
              </a:ext>
            </a:extLst>
          </p:cNvPr>
          <p:cNvSpPr/>
          <p:nvPr/>
        </p:nvSpPr>
        <p:spPr>
          <a:xfrm>
            <a:off x="2159267" y="4511231"/>
            <a:ext cx="0" cy="396795"/>
          </a:xfrm>
          <a:prstGeom prst="line">
            <a:avLst/>
          </a:prstGeom>
          <a:ln w="19050" cap="flat">
            <a:solidFill>
              <a:srgbClr val="BA97FC"/>
            </a:solidFill>
            <a:prstDash val="solid"/>
            <a:headEnd type="none" w="sm" len="sm"/>
            <a:tailEnd type="none" w="sm" len="sm"/>
          </a:ln>
        </p:spPr>
      </p:sp>
      <p:grpSp>
        <p:nvGrpSpPr>
          <p:cNvPr id="19" name="Group 19">
            <a:extLst>
              <a:ext uri="{FF2B5EF4-FFF2-40B4-BE49-F238E27FC236}">
                <a16:creationId xmlns:a16="http://schemas.microsoft.com/office/drawing/2014/main" id="{E00EA253-9CC6-A281-CD5F-0BF10BE04DED}"/>
              </a:ext>
            </a:extLst>
          </p:cNvPr>
          <p:cNvGrpSpPr/>
          <p:nvPr/>
        </p:nvGrpSpPr>
        <p:grpSpPr>
          <a:xfrm>
            <a:off x="11640961" y="304912"/>
            <a:ext cx="11731896" cy="8798922"/>
            <a:chOff x="0" y="0"/>
            <a:chExt cx="812800" cy="609600"/>
          </a:xfrm>
        </p:grpSpPr>
        <p:sp>
          <p:nvSpPr>
            <p:cNvPr id="20" name="Freeform 20">
              <a:extLst>
                <a:ext uri="{FF2B5EF4-FFF2-40B4-BE49-F238E27FC236}">
                  <a16:creationId xmlns:a16="http://schemas.microsoft.com/office/drawing/2014/main" id="{25729B03-A5B5-E6F9-0ED8-D0E44638C5D7}"/>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21" name="TextBox 21">
              <a:extLst>
                <a:ext uri="{FF2B5EF4-FFF2-40B4-BE49-F238E27FC236}">
                  <a16:creationId xmlns:a16="http://schemas.microsoft.com/office/drawing/2014/main" id="{D3BBC6A6-8E70-733D-3C84-A9D7F7E24A77}"/>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TextBox 22">
            <a:extLst>
              <a:ext uri="{FF2B5EF4-FFF2-40B4-BE49-F238E27FC236}">
                <a16:creationId xmlns:a16="http://schemas.microsoft.com/office/drawing/2014/main" id="{2BF7CCA4-29DD-9F5F-C49E-24494654530D}"/>
              </a:ext>
            </a:extLst>
          </p:cNvPr>
          <p:cNvSpPr txBox="1"/>
          <p:nvPr/>
        </p:nvSpPr>
        <p:spPr>
          <a:xfrm>
            <a:off x="1004357" y="1338620"/>
            <a:ext cx="12192944" cy="677108"/>
          </a:xfrm>
          <a:prstGeom prst="rect">
            <a:avLst/>
          </a:prstGeom>
        </p:spPr>
        <p:txBody>
          <a:bodyPr lIns="0" tIns="0" rIns="0" bIns="0" rtlCol="0" anchor="t">
            <a:spAutoFit/>
          </a:bodyPr>
          <a:lstStyle/>
          <a:p>
            <a:pPr algn="l"/>
            <a:r>
              <a:rPr lang="en-US" sz="4400" b="1">
                <a:solidFill>
                  <a:srgbClr val="000000"/>
                </a:solidFill>
                <a:latin typeface="Noto Sans Bold"/>
                <a:ea typeface="Noto Sans Bold"/>
                <a:cs typeface="Noto Sans Bold"/>
                <a:sym typeface="Noto Sans Bold"/>
              </a:rPr>
              <a:t>CHƯƠNG IV: CÀI ĐẶT VÀ KIỂM THỬ</a:t>
            </a:r>
          </a:p>
        </p:txBody>
      </p:sp>
      <p:grpSp>
        <p:nvGrpSpPr>
          <p:cNvPr id="23" name="Group 23">
            <a:extLst>
              <a:ext uri="{FF2B5EF4-FFF2-40B4-BE49-F238E27FC236}">
                <a16:creationId xmlns:a16="http://schemas.microsoft.com/office/drawing/2014/main" id="{C8A0B16B-94F7-0D19-456B-37E0EC11E233}"/>
              </a:ext>
            </a:extLst>
          </p:cNvPr>
          <p:cNvGrpSpPr/>
          <p:nvPr/>
        </p:nvGrpSpPr>
        <p:grpSpPr>
          <a:xfrm>
            <a:off x="12069673" y="782942"/>
            <a:ext cx="11731896" cy="8798922"/>
            <a:chOff x="0" y="0"/>
            <a:chExt cx="812800" cy="609600"/>
          </a:xfrm>
        </p:grpSpPr>
        <p:sp>
          <p:nvSpPr>
            <p:cNvPr id="24" name="Freeform 24">
              <a:extLst>
                <a:ext uri="{FF2B5EF4-FFF2-40B4-BE49-F238E27FC236}">
                  <a16:creationId xmlns:a16="http://schemas.microsoft.com/office/drawing/2014/main" id="{639AD4A3-DFA2-6DD6-D4E4-21921655F690}"/>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5" name="TextBox 25">
              <a:extLst>
                <a:ext uri="{FF2B5EF4-FFF2-40B4-BE49-F238E27FC236}">
                  <a16:creationId xmlns:a16="http://schemas.microsoft.com/office/drawing/2014/main" id="{058FAB45-0CAA-0F74-9F62-1EC05A4111BD}"/>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6" name="Freeform 26">
            <a:extLst>
              <a:ext uri="{FF2B5EF4-FFF2-40B4-BE49-F238E27FC236}">
                <a16:creationId xmlns:a16="http://schemas.microsoft.com/office/drawing/2014/main" id="{93CA2E4B-2041-97DC-3931-96BC30F6CF52}"/>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7" name="Freeform 27">
            <a:extLst>
              <a:ext uri="{FF2B5EF4-FFF2-40B4-BE49-F238E27FC236}">
                <a16:creationId xmlns:a16="http://schemas.microsoft.com/office/drawing/2014/main" id="{419086D7-3324-6651-0F11-54A76990E6A0}"/>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sp>
        <p:nvSpPr>
          <p:cNvPr id="28" name="TextBox 28">
            <a:extLst>
              <a:ext uri="{FF2B5EF4-FFF2-40B4-BE49-F238E27FC236}">
                <a16:creationId xmlns:a16="http://schemas.microsoft.com/office/drawing/2014/main" id="{4FB8D914-0976-50FD-2C98-91FC7B552897}"/>
              </a:ext>
            </a:extLst>
          </p:cNvPr>
          <p:cNvSpPr txBox="1"/>
          <p:nvPr/>
        </p:nvSpPr>
        <p:spPr>
          <a:xfrm>
            <a:off x="986285" y="2713269"/>
            <a:ext cx="10907623" cy="596900"/>
          </a:xfrm>
          <a:prstGeom prst="rect">
            <a:avLst/>
          </a:prstGeom>
        </p:spPr>
        <p:txBody>
          <a:bodyPr lIns="0" tIns="0" rIns="0" bIns="0" rtlCol="0" anchor="t">
            <a:spAutoFit/>
          </a:bodyPr>
          <a:lstStyle/>
          <a:p>
            <a:pPr algn="l">
              <a:lnSpc>
                <a:spcPts val="4900"/>
              </a:lnSpc>
            </a:pPr>
            <a:r>
              <a:rPr lang="en-US" sz="3500" b="1">
                <a:solidFill>
                  <a:srgbClr val="5F0EFF"/>
                </a:solidFill>
                <a:latin typeface="Noto Sans Bold"/>
                <a:ea typeface="Noto Sans Bold"/>
                <a:cs typeface="Noto Sans Bold"/>
                <a:sym typeface="Noto Sans Bold"/>
              </a:rPr>
              <a:t>Nội dung trình bày</a:t>
            </a:r>
          </a:p>
        </p:txBody>
      </p:sp>
      <p:sp>
        <p:nvSpPr>
          <p:cNvPr id="29" name="TextBox 29">
            <a:extLst>
              <a:ext uri="{FF2B5EF4-FFF2-40B4-BE49-F238E27FC236}">
                <a16:creationId xmlns:a16="http://schemas.microsoft.com/office/drawing/2014/main" id="{3205AB96-59BE-7B79-BFD0-5846FEA8E73B}"/>
              </a:ext>
            </a:extLst>
          </p:cNvPr>
          <p:cNvSpPr txBox="1"/>
          <p:nvPr/>
        </p:nvSpPr>
        <p:spPr>
          <a:xfrm>
            <a:off x="1348585" y="4512460"/>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01</a:t>
            </a:r>
          </a:p>
        </p:txBody>
      </p:sp>
      <p:sp>
        <p:nvSpPr>
          <p:cNvPr id="30" name="TextBox 30">
            <a:extLst>
              <a:ext uri="{FF2B5EF4-FFF2-40B4-BE49-F238E27FC236}">
                <a16:creationId xmlns:a16="http://schemas.microsoft.com/office/drawing/2014/main" id="{48F570E9-18D7-A304-168A-18992F76CFCB}"/>
              </a:ext>
            </a:extLst>
          </p:cNvPr>
          <p:cNvSpPr txBox="1"/>
          <p:nvPr/>
        </p:nvSpPr>
        <p:spPr>
          <a:xfrm>
            <a:off x="2317796" y="4520589"/>
            <a:ext cx="7995967" cy="348109"/>
          </a:xfrm>
          <a:prstGeom prst="rect">
            <a:avLst/>
          </a:prstGeom>
        </p:spPr>
        <p:txBody>
          <a:bodyPr wrap="square" lIns="0" tIns="0" rIns="0" bIns="0" rtlCol="0" anchor="t">
            <a:spAutoFit/>
          </a:bodyPr>
          <a:lstStyle/>
          <a:p>
            <a:pPr algn="l">
              <a:lnSpc>
                <a:spcPts val="2926"/>
              </a:lnSpc>
            </a:pPr>
            <a:r>
              <a:rPr lang="vi-VN" sz="2090" b="1">
                <a:solidFill>
                  <a:srgbClr val="000000"/>
                </a:solidFill>
                <a:latin typeface="Noto Sans Bold"/>
                <a:ea typeface="Noto Sans Bold"/>
                <a:cs typeface="Noto Sans Bold"/>
                <a:sym typeface="Noto Sans Bold"/>
              </a:rPr>
              <a:t>Môi trường và cấu trúc thư mục</a:t>
            </a:r>
            <a:endParaRPr lang="en-US" sz="2090" b="1">
              <a:solidFill>
                <a:srgbClr val="000000"/>
              </a:solidFill>
              <a:latin typeface="Noto Sans Bold"/>
              <a:ea typeface="Noto Sans Bold"/>
              <a:cs typeface="Noto Sans Bold"/>
              <a:sym typeface="Noto Sans Bold"/>
            </a:endParaRPr>
          </a:p>
        </p:txBody>
      </p:sp>
      <p:grpSp>
        <p:nvGrpSpPr>
          <p:cNvPr id="31" name="Group 31">
            <a:extLst>
              <a:ext uri="{FF2B5EF4-FFF2-40B4-BE49-F238E27FC236}">
                <a16:creationId xmlns:a16="http://schemas.microsoft.com/office/drawing/2014/main" id="{862BCCCA-897A-152E-A235-167672A7088B}"/>
              </a:ext>
            </a:extLst>
          </p:cNvPr>
          <p:cNvGrpSpPr/>
          <p:nvPr/>
        </p:nvGrpSpPr>
        <p:grpSpPr>
          <a:xfrm>
            <a:off x="1059180" y="5247682"/>
            <a:ext cx="10138495" cy="726721"/>
            <a:chOff x="0" y="0"/>
            <a:chExt cx="3096350" cy="221945"/>
          </a:xfrm>
        </p:grpSpPr>
        <p:sp>
          <p:nvSpPr>
            <p:cNvPr id="32" name="Freeform 32">
              <a:extLst>
                <a:ext uri="{FF2B5EF4-FFF2-40B4-BE49-F238E27FC236}">
                  <a16:creationId xmlns:a16="http://schemas.microsoft.com/office/drawing/2014/main" id="{CE75CD81-1865-F393-6328-7FF689709245}"/>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33" name="TextBox 33">
              <a:extLst>
                <a:ext uri="{FF2B5EF4-FFF2-40B4-BE49-F238E27FC236}">
                  <a16:creationId xmlns:a16="http://schemas.microsoft.com/office/drawing/2014/main" id="{EE5C94A8-646C-F116-4190-AE5858CC869C}"/>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34" name="AutoShape 34">
            <a:extLst>
              <a:ext uri="{FF2B5EF4-FFF2-40B4-BE49-F238E27FC236}">
                <a16:creationId xmlns:a16="http://schemas.microsoft.com/office/drawing/2014/main" id="{9769C8CE-6912-C34F-F2AC-A867D03D161E}"/>
              </a:ext>
            </a:extLst>
          </p:cNvPr>
          <p:cNvSpPr/>
          <p:nvPr/>
        </p:nvSpPr>
        <p:spPr>
          <a:xfrm>
            <a:off x="2159267" y="5412645"/>
            <a:ext cx="0" cy="396795"/>
          </a:xfrm>
          <a:prstGeom prst="line">
            <a:avLst/>
          </a:prstGeom>
          <a:ln w="19050" cap="flat">
            <a:solidFill>
              <a:srgbClr val="BA97FC"/>
            </a:solidFill>
            <a:prstDash val="solid"/>
            <a:headEnd type="none" w="sm" len="sm"/>
            <a:tailEnd type="none" w="sm" len="sm"/>
          </a:ln>
        </p:spPr>
      </p:sp>
      <p:sp>
        <p:nvSpPr>
          <p:cNvPr id="35" name="TextBox 35">
            <a:extLst>
              <a:ext uri="{FF2B5EF4-FFF2-40B4-BE49-F238E27FC236}">
                <a16:creationId xmlns:a16="http://schemas.microsoft.com/office/drawing/2014/main" id="{A511631C-A173-6E05-9F23-96969A4843E3}"/>
              </a:ext>
            </a:extLst>
          </p:cNvPr>
          <p:cNvSpPr txBox="1"/>
          <p:nvPr/>
        </p:nvSpPr>
        <p:spPr>
          <a:xfrm>
            <a:off x="1348585" y="5413875"/>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02</a:t>
            </a:r>
          </a:p>
        </p:txBody>
      </p:sp>
      <p:sp>
        <p:nvSpPr>
          <p:cNvPr id="36" name="TextBox 36">
            <a:extLst>
              <a:ext uri="{FF2B5EF4-FFF2-40B4-BE49-F238E27FC236}">
                <a16:creationId xmlns:a16="http://schemas.microsoft.com/office/drawing/2014/main" id="{B1C50069-6C20-66AA-3DBB-45D82391E5A0}"/>
              </a:ext>
            </a:extLst>
          </p:cNvPr>
          <p:cNvSpPr txBox="1"/>
          <p:nvPr/>
        </p:nvSpPr>
        <p:spPr>
          <a:xfrm>
            <a:off x="2317796" y="5422004"/>
            <a:ext cx="5555111" cy="348109"/>
          </a:xfrm>
          <a:prstGeom prst="rect">
            <a:avLst/>
          </a:prstGeom>
        </p:spPr>
        <p:txBody>
          <a:bodyPr wrap="square" lIns="0" tIns="0" rIns="0" bIns="0" rtlCol="0" anchor="t">
            <a:spAutoFit/>
          </a:bodyPr>
          <a:lstStyle/>
          <a:p>
            <a:pPr algn="l">
              <a:lnSpc>
                <a:spcPts val="2926"/>
              </a:lnSpc>
            </a:pPr>
            <a:r>
              <a:rPr lang="vi-VN" sz="2090" b="1">
                <a:solidFill>
                  <a:srgbClr val="000000"/>
                </a:solidFill>
                <a:latin typeface="Noto Sans Bold"/>
                <a:ea typeface="Noto Sans Bold"/>
                <a:cs typeface="Noto Sans Bold"/>
                <a:sym typeface="Noto Sans Bold"/>
              </a:rPr>
              <a:t>Tầng dữ liệu và cấu hình</a:t>
            </a:r>
            <a:endParaRPr lang="en-US" sz="2090" b="1">
              <a:solidFill>
                <a:srgbClr val="000000"/>
              </a:solidFill>
              <a:latin typeface="Noto Sans Bold"/>
              <a:ea typeface="Noto Sans Bold"/>
              <a:cs typeface="Noto Sans Bold"/>
              <a:sym typeface="Noto Sans Bold"/>
            </a:endParaRPr>
          </a:p>
        </p:txBody>
      </p:sp>
      <p:grpSp>
        <p:nvGrpSpPr>
          <p:cNvPr id="37" name="Group 37">
            <a:extLst>
              <a:ext uri="{FF2B5EF4-FFF2-40B4-BE49-F238E27FC236}">
                <a16:creationId xmlns:a16="http://schemas.microsoft.com/office/drawing/2014/main" id="{430EBF58-496D-074A-851D-CDB056417644}"/>
              </a:ext>
            </a:extLst>
          </p:cNvPr>
          <p:cNvGrpSpPr/>
          <p:nvPr/>
        </p:nvGrpSpPr>
        <p:grpSpPr>
          <a:xfrm>
            <a:off x="1059180" y="6145853"/>
            <a:ext cx="10138495" cy="726721"/>
            <a:chOff x="0" y="0"/>
            <a:chExt cx="3096350" cy="221945"/>
          </a:xfrm>
        </p:grpSpPr>
        <p:sp>
          <p:nvSpPr>
            <p:cNvPr id="38" name="Freeform 38">
              <a:extLst>
                <a:ext uri="{FF2B5EF4-FFF2-40B4-BE49-F238E27FC236}">
                  <a16:creationId xmlns:a16="http://schemas.microsoft.com/office/drawing/2014/main" id="{76173747-A625-9E71-F6C5-497755F86E3F}"/>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39" name="TextBox 39">
              <a:extLst>
                <a:ext uri="{FF2B5EF4-FFF2-40B4-BE49-F238E27FC236}">
                  <a16:creationId xmlns:a16="http://schemas.microsoft.com/office/drawing/2014/main" id="{C4B5742B-6929-46EA-207D-E63874542DFA}"/>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40" name="AutoShape 40">
            <a:extLst>
              <a:ext uri="{FF2B5EF4-FFF2-40B4-BE49-F238E27FC236}">
                <a16:creationId xmlns:a16="http://schemas.microsoft.com/office/drawing/2014/main" id="{0E4CFEED-0853-E506-611D-87C992FA5986}"/>
              </a:ext>
            </a:extLst>
          </p:cNvPr>
          <p:cNvSpPr/>
          <p:nvPr/>
        </p:nvSpPr>
        <p:spPr>
          <a:xfrm>
            <a:off x="2159267" y="6310817"/>
            <a:ext cx="0" cy="396795"/>
          </a:xfrm>
          <a:prstGeom prst="line">
            <a:avLst/>
          </a:prstGeom>
          <a:ln w="19050" cap="flat">
            <a:solidFill>
              <a:srgbClr val="BA97FC"/>
            </a:solidFill>
            <a:prstDash val="solid"/>
            <a:headEnd type="none" w="sm" len="sm"/>
            <a:tailEnd type="none" w="sm" len="sm"/>
          </a:ln>
        </p:spPr>
      </p:sp>
      <p:sp>
        <p:nvSpPr>
          <p:cNvPr id="41" name="TextBox 41">
            <a:extLst>
              <a:ext uri="{FF2B5EF4-FFF2-40B4-BE49-F238E27FC236}">
                <a16:creationId xmlns:a16="http://schemas.microsoft.com/office/drawing/2014/main" id="{AD3ACE43-0477-D0AD-CC09-1EA07FCD016D}"/>
              </a:ext>
            </a:extLst>
          </p:cNvPr>
          <p:cNvSpPr txBox="1"/>
          <p:nvPr/>
        </p:nvSpPr>
        <p:spPr>
          <a:xfrm>
            <a:off x="1348585" y="6312047"/>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03</a:t>
            </a:r>
          </a:p>
        </p:txBody>
      </p:sp>
      <p:sp>
        <p:nvSpPr>
          <p:cNvPr id="42" name="TextBox 42">
            <a:extLst>
              <a:ext uri="{FF2B5EF4-FFF2-40B4-BE49-F238E27FC236}">
                <a16:creationId xmlns:a16="http://schemas.microsoft.com/office/drawing/2014/main" id="{2F364F32-E5C3-6777-82CF-2F7631C68F68}"/>
              </a:ext>
            </a:extLst>
          </p:cNvPr>
          <p:cNvSpPr txBox="1"/>
          <p:nvPr/>
        </p:nvSpPr>
        <p:spPr>
          <a:xfrm>
            <a:off x="2317796" y="6320175"/>
            <a:ext cx="8609283" cy="348109"/>
          </a:xfrm>
          <a:prstGeom prst="rect">
            <a:avLst/>
          </a:prstGeom>
        </p:spPr>
        <p:txBody>
          <a:bodyPr wrap="square"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Các lỗi thường gặp và cách tránh</a:t>
            </a:r>
          </a:p>
        </p:txBody>
      </p:sp>
      <p:grpSp>
        <p:nvGrpSpPr>
          <p:cNvPr id="43" name="Group 43">
            <a:extLst>
              <a:ext uri="{FF2B5EF4-FFF2-40B4-BE49-F238E27FC236}">
                <a16:creationId xmlns:a16="http://schemas.microsoft.com/office/drawing/2014/main" id="{3FC6FC78-CAF3-EE51-5475-BDF4A7929996}"/>
              </a:ext>
            </a:extLst>
          </p:cNvPr>
          <p:cNvGrpSpPr/>
          <p:nvPr/>
        </p:nvGrpSpPr>
        <p:grpSpPr>
          <a:xfrm>
            <a:off x="1059180" y="7044025"/>
            <a:ext cx="10138495" cy="726721"/>
            <a:chOff x="0" y="0"/>
            <a:chExt cx="3096350" cy="221945"/>
          </a:xfrm>
        </p:grpSpPr>
        <p:sp>
          <p:nvSpPr>
            <p:cNvPr id="44" name="Freeform 44">
              <a:extLst>
                <a:ext uri="{FF2B5EF4-FFF2-40B4-BE49-F238E27FC236}">
                  <a16:creationId xmlns:a16="http://schemas.microsoft.com/office/drawing/2014/main" id="{CF819712-C6E0-8B21-A010-6E350CCB697D}"/>
                </a:ext>
              </a:extLst>
            </p:cNvPr>
            <p:cNvSpPr/>
            <p:nvPr/>
          </p:nvSpPr>
          <p:spPr>
            <a:xfrm>
              <a:off x="0" y="0"/>
              <a:ext cx="3096350" cy="221945"/>
            </a:xfrm>
            <a:custGeom>
              <a:avLst/>
              <a:gdLst/>
              <a:ahLst/>
              <a:cxnLst/>
              <a:rect l="l" t="t" r="r" b="b"/>
              <a:pathLst>
                <a:path w="3096350" h="221945">
                  <a:moveTo>
                    <a:pt x="11454" y="0"/>
                  </a:moveTo>
                  <a:lnTo>
                    <a:pt x="3084896" y="0"/>
                  </a:lnTo>
                  <a:cubicBezTo>
                    <a:pt x="3091222" y="0"/>
                    <a:pt x="3096350" y="5128"/>
                    <a:pt x="3096350" y="11454"/>
                  </a:cubicBezTo>
                  <a:lnTo>
                    <a:pt x="3096350" y="210490"/>
                  </a:lnTo>
                  <a:cubicBezTo>
                    <a:pt x="3096350" y="216816"/>
                    <a:pt x="3091222" y="221945"/>
                    <a:pt x="3084896" y="221945"/>
                  </a:cubicBezTo>
                  <a:lnTo>
                    <a:pt x="11454" y="221945"/>
                  </a:lnTo>
                  <a:cubicBezTo>
                    <a:pt x="5128" y="221945"/>
                    <a:pt x="0" y="216816"/>
                    <a:pt x="0" y="210490"/>
                  </a:cubicBezTo>
                  <a:lnTo>
                    <a:pt x="0" y="11454"/>
                  </a:lnTo>
                  <a:cubicBezTo>
                    <a:pt x="0" y="5128"/>
                    <a:pt x="5128" y="0"/>
                    <a:pt x="11454" y="0"/>
                  </a:cubicBezTo>
                  <a:close/>
                </a:path>
              </a:pathLst>
            </a:custGeom>
            <a:solidFill>
              <a:srgbClr val="FFFFFF"/>
            </a:solidFill>
            <a:ln w="19050" cap="sq">
              <a:solidFill>
                <a:srgbClr val="BA97FC"/>
              </a:solidFill>
              <a:prstDash val="solid"/>
              <a:miter/>
            </a:ln>
          </p:spPr>
        </p:sp>
        <p:sp>
          <p:nvSpPr>
            <p:cNvPr id="45" name="TextBox 45">
              <a:extLst>
                <a:ext uri="{FF2B5EF4-FFF2-40B4-BE49-F238E27FC236}">
                  <a16:creationId xmlns:a16="http://schemas.microsoft.com/office/drawing/2014/main" id="{683B3D5C-8D22-07A8-EF26-78D086AB519B}"/>
                </a:ext>
              </a:extLst>
            </p:cNvPr>
            <p:cNvSpPr txBox="1"/>
            <p:nvPr/>
          </p:nvSpPr>
          <p:spPr>
            <a:xfrm>
              <a:off x="0" y="-38100"/>
              <a:ext cx="3096350" cy="260045"/>
            </a:xfrm>
            <a:prstGeom prst="rect">
              <a:avLst/>
            </a:prstGeom>
          </p:spPr>
          <p:txBody>
            <a:bodyPr lIns="50800" tIns="50800" rIns="50800" bIns="50800" rtlCol="0" anchor="ctr"/>
            <a:lstStyle/>
            <a:p>
              <a:pPr algn="ctr">
                <a:lnSpc>
                  <a:spcPts val="2799"/>
                </a:lnSpc>
              </a:pPr>
              <a:endParaRPr/>
            </a:p>
          </p:txBody>
        </p:sp>
      </p:grpSp>
      <p:sp>
        <p:nvSpPr>
          <p:cNvPr id="46" name="AutoShape 46">
            <a:extLst>
              <a:ext uri="{FF2B5EF4-FFF2-40B4-BE49-F238E27FC236}">
                <a16:creationId xmlns:a16="http://schemas.microsoft.com/office/drawing/2014/main" id="{5F0DF693-FDD8-CE38-A385-7368B9F10019}"/>
              </a:ext>
            </a:extLst>
          </p:cNvPr>
          <p:cNvSpPr/>
          <p:nvPr/>
        </p:nvSpPr>
        <p:spPr>
          <a:xfrm>
            <a:off x="2159267" y="7208988"/>
            <a:ext cx="0" cy="396795"/>
          </a:xfrm>
          <a:prstGeom prst="line">
            <a:avLst/>
          </a:prstGeom>
          <a:ln w="19050" cap="flat">
            <a:solidFill>
              <a:srgbClr val="BA97FC"/>
            </a:solidFill>
            <a:prstDash val="solid"/>
            <a:headEnd type="none" w="sm" len="sm"/>
            <a:tailEnd type="none" w="sm" len="sm"/>
          </a:ln>
        </p:spPr>
      </p:sp>
      <p:sp>
        <p:nvSpPr>
          <p:cNvPr id="47" name="TextBox 47">
            <a:extLst>
              <a:ext uri="{FF2B5EF4-FFF2-40B4-BE49-F238E27FC236}">
                <a16:creationId xmlns:a16="http://schemas.microsoft.com/office/drawing/2014/main" id="{49FF93E8-C6CF-2D55-7E95-1471D3A891DC}"/>
              </a:ext>
            </a:extLst>
          </p:cNvPr>
          <p:cNvSpPr txBox="1"/>
          <p:nvPr/>
        </p:nvSpPr>
        <p:spPr>
          <a:xfrm>
            <a:off x="1348585" y="7210218"/>
            <a:ext cx="376295" cy="372745"/>
          </a:xfrm>
          <a:prstGeom prst="rect">
            <a:avLst/>
          </a:prstGeom>
        </p:spPr>
        <p:txBody>
          <a:bodyPr lIns="0" tIns="0" rIns="0" bIns="0" rtlCol="0" anchor="t">
            <a:spAutoFit/>
          </a:bodyPr>
          <a:lstStyle/>
          <a:p>
            <a:pPr algn="l">
              <a:lnSpc>
                <a:spcPts val="3079"/>
              </a:lnSpc>
            </a:pPr>
            <a:r>
              <a:rPr lang="en-US" sz="2199" b="1">
                <a:solidFill>
                  <a:srgbClr val="000000"/>
                </a:solidFill>
                <a:latin typeface="Noto Sans Bold"/>
                <a:ea typeface="Noto Sans Bold"/>
                <a:cs typeface="Noto Sans Bold"/>
                <a:sym typeface="Noto Sans Bold"/>
              </a:rPr>
              <a:t>04</a:t>
            </a:r>
          </a:p>
        </p:txBody>
      </p:sp>
      <p:sp>
        <p:nvSpPr>
          <p:cNvPr id="48" name="TextBox 48">
            <a:extLst>
              <a:ext uri="{FF2B5EF4-FFF2-40B4-BE49-F238E27FC236}">
                <a16:creationId xmlns:a16="http://schemas.microsoft.com/office/drawing/2014/main" id="{C587B36E-65FA-1D23-6001-EE95190DDE6B}"/>
              </a:ext>
            </a:extLst>
          </p:cNvPr>
          <p:cNvSpPr txBox="1"/>
          <p:nvPr/>
        </p:nvSpPr>
        <p:spPr>
          <a:xfrm>
            <a:off x="2317796" y="7218346"/>
            <a:ext cx="7737825" cy="348109"/>
          </a:xfrm>
          <a:prstGeom prst="rect">
            <a:avLst/>
          </a:prstGeom>
        </p:spPr>
        <p:txBody>
          <a:bodyPr wrap="square" lIns="0" tIns="0" rIns="0" bIns="0" rtlCol="0" anchor="t">
            <a:spAutoFit/>
          </a:bodyPr>
          <a:lstStyle/>
          <a:p>
            <a:pPr algn="l">
              <a:lnSpc>
                <a:spcPts val="2926"/>
              </a:lnSpc>
            </a:pPr>
            <a:r>
              <a:rPr lang="en-US" sz="2090" b="1">
                <a:solidFill>
                  <a:srgbClr val="000000"/>
                </a:solidFill>
                <a:latin typeface="Noto Sans Bold"/>
                <a:ea typeface="Noto Sans Bold"/>
                <a:cs typeface="Noto Sans Bold"/>
                <a:sym typeface="Noto Sans Bold"/>
              </a:rPr>
              <a:t>Kế hoạch và phương pháp kiểm thử</a:t>
            </a:r>
          </a:p>
        </p:txBody>
      </p:sp>
      <p:grpSp>
        <p:nvGrpSpPr>
          <p:cNvPr id="55" name="Group 55">
            <a:extLst>
              <a:ext uri="{FF2B5EF4-FFF2-40B4-BE49-F238E27FC236}">
                <a16:creationId xmlns:a16="http://schemas.microsoft.com/office/drawing/2014/main" id="{CD333766-EA6C-639D-DEE4-E7FD2883B1E7}"/>
              </a:ext>
            </a:extLst>
          </p:cNvPr>
          <p:cNvGrpSpPr/>
          <p:nvPr/>
        </p:nvGrpSpPr>
        <p:grpSpPr>
          <a:xfrm>
            <a:off x="1004357" y="441261"/>
            <a:ext cx="7162712" cy="649857"/>
            <a:chOff x="0" y="0"/>
            <a:chExt cx="1427911" cy="198470"/>
          </a:xfrm>
        </p:grpSpPr>
        <p:sp>
          <p:nvSpPr>
            <p:cNvPr id="56" name="Freeform 56">
              <a:extLst>
                <a:ext uri="{FF2B5EF4-FFF2-40B4-BE49-F238E27FC236}">
                  <a16:creationId xmlns:a16="http://schemas.microsoft.com/office/drawing/2014/main" id="{BA5DD213-CF8E-3860-007C-CB7301D3B107}"/>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7" name="TextBox 57">
              <a:extLst>
                <a:ext uri="{FF2B5EF4-FFF2-40B4-BE49-F238E27FC236}">
                  <a16:creationId xmlns:a16="http://schemas.microsoft.com/office/drawing/2014/main" id="{AE8988D9-D9AB-5C05-3B67-238E6C3B4C1C}"/>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8" name="Freeform 58">
            <a:extLst>
              <a:ext uri="{FF2B5EF4-FFF2-40B4-BE49-F238E27FC236}">
                <a16:creationId xmlns:a16="http://schemas.microsoft.com/office/drawing/2014/main" id="{38DE2840-1CC8-6BD0-B7D5-D640D1B1569F}"/>
              </a:ext>
            </a:extLst>
          </p:cNvPr>
          <p:cNvSpPr/>
          <p:nvPr/>
        </p:nvSpPr>
        <p:spPr>
          <a:xfrm>
            <a:off x="1357771" y="563413"/>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9" name="TextBox 59">
            <a:extLst>
              <a:ext uri="{FF2B5EF4-FFF2-40B4-BE49-F238E27FC236}">
                <a16:creationId xmlns:a16="http://schemas.microsoft.com/office/drawing/2014/main" id="{77F6A237-B538-79D5-854C-4C4BBB6BB28E}"/>
              </a:ext>
            </a:extLst>
          </p:cNvPr>
          <p:cNvSpPr txBox="1"/>
          <p:nvPr/>
        </p:nvSpPr>
        <p:spPr>
          <a:xfrm>
            <a:off x="2270971" y="531204"/>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spTree>
    <p:extLst>
      <p:ext uri="{BB962C8B-B14F-4D97-AF65-F5344CB8AC3E}">
        <p14:creationId xmlns:p14="http://schemas.microsoft.com/office/powerpoint/2010/main" val="34438454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EA0A7-174A-BDDD-7ECF-4E98E7116A4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439F302-25E6-94CE-0102-22CECEEEDE84}"/>
              </a:ext>
            </a:extLst>
          </p:cNvPr>
          <p:cNvGrpSpPr/>
          <p:nvPr/>
        </p:nvGrpSpPr>
        <p:grpSpPr>
          <a:xfrm>
            <a:off x="11922672" y="-453259"/>
            <a:ext cx="13716000" cy="10287000"/>
            <a:chOff x="0" y="0"/>
            <a:chExt cx="812800" cy="609600"/>
          </a:xfrm>
        </p:grpSpPr>
        <p:sp>
          <p:nvSpPr>
            <p:cNvPr id="3" name="Freeform 3">
              <a:extLst>
                <a:ext uri="{FF2B5EF4-FFF2-40B4-BE49-F238E27FC236}">
                  <a16:creationId xmlns:a16="http://schemas.microsoft.com/office/drawing/2014/main" id="{D6B7F334-EC33-3686-E9B6-291730A6A1BF}"/>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a:extLst>
                <a:ext uri="{FF2B5EF4-FFF2-40B4-BE49-F238E27FC236}">
                  <a16:creationId xmlns:a16="http://schemas.microsoft.com/office/drawing/2014/main" id="{C199DE50-FEE0-6009-C6CB-CA581486E537}"/>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07B0AFE2-3C4E-AF59-6200-83BA95EEE961}"/>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BA206968-4D30-4AFF-22C7-090DA0E0DDD7}"/>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419123D6-8B2D-F28E-3507-A37BFEBEAFDE}"/>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A7F9203-1A87-D779-7D0D-039CA11F7ACD}"/>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AB12BFDD-4041-29BA-3820-B568FB8B8209}"/>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5B1F440B-70A1-761F-62A0-AB1DB2F51103}"/>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178D9E97-C77A-09E3-1D6B-564B9D1C3A29}"/>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9A05882F-E20F-E897-7D6A-F3A9D42FE25B}"/>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B9D50EF0-280E-FB4E-8CE5-411115D51A58}"/>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AutoShape 14">
            <a:extLst>
              <a:ext uri="{FF2B5EF4-FFF2-40B4-BE49-F238E27FC236}">
                <a16:creationId xmlns:a16="http://schemas.microsoft.com/office/drawing/2014/main" id="{C8C9F248-9841-1748-98B3-5B580AAAEA79}"/>
              </a:ext>
            </a:extLst>
          </p:cNvPr>
          <p:cNvSpPr/>
          <p:nvPr/>
        </p:nvSpPr>
        <p:spPr>
          <a:xfrm>
            <a:off x="1006736" y="2729788"/>
            <a:ext cx="10138495" cy="0"/>
          </a:xfrm>
          <a:prstGeom prst="line">
            <a:avLst/>
          </a:prstGeom>
          <a:ln w="19050" cap="flat">
            <a:solidFill>
              <a:srgbClr val="000000"/>
            </a:solidFill>
            <a:prstDash val="solid"/>
            <a:headEnd type="none" w="sm" len="sm"/>
            <a:tailEnd type="none" w="sm" len="sm"/>
          </a:ln>
        </p:spPr>
      </p:sp>
      <p:grpSp>
        <p:nvGrpSpPr>
          <p:cNvPr id="15" name="Group 15">
            <a:extLst>
              <a:ext uri="{FF2B5EF4-FFF2-40B4-BE49-F238E27FC236}">
                <a16:creationId xmlns:a16="http://schemas.microsoft.com/office/drawing/2014/main" id="{91F41631-EB3B-9C27-E0D6-468C2B51CFB4}"/>
              </a:ext>
            </a:extLst>
          </p:cNvPr>
          <p:cNvGrpSpPr/>
          <p:nvPr/>
        </p:nvGrpSpPr>
        <p:grpSpPr>
          <a:xfrm>
            <a:off x="11640961" y="304912"/>
            <a:ext cx="11731896" cy="8798922"/>
            <a:chOff x="0" y="0"/>
            <a:chExt cx="812800" cy="609600"/>
          </a:xfrm>
        </p:grpSpPr>
        <p:sp>
          <p:nvSpPr>
            <p:cNvPr id="16" name="Freeform 16">
              <a:extLst>
                <a:ext uri="{FF2B5EF4-FFF2-40B4-BE49-F238E27FC236}">
                  <a16:creationId xmlns:a16="http://schemas.microsoft.com/office/drawing/2014/main" id="{09EA6915-5BC3-712E-DCF9-143E2F397631}"/>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7" name="TextBox 17">
              <a:extLst>
                <a:ext uri="{FF2B5EF4-FFF2-40B4-BE49-F238E27FC236}">
                  <a16:creationId xmlns:a16="http://schemas.microsoft.com/office/drawing/2014/main" id="{9472330B-D2D8-72DB-AB64-620BB88C1CFA}"/>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8" name="TextBox 18">
            <a:extLst>
              <a:ext uri="{FF2B5EF4-FFF2-40B4-BE49-F238E27FC236}">
                <a16:creationId xmlns:a16="http://schemas.microsoft.com/office/drawing/2014/main" id="{E86E6698-4B56-F575-C5C3-FB069B7A6D16}"/>
              </a:ext>
            </a:extLst>
          </p:cNvPr>
          <p:cNvSpPr txBox="1"/>
          <p:nvPr/>
        </p:nvSpPr>
        <p:spPr>
          <a:xfrm>
            <a:off x="1006736" y="1554601"/>
            <a:ext cx="12192944" cy="863600"/>
          </a:xfrm>
          <a:prstGeom prst="rect">
            <a:avLst/>
          </a:prstGeom>
        </p:spPr>
        <p:txBody>
          <a:bodyPr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Môi trường và cấu trúc</a:t>
            </a:r>
          </a:p>
        </p:txBody>
      </p:sp>
      <p:grpSp>
        <p:nvGrpSpPr>
          <p:cNvPr id="19" name="Group 19">
            <a:extLst>
              <a:ext uri="{FF2B5EF4-FFF2-40B4-BE49-F238E27FC236}">
                <a16:creationId xmlns:a16="http://schemas.microsoft.com/office/drawing/2014/main" id="{FED19D68-22C6-9A92-759D-21D9B27577CB}"/>
              </a:ext>
            </a:extLst>
          </p:cNvPr>
          <p:cNvGrpSpPr/>
          <p:nvPr/>
        </p:nvGrpSpPr>
        <p:grpSpPr>
          <a:xfrm>
            <a:off x="12069673" y="782942"/>
            <a:ext cx="11731896" cy="8798922"/>
            <a:chOff x="0" y="0"/>
            <a:chExt cx="812800" cy="609600"/>
          </a:xfrm>
        </p:grpSpPr>
        <p:sp>
          <p:nvSpPr>
            <p:cNvPr id="20" name="Freeform 20">
              <a:extLst>
                <a:ext uri="{FF2B5EF4-FFF2-40B4-BE49-F238E27FC236}">
                  <a16:creationId xmlns:a16="http://schemas.microsoft.com/office/drawing/2014/main" id="{05947244-C9CB-5200-B7F6-6BB29DB443FA}"/>
                </a:ext>
              </a:extLst>
            </p:cNvPr>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1" name="TextBox 21">
              <a:extLst>
                <a:ext uri="{FF2B5EF4-FFF2-40B4-BE49-F238E27FC236}">
                  <a16:creationId xmlns:a16="http://schemas.microsoft.com/office/drawing/2014/main" id="{486083D7-4808-F99C-53E2-3B6D8308F630}"/>
                </a:ext>
              </a:extLst>
            </p:cNvPr>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2" name="Freeform 22">
            <a:extLst>
              <a:ext uri="{FF2B5EF4-FFF2-40B4-BE49-F238E27FC236}">
                <a16:creationId xmlns:a16="http://schemas.microsoft.com/office/drawing/2014/main" id="{A28CC2B3-80EA-CFA9-0B8B-94C659CDFE45}"/>
              </a:ext>
            </a:extLst>
          </p:cNvPr>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a:extLst>
              <a:ext uri="{FF2B5EF4-FFF2-40B4-BE49-F238E27FC236}">
                <a16:creationId xmlns:a16="http://schemas.microsoft.com/office/drawing/2014/main" id="{472C9CC3-E3C9-B95D-04E8-0AB85F5742ED}"/>
              </a:ext>
            </a:extLst>
          </p:cNvPr>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24" name="Group 24">
            <a:extLst>
              <a:ext uri="{FF2B5EF4-FFF2-40B4-BE49-F238E27FC236}">
                <a16:creationId xmlns:a16="http://schemas.microsoft.com/office/drawing/2014/main" id="{C2F0E6AC-8227-2CA7-C8EA-9B171104CB8F}"/>
              </a:ext>
            </a:extLst>
          </p:cNvPr>
          <p:cNvGrpSpPr/>
          <p:nvPr/>
        </p:nvGrpSpPr>
        <p:grpSpPr>
          <a:xfrm>
            <a:off x="890681" y="2853375"/>
            <a:ext cx="12645480" cy="5490525"/>
            <a:chOff x="0" y="0"/>
            <a:chExt cx="2478455" cy="1685910"/>
          </a:xfrm>
        </p:grpSpPr>
        <p:sp>
          <p:nvSpPr>
            <p:cNvPr id="25" name="Freeform 25">
              <a:extLst>
                <a:ext uri="{FF2B5EF4-FFF2-40B4-BE49-F238E27FC236}">
                  <a16:creationId xmlns:a16="http://schemas.microsoft.com/office/drawing/2014/main" id="{63D58A3A-D10A-2BD9-95E9-607B06E90468}"/>
                </a:ext>
              </a:extLst>
            </p:cNvPr>
            <p:cNvSpPr/>
            <p:nvPr/>
          </p:nvSpPr>
          <p:spPr>
            <a:xfrm>
              <a:off x="0" y="0"/>
              <a:ext cx="2478456" cy="1685909"/>
            </a:xfrm>
            <a:custGeom>
              <a:avLst/>
              <a:gdLst/>
              <a:ahLst/>
              <a:cxnLst/>
              <a:rect l="l" t="t" r="r" b="b"/>
              <a:pathLst>
                <a:path w="2478456" h="1685909">
                  <a:moveTo>
                    <a:pt x="14310" y="0"/>
                  </a:moveTo>
                  <a:lnTo>
                    <a:pt x="2464146" y="0"/>
                  </a:lnTo>
                  <a:cubicBezTo>
                    <a:pt x="2467941" y="0"/>
                    <a:pt x="2471581" y="1508"/>
                    <a:pt x="2474264" y="4191"/>
                  </a:cubicBezTo>
                  <a:cubicBezTo>
                    <a:pt x="2476948" y="6875"/>
                    <a:pt x="2478456" y="10515"/>
                    <a:pt x="2478456" y="14310"/>
                  </a:cubicBezTo>
                  <a:lnTo>
                    <a:pt x="2478456" y="1671600"/>
                  </a:lnTo>
                  <a:cubicBezTo>
                    <a:pt x="2478456" y="1675395"/>
                    <a:pt x="2476948" y="1679035"/>
                    <a:pt x="2474264" y="1681718"/>
                  </a:cubicBezTo>
                  <a:cubicBezTo>
                    <a:pt x="2471581" y="1684402"/>
                    <a:pt x="2467941" y="1685909"/>
                    <a:pt x="2464146" y="1685909"/>
                  </a:cubicBezTo>
                  <a:lnTo>
                    <a:pt x="14310" y="1685909"/>
                  </a:lnTo>
                  <a:cubicBezTo>
                    <a:pt x="10515" y="1685909"/>
                    <a:pt x="6875" y="1684402"/>
                    <a:pt x="4191" y="1681718"/>
                  </a:cubicBezTo>
                  <a:cubicBezTo>
                    <a:pt x="1508" y="1679035"/>
                    <a:pt x="0" y="1675395"/>
                    <a:pt x="0" y="1671600"/>
                  </a:cubicBezTo>
                  <a:lnTo>
                    <a:pt x="0" y="14310"/>
                  </a:lnTo>
                  <a:cubicBezTo>
                    <a:pt x="0" y="10515"/>
                    <a:pt x="1508" y="6875"/>
                    <a:pt x="4191" y="4191"/>
                  </a:cubicBezTo>
                  <a:cubicBezTo>
                    <a:pt x="6875" y="1508"/>
                    <a:pt x="10515" y="0"/>
                    <a:pt x="14310" y="0"/>
                  </a:cubicBezTo>
                  <a:close/>
                </a:path>
              </a:pathLst>
            </a:custGeom>
            <a:solidFill>
              <a:srgbClr val="FFFFFF"/>
            </a:solidFill>
            <a:ln w="19050" cap="sq">
              <a:solidFill>
                <a:srgbClr val="BA97FC"/>
              </a:solidFill>
              <a:prstDash val="solid"/>
              <a:miter/>
            </a:ln>
          </p:spPr>
        </p:sp>
        <p:sp>
          <p:nvSpPr>
            <p:cNvPr id="26" name="TextBox 26">
              <a:extLst>
                <a:ext uri="{FF2B5EF4-FFF2-40B4-BE49-F238E27FC236}">
                  <a16:creationId xmlns:a16="http://schemas.microsoft.com/office/drawing/2014/main" id="{470F80D4-10A4-56DF-AA42-F3E80F2C5BA5}"/>
                </a:ext>
              </a:extLst>
            </p:cNvPr>
            <p:cNvSpPr txBox="1"/>
            <p:nvPr/>
          </p:nvSpPr>
          <p:spPr>
            <a:xfrm>
              <a:off x="0" y="-38100"/>
              <a:ext cx="2478455" cy="1724010"/>
            </a:xfrm>
            <a:prstGeom prst="rect">
              <a:avLst/>
            </a:prstGeom>
          </p:spPr>
          <p:txBody>
            <a:bodyPr lIns="50800" tIns="50800" rIns="50800" bIns="50800" rtlCol="0" anchor="ctr"/>
            <a:lstStyle/>
            <a:p>
              <a:pPr algn="ctr">
                <a:lnSpc>
                  <a:spcPts val="2799"/>
                </a:lnSpc>
              </a:pPr>
              <a:endParaRPr/>
            </a:p>
          </p:txBody>
        </p:sp>
      </p:grpSp>
      <p:grpSp>
        <p:nvGrpSpPr>
          <p:cNvPr id="27" name="Group 27">
            <a:extLst>
              <a:ext uri="{FF2B5EF4-FFF2-40B4-BE49-F238E27FC236}">
                <a16:creationId xmlns:a16="http://schemas.microsoft.com/office/drawing/2014/main" id="{3097D666-4101-F562-E2D5-BC9A2637911F}"/>
              </a:ext>
            </a:extLst>
          </p:cNvPr>
          <p:cNvGrpSpPr/>
          <p:nvPr/>
        </p:nvGrpSpPr>
        <p:grpSpPr>
          <a:xfrm>
            <a:off x="1203536" y="3687061"/>
            <a:ext cx="978217" cy="978217"/>
            <a:chOff x="0" y="0"/>
            <a:chExt cx="812800" cy="812800"/>
          </a:xfrm>
        </p:grpSpPr>
        <p:sp>
          <p:nvSpPr>
            <p:cNvPr id="28" name="Freeform 28">
              <a:extLst>
                <a:ext uri="{FF2B5EF4-FFF2-40B4-BE49-F238E27FC236}">
                  <a16:creationId xmlns:a16="http://schemas.microsoft.com/office/drawing/2014/main" id="{96A84EAA-9E1E-0F22-5B23-88E11FFFC36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0EFF"/>
            </a:solidFill>
          </p:spPr>
        </p:sp>
        <p:sp>
          <p:nvSpPr>
            <p:cNvPr id="29" name="TextBox 29">
              <a:extLst>
                <a:ext uri="{FF2B5EF4-FFF2-40B4-BE49-F238E27FC236}">
                  <a16:creationId xmlns:a16="http://schemas.microsoft.com/office/drawing/2014/main" id="{3F4EA290-ACF3-B4D3-D8F6-82FF43B7F65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Freeform 31">
            <a:extLst>
              <a:ext uri="{FF2B5EF4-FFF2-40B4-BE49-F238E27FC236}">
                <a16:creationId xmlns:a16="http://schemas.microsoft.com/office/drawing/2014/main" id="{511BD4C9-AB08-3FC6-9C3C-8866133C492B}"/>
              </a:ext>
            </a:extLst>
          </p:cNvPr>
          <p:cNvSpPr/>
          <p:nvPr/>
        </p:nvSpPr>
        <p:spPr>
          <a:xfrm>
            <a:off x="1380358" y="3985542"/>
            <a:ext cx="609500" cy="436623"/>
          </a:xfrm>
          <a:custGeom>
            <a:avLst/>
            <a:gdLst/>
            <a:ahLst/>
            <a:cxnLst/>
            <a:rect l="l" t="t" r="r" b="b"/>
            <a:pathLst>
              <a:path w="609500" h="436623">
                <a:moveTo>
                  <a:pt x="0" y="0"/>
                </a:moveTo>
                <a:lnTo>
                  <a:pt x="609499" y="0"/>
                </a:lnTo>
                <a:lnTo>
                  <a:pt x="609499" y="436623"/>
                </a:lnTo>
                <a:lnTo>
                  <a:pt x="0" y="43662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2" name="Freeform 32">
            <a:extLst>
              <a:ext uri="{FF2B5EF4-FFF2-40B4-BE49-F238E27FC236}">
                <a16:creationId xmlns:a16="http://schemas.microsoft.com/office/drawing/2014/main" id="{7485185F-67C9-71E4-32ED-8D37145CAB2D}"/>
              </a:ext>
            </a:extLst>
          </p:cNvPr>
          <p:cNvSpPr/>
          <p:nvPr/>
        </p:nvSpPr>
        <p:spPr>
          <a:xfrm>
            <a:off x="7214578" y="4854187"/>
            <a:ext cx="9710189" cy="9727876"/>
          </a:xfrm>
          <a:custGeom>
            <a:avLst/>
            <a:gdLst/>
            <a:ahLst/>
            <a:cxnLst/>
            <a:rect l="l" t="t" r="r" b="b"/>
            <a:pathLst>
              <a:path w="9710189" h="9727876">
                <a:moveTo>
                  <a:pt x="0" y="0"/>
                </a:moveTo>
                <a:lnTo>
                  <a:pt x="9710189" y="0"/>
                </a:lnTo>
                <a:lnTo>
                  <a:pt x="9710189" y="9727876"/>
                </a:lnTo>
                <a:lnTo>
                  <a:pt x="0" y="97278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Freeform 39">
            <a:extLst>
              <a:ext uri="{FF2B5EF4-FFF2-40B4-BE49-F238E27FC236}">
                <a16:creationId xmlns:a16="http://schemas.microsoft.com/office/drawing/2014/main" id="{86DB5C77-5DE3-275E-9B7B-325D18513012}"/>
              </a:ext>
            </a:extLst>
          </p:cNvPr>
          <p:cNvSpPr/>
          <p:nvPr/>
        </p:nvSpPr>
        <p:spPr>
          <a:xfrm>
            <a:off x="9864726" y="4690241"/>
            <a:ext cx="581743" cy="327891"/>
          </a:xfrm>
          <a:custGeom>
            <a:avLst/>
            <a:gdLst/>
            <a:ahLst/>
            <a:cxnLst/>
            <a:rect l="l" t="t" r="r" b="b"/>
            <a:pathLst>
              <a:path w="581743" h="327891">
                <a:moveTo>
                  <a:pt x="0" y="0"/>
                </a:moveTo>
                <a:lnTo>
                  <a:pt x="581743" y="0"/>
                </a:lnTo>
                <a:lnTo>
                  <a:pt x="581743" y="327892"/>
                </a:lnTo>
                <a:lnTo>
                  <a:pt x="0" y="3278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2" name="Freeform 52">
            <a:extLst>
              <a:ext uri="{FF2B5EF4-FFF2-40B4-BE49-F238E27FC236}">
                <a16:creationId xmlns:a16="http://schemas.microsoft.com/office/drawing/2014/main" id="{D2237536-D9FF-7585-C2DF-D7F94A3125D6}"/>
              </a:ext>
            </a:extLst>
          </p:cNvPr>
          <p:cNvSpPr/>
          <p:nvPr/>
        </p:nvSpPr>
        <p:spPr>
          <a:xfrm>
            <a:off x="9935620" y="6052637"/>
            <a:ext cx="439954" cy="439954"/>
          </a:xfrm>
          <a:custGeom>
            <a:avLst/>
            <a:gdLst/>
            <a:ahLst/>
            <a:cxnLst/>
            <a:rect l="l" t="t" r="r" b="b"/>
            <a:pathLst>
              <a:path w="439954" h="439954">
                <a:moveTo>
                  <a:pt x="0" y="0"/>
                </a:moveTo>
                <a:lnTo>
                  <a:pt x="439954" y="0"/>
                </a:lnTo>
                <a:lnTo>
                  <a:pt x="439954" y="439954"/>
                </a:lnTo>
                <a:lnTo>
                  <a:pt x="0" y="43995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4" name="TextBox 54">
            <a:extLst>
              <a:ext uri="{FF2B5EF4-FFF2-40B4-BE49-F238E27FC236}">
                <a16:creationId xmlns:a16="http://schemas.microsoft.com/office/drawing/2014/main" id="{9D989F76-FAA5-C7E1-1865-D82511F0BEC0}"/>
              </a:ext>
            </a:extLst>
          </p:cNvPr>
          <p:cNvSpPr txBox="1"/>
          <p:nvPr/>
        </p:nvSpPr>
        <p:spPr>
          <a:xfrm>
            <a:off x="2451213" y="3968903"/>
            <a:ext cx="7125136" cy="448841"/>
          </a:xfrm>
          <a:prstGeom prst="rect">
            <a:avLst/>
          </a:prstGeom>
        </p:spPr>
        <p:txBody>
          <a:bodyPr wrap="square" lIns="0" tIns="0" rIns="0" bIns="0" rtlCol="0" anchor="t">
            <a:spAutoFit/>
          </a:bodyPr>
          <a:lstStyle/>
          <a:p>
            <a:pPr algn="l">
              <a:lnSpc>
                <a:spcPts val="3499"/>
              </a:lnSpc>
            </a:pPr>
            <a:r>
              <a:rPr lang="en-US" sz="3200" b="1">
                <a:solidFill>
                  <a:srgbClr val="000000"/>
                </a:solidFill>
                <a:latin typeface="Noto Sans Bold"/>
                <a:ea typeface="Noto Sans Bold"/>
                <a:cs typeface="Noto Sans Bold"/>
                <a:sym typeface="Noto Sans Bold"/>
              </a:rPr>
              <a:t>Tóm tắt nội dung</a:t>
            </a:r>
          </a:p>
        </p:txBody>
      </p:sp>
      <p:sp>
        <p:nvSpPr>
          <p:cNvPr id="55" name="TextBox 55">
            <a:extLst>
              <a:ext uri="{FF2B5EF4-FFF2-40B4-BE49-F238E27FC236}">
                <a16:creationId xmlns:a16="http://schemas.microsoft.com/office/drawing/2014/main" id="{1A02A977-C579-3912-9248-80FDE72F0ABC}"/>
              </a:ext>
            </a:extLst>
          </p:cNvPr>
          <p:cNvSpPr txBox="1"/>
          <p:nvPr/>
        </p:nvSpPr>
        <p:spPr>
          <a:xfrm>
            <a:off x="2200356" y="4841647"/>
            <a:ext cx="10999324" cy="3016210"/>
          </a:xfrm>
          <a:prstGeom prst="rect">
            <a:avLst/>
          </a:prstGeom>
        </p:spPr>
        <p:txBody>
          <a:bodyPr wrap="square" lIns="0" tIns="0" rIns="0" bIns="0" rtlCol="0" anchor="t">
            <a:spAutoFit/>
          </a:bodyPr>
          <a:lstStyle/>
          <a:p>
            <a:pPr algn="just"/>
            <a:r>
              <a:rPr lang="vi-VN" sz="2800"/>
              <a:t>Thông tin hệ thống &amp; Môi trường phát triển</a:t>
            </a:r>
            <a:r>
              <a:rPr lang="en-US" sz="2800"/>
              <a:t>:</a:t>
            </a:r>
            <a:endParaRPr lang="vi-VN" sz="2800"/>
          </a:p>
          <a:p>
            <a:pPr marL="457200" indent="-457200" algn="just">
              <a:buFont typeface="Arial" panose="020B0604020202020204" pitchFamily="34" charset="0"/>
              <a:buChar char="•"/>
            </a:pPr>
            <a:r>
              <a:rPr lang="vi-VN" sz="2800"/>
              <a:t>Hệ điều hành: Microsoft Windows (10/11 - 64-bit).</a:t>
            </a:r>
          </a:p>
          <a:p>
            <a:pPr marL="457200" indent="-457200" algn="just">
              <a:buFont typeface="Arial" panose="020B0604020202020204" pitchFamily="34" charset="0"/>
              <a:buChar char="•"/>
            </a:pPr>
            <a:r>
              <a:rPr lang="vi-VN" sz="2800"/>
              <a:t>Môi trường soạn thảo (IDE): Visual Studio Code.</a:t>
            </a:r>
          </a:p>
          <a:p>
            <a:pPr marL="457200" indent="-457200" algn="just">
              <a:buFont typeface="Arial" panose="020B0604020202020204" pitchFamily="34" charset="0"/>
              <a:buChar char="•"/>
            </a:pPr>
            <a:r>
              <a:rPr lang="vi-VN" sz="2800"/>
              <a:t>Ngôn ngữ lập trình: Python 3.x (khuyến nghị Python 3.10 – 3.13).</a:t>
            </a:r>
          </a:p>
          <a:p>
            <a:pPr marL="457200" indent="-457200" algn="just">
              <a:buFont typeface="Arial" panose="020B0604020202020204" pitchFamily="34" charset="0"/>
              <a:buChar char="•"/>
            </a:pPr>
            <a:r>
              <a:rPr lang="vi-VN" sz="2800"/>
              <a:t>Môi trường ảo hóa: Virtual Environment (.venv) giúp cô lập các thư viện của dự án, tránh xung đột với các phiên bản cài đặt toàn cục trên máy.</a:t>
            </a:r>
          </a:p>
        </p:txBody>
      </p:sp>
      <p:grpSp>
        <p:nvGrpSpPr>
          <p:cNvPr id="71" name="Group 71">
            <a:extLst>
              <a:ext uri="{FF2B5EF4-FFF2-40B4-BE49-F238E27FC236}">
                <a16:creationId xmlns:a16="http://schemas.microsoft.com/office/drawing/2014/main" id="{62D1F42E-C389-CD3E-AF84-96FFCE58F734}"/>
              </a:ext>
            </a:extLst>
          </p:cNvPr>
          <p:cNvGrpSpPr/>
          <p:nvPr/>
        </p:nvGrpSpPr>
        <p:grpSpPr>
          <a:xfrm>
            <a:off x="1006736" y="476119"/>
            <a:ext cx="7162712" cy="649857"/>
            <a:chOff x="0" y="0"/>
            <a:chExt cx="1427911" cy="198470"/>
          </a:xfrm>
        </p:grpSpPr>
        <p:sp>
          <p:nvSpPr>
            <p:cNvPr id="72" name="Freeform 72">
              <a:extLst>
                <a:ext uri="{FF2B5EF4-FFF2-40B4-BE49-F238E27FC236}">
                  <a16:creationId xmlns:a16="http://schemas.microsoft.com/office/drawing/2014/main" id="{898D602E-E3AB-11B4-0374-21840A80651C}"/>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73" name="TextBox 73">
              <a:extLst>
                <a:ext uri="{FF2B5EF4-FFF2-40B4-BE49-F238E27FC236}">
                  <a16:creationId xmlns:a16="http://schemas.microsoft.com/office/drawing/2014/main" id="{01BCEC31-FD19-C72F-D861-0E522C7517C7}"/>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74" name="Freeform 74">
            <a:extLst>
              <a:ext uri="{FF2B5EF4-FFF2-40B4-BE49-F238E27FC236}">
                <a16:creationId xmlns:a16="http://schemas.microsoft.com/office/drawing/2014/main" id="{B141F00C-2DF3-3A1B-835F-4216699E723F}"/>
              </a:ext>
            </a:extLst>
          </p:cNvPr>
          <p:cNvSpPr/>
          <p:nvPr/>
        </p:nvSpPr>
        <p:spPr>
          <a:xfrm>
            <a:off x="1360150" y="598271"/>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5" name="TextBox 75">
            <a:extLst>
              <a:ext uri="{FF2B5EF4-FFF2-40B4-BE49-F238E27FC236}">
                <a16:creationId xmlns:a16="http://schemas.microsoft.com/office/drawing/2014/main" id="{0E6CBDBE-4980-B6F7-AAC9-CD0CB5836274}"/>
              </a:ext>
            </a:extLst>
          </p:cNvPr>
          <p:cNvSpPr txBox="1"/>
          <p:nvPr/>
        </p:nvSpPr>
        <p:spPr>
          <a:xfrm>
            <a:off x="2273350" y="566062"/>
            <a:ext cx="5896098" cy="422345"/>
          </a:xfrm>
          <a:prstGeom prst="rect">
            <a:avLst/>
          </a:prstGeom>
        </p:spPr>
        <p:txBody>
          <a:bodyPr lIns="0" tIns="0" rIns="0" bIns="0" rtlCol="0" anchor="t">
            <a:spAutoFit/>
          </a:bodyPr>
          <a:lstStyle/>
          <a:p>
            <a:pPr>
              <a:lnSpc>
                <a:spcPts val="3496"/>
              </a:lnSpc>
            </a:pPr>
            <a:r>
              <a:rPr lang="en-US" sz="2497">
                <a:solidFill>
                  <a:srgbClr val="000000"/>
                </a:solidFill>
                <a:latin typeface="Noto Sans"/>
                <a:ea typeface="Noto Sans"/>
                <a:cs typeface="Noto Sans"/>
                <a:sym typeface="Noto Sans"/>
              </a:rPr>
              <a:t>TRƯỜNG ĐẠI HỌC SƯ PHẠM HÀ NỘI 2</a:t>
            </a:r>
          </a:p>
        </p:txBody>
      </p:sp>
    </p:spTree>
    <p:extLst>
      <p:ext uri="{BB962C8B-B14F-4D97-AF65-F5344CB8AC3E}">
        <p14:creationId xmlns:p14="http://schemas.microsoft.com/office/powerpoint/2010/main" val="31062116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CDAFB-06BB-9D2D-92E4-03C0B46A388A}"/>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A38A8B6F-628B-D4A9-2487-D8B777D43A9D}"/>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A25729E5-6BA0-E522-2CFF-56CA329700F8}"/>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115EA960-1F33-42E9-011C-08AE54BFA9CB}"/>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5955CF15-646E-74CB-6846-46EDA9E684A0}"/>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0752905A-7634-6CBE-EDEA-B455A08AB76B}"/>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B39179D5-AF38-F8AF-D55A-B25C2C028E42}"/>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284FE575-F1C5-F797-DAFC-0AFA17A99B65}"/>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B4AEBA90-CE0A-9A80-A901-2199317114DF}"/>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799F17DF-70A1-6452-E099-7F379EEDC507}"/>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C9B551A1-7B27-970A-7341-DDA5D390454B}"/>
              </a:ext>
            </a:extLst>
          </p:cNvPr>
          <p:cNvSpPr txBox="1"/>
          <p:nvPr/>
        </p:nvSpPr>
        <p:spPr>
          <a:xfrm>
            <a:off x="1029366" y="1461176"/>
            <a:ext cx="13677234" cy="838819"/>
          </a:xfrm>
          <a:prstGeom prst="rect">
            <a:avLst/>
          </a:prstGeom>
        </p:spPr>
        <p:txBody>
          <a:bodyPr wrap="square"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Tầng dữ liệu cấu hình</a:t>
            </a:r>
          </a:p>
        </p:txBody>
      </p:sp>
      <p:sp>
        <p:nvSpPr>
          <p:cNvPr id="22" name="Freeform 22">
            <a:extLst>
              <a:ext uri="{FF2B5EF4-FFF2-40B4-BE49-F238E27FC236}">
                <a16:creationId xmlns:a16="http://schemas.microsoft.com/office/drawing/2014/main" id="{D5FE7B25-48A8-B8EB-EBC9-3BE78945F766}"/>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AE8C761B-8D12-0138-817E-6CE560EA7E0B}"/>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CBAC646B-01B8-B0CD-A7D7-C7D0892A3CBE}"/>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373CBDC8-570E-AA34-C51D-6ED3C0119CF4}"/>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4B36C0E2-E984-2C19-95E6-532B8029B43B}"/>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BFB4BE45-36E6-931C-E8FF-27CABC185FC2}"/>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15" name="Picture 14">
            <a:extLst>
              <a:ext uri="{FF2B5EF4-FFF2-40B4-BE49-F238E27FC236}">
                <a16:creationId xmlns:a16="http://schemas.microsoft.com/office/drawing/2014/main" id="{0DA70D8A-E673-4FBB-6417-9DCF19FC6D6D}"/>
              </a:ext>
            </a:extLst>
          </p:cNvPr>
          <p:cNvPicPr>
            <a:picLocks noChangeAspect="1"/>
          </p:cNvPicPr>
          <p:nvPr/>
        </p:nvPicPr>
        <p:blipFill>
          <a:blip r:embed="rId4"/>
          <a:stretch>
            <a:fillRect/>
          </a:stretch>
        </p:blipFill>
        <p:spPr>
          <a:xfrm>
            <a:off x="1061860" y="2434034"/>
            <a:ext cx="13075272" cy="7303765"/>
          </a:xfrm>
          <a:prstGeom prst="rect">
            <a:avLst/>
          </a:prstGeom>
        </p:spPr>
      </p:pic>
    </p:spTree>
    <p:extLst>
      <p:ext uri="{BB962C8B-B14F-4D97-AF65-F5344CB8AC3E}">
        <p14:creationId xmlns:p14="http://schemas.microsoft.com/office/powerpoint/2010/main" val="38595838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86C3F-3E5A-CC91-B9B8-3D9BA8AD7A92}"/>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06E88D2A-DCAE-C213-36A5-E15995DB8D4B}"/>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E5FE63D6-A1DE-D131-150F-F5B688E26494}"/>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947BA474-7A02-DB50-A8D9-F048EA647691}"/>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D0FD6EC4-CE43-84D5-2B05-78D9C705AAE8}"/>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09115BAD-B537-61B3-60F2-675A91E18C64}"/>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77EF04C0-332D-D5D7-DE10-A7C54868B5BA}"/>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77CBBB28-A106-AF4E-D21F-7B88E84D7FC5}"/>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0FA9E65B-ED98-954C-E177-A33E5B49CCC7}"/>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1243C8AD-D6E0-CE6D-CBF6-E2BC79FCB3E2}"/>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16910EA7-122E-9B19-F3E6-AFCB3EBD176C}"/>
              </a:ext>
            </a:extLst>
          </p:cNvPr>
          <p:cNvSpPr txBox="1"/>
          <p:nvPr/>
        </p:nvSpPr>
        <p:spPr>
          <a:xfrm>
            <a:off x="1029366" y="1461176"/>
            <a:ext cx="13677234" cy="838819"/>
          </a:xfrm>
          <a:prstGeom prst="rect">
            <a:avLst/>
          </a:prstGeom>
        </p:spPr>
        <p:txBody>
          <a:bodyPr wrap="square"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Các lỗi thường gặp và cách tránh</a:t>
            </a:r>
          </a:p>
        </p:txBody>
      </p:sp>
      <p:sp>
        <p:nvSpPr>
          <p:cNvPr id="22" name="Freeform 22">
            <a:extLst>
              <a:ext uri="{FF2B5EF4-FFF2-40B4-BE49-F238E27FC236}">
                <a16:creationId xmlns:a16="http://schemas.microsoft.com/office/drawing/2014/main" id="{EF82FA71-A912-A9D9-3479-9E064A2B69AA}"/>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ACE51F42-7288-FDE7-66A1-9D0A297AFCA0}"/>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97EE2059-3738-742E-6CE1-BB5DD874633F}"/>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26E3A461-8440-454F-FD99-15A6B718C93B}"/>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DA8662F5-52F0-6392-2CC6-CAC5EF3CE007}"/>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D7BB54ED-7B52-FBF9-CEA3-7ABF0B0266FB}"/>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14" name="Picture 13">
            <a:extLst>
              <a:ext uri="{FF2B5EF4-FFF2-40B4-BE49-F238E27FC236}">
                <a16:creationId xmlns:a16="http://schemas.microsoft.com/office/drawing/2014/main" id="{C85CAA38-1AF9-99E3-4C19-DC482F6AAFFD}"/>
              </a:ext>
            </a:extLst>
          </p:cNvPr>
          <p:cNvPicPr>
            <a:picLocks noChangeAspect="1"/>
          </p:cNvPicPr>
          <p:nvPr/>
        </p:nvPicPr>
        <p:blipFill>
          <a:blip r:embed="rId4"/>
          <a:stretch>
            <a:fillRect/>
          </a:stretch>
        </p:blipFill>
        <p:spPr>
          <a:xfrm>
            <a:off x="1029365" y="2360528"/>
            <a:ext cx="13206865" cy="7377272"/>
          </a:xfrm>
          <a:prstGeom prst="rect">
            <a:avLst/>
          </a:prstGeom>
        </p:spPr>
      </p:pic>
    </p:spTree>
    <p:extLst>
      <p:ext uri="{BB962C8B-B14F-4D97-AF65-F5344CB8AC3E}">
        <p14:creationId xmlns:p14="http://schemas.microsoft.com/office/powerpoint/2010/main" val="22911245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0D192-FA4F-63F7-28E2-192040740AD4}"/>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CC9CCD49-B3E6-2FFF-A006-6C69C0CC06C6}"/>
              </a:ext>
            </a:extLst>
          </p:cNvPr>
          <p:cNvGrpSpPr/>
          <p:nvPr/>
        </p:nvGrpSpPr>
        <p:grpSpPr>
          <a:xfrm>
            <a:off x="-6547945" y="9833741"/>
            <a:ext cx="13716000" cy="10287000"/>
            <a:chOff x="0" y="0"/>
            <a:chExt cx="812800" cy="609600"/>
          </a:xfrm>
        </p:grpSpPr>
        <p:sp>
          <p:nvSpPr>
            <p:cNvPr id="6" name="Freeform 6">
              <a:extLst>
                <a:ext uri="{FF2B5EF4-FFF2-40B4-BE49-F238E27FC236}">
                  <a16:creationId xmlns:a16="http://schemas.microsoft.com/office/drawing/2014/main" id="{A7D474DA-75CB-532E-84FB-0BA73493352B}"/>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a:extLst>
                <a:ext uri="{FF2B5EF4-FFF2-40B4-BE49-F238E27FC236}">
                  <a16:creationId xmlns:a16="http://schemas.microsoft.com/office/drawing/2014/main" id="{887DC375-0B64-47E0-C922-FA217B26A81C}"/>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6144F56D-9AF6-7B2B-68F9-D07BDEE1FF28}"/>
              </a:ext>
            </a:extLst>
          </p:cNvPr>
          <p:cNvGrpSpPr/>
          <p:nvPr/>
        </p:nvGrpSpPr>
        <p:grpSpPr>
          <a:xfrm>
            <a:off x="7168055" y="9833741"/>
            <a:ext cx="2046714" cy="1535036"/>
            <a:chOff x="0" y="0"/>
            <a:chExt cx="812800" cy="609600"/>
          </a:xfrm>
        </p:grpSpPr>
        <p:sp>
          <p:nvSpPr>
            <p:cNvPr id="9" name="Freeform 9">
              <a:extLst>
                <a:ext uri="{FF2B5EF4-FFF2-40B4-BE49-F238E27FC236}">
                  <a16:creationId xmlns:a16="http://schemas.microsoft.com/office/drawing/2014/main" id="{B78A6561-7001-3E54-D887-C475C0B22BD1}"/>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a:extLst>
                <a:ext uri="{FF2B5EF4-FFF2-40B4-BE49-F238E27FC236}">
                  <a16:creationId xmlns:a16="http://schemas.microsoft.com/office/drawing/2014/main" id="{67FE90CE-9DA2-5A12-7EB4-A62F7622EF22}"/>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91001E43-54FD-13CD-7FC6-E99A99906902}"/>
              </a:ext>
            </a:extLst>
          </p:cNvPr>
          <p:cNvGrpSpPr/>
          <p:nvPr/>
        </p:nvGrpSpPr>
        <p:grpSpPr>
          <a:xfrm>
            <a:off x="6869999" y="9833741"/>
            <a:ext cx="2046714" cy="1535036"/>
            <a:chOff x="0" y="0"/>
            <a:chExt cx="812800" cy="609600"/>
          </a:xfrm>
        </p:grpSpPr>
        <p:sp>
          <p:nvSpPr>
            <p:cNvPr id="12" name="Freeform 12">
              <a:extLst>
                <a:ext uri="{FF2B5EF4-FFF2-40B4-BE49-F238E27FC236}">
                  <a16:creationId xmlns:a16="http://schemas.microsoft.com/office/drawing/2014/main" id="{706E50FB-625C-B775-4138-1C9E8C2F4E38}"/>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a:extLst>
                <a:ext uri="{FF2B5EF4-FFF2-40B4-BE49-F238E27FC236}">
                  <a16:creationId xmlns:a16="http://schemas.microsoft.com/office/drawing/2014/main" id="{66839236-9C03-B5E5-CC9D-A8EE9F202D33}"/>
                </a:ext>
              </a:extLst>
            </p:cNvPr>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69A1F8C1-D7B6-7D78-E1E7-586C9228D52C}"/>
              </a:ext>
            </a:extLst>
          </p:cNvPr>
          <p:cNvSpPr txBox="1"/>
          <p:nvPr/>
        </p:nvSpPr>
        <p:spPr>
          <a:xfrm>
            <a:off x="1029366" y="1461176"/>
            <a:ext cx="13677234" cy="838819"/>
          </a:xfrm>
          <a:prstGeom prst="rect">
            <a:avLst/>
          </a:prstGeom>
        </p:spPr>
        <p:txBody>
          <a:bodyPr wrap="square" lIns="0" tIns="0" rIns="0" bIns="0" rtlCol="0" anchor="t">
            <a:spAutoFit/>
          </a:bodyPr>
          <a:lstStyle/>
          <a:p>
            <a:pPr algn="l">
              <a:lnSpc>
                <a:spcPts val="7000"/>
              </a:lnSpc>
            </a:pPr>
            <a:r>
              <a:rPr lang="en-US" sz="5000" b="1">
                <a:solidFill>
                  <a:srgbClr val="000000"/>
                </a:solidFill>
                <a:latin typeface="Noto Sans Bold"/>
                <a:ea typeface="Noto Sans Bold"/>
                <a:cs typeface="Noto Sans Bold"/>
                <a:sym typeface="Noto Sans Bold"/>
              </a:rPr>
              <a:t>Kế hoạch và phương pháp kiểm thử</a:t>
            </a:r>
          </a:p>
        </p:txBody>
      </p:sp>
      <p:sp>
        <p:nvSpPr>
          <p:cNvPr id="22" name="Freeform 22">
            <a:extLst>
              <a:ext uri="{FF2B5EF4-FFF2-40B4-BE49-F238E27FC236}">
                <a16:creationId xmlns:a16="http://schemas.microsoft.com/office/drawing/2014/main" id="{389C8C50-F0C2-39E1-9782-CDB30D88E07F}"/>
              </a:ext>
            </a:extLst>
          </p:cNvPr>
          <p:cNvSpPr/>
          <p:nvPr/>
        </p:nvSpPr>
        <p:spPr>
          <a:xfrm>
            <a:off x="14522231" y="3467100"/>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4" name="Group 54">
            <a:extLst>
              <a:ext uri="{FF2B5EF4-FFF2-40B4-BE49-F238E27FC236}">
                <a16:creationId xmlns:a16="http://schemas.microsoft.com/office/drawing/2014/main" id="{31D99E9D-198B-6436-2F22-4D1E3195BFD3}"/>
              </a:ext>
            </a:extLst>
          </p:cNvPr>
          <p:cNvGrpSpPr/>
          <p:nvPr/>
        </p:nvGrpSpPr>
        <p:grpSpPr>
          <a:xfrm>
            <a:off x="1029366" y="382694"/>
            <a:ext cx="7162712" cy="649857"/>
            <a:chOff x="0" y="0"/>
            <a:chExt cx="1427911" cy="198470"/>
          </a:xfrm>
        </p:grpSpPr>
        <p:sp>
          <p:nvSpPr>
            <p:cNvPr id="55" name="Freeform 55">
              <a:extLst>
                <a:ext uri="{FF2B5EF4-FFF2-40B4-BE49-F238E27FC236}">
                  <a16:creationId xmlns:a16="http://schemas.microsoft.com/office/drawing/2014/main" id="{46174AD0-FE82-4297-0329-CCE621AC279F}"/>
                </a:ext>
              </a:extLst>
            </p:cNvPr>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a:extLst>
                <a:ext uri="{FF2B5EF4-FFF2-40B4-BE49-F238E27FC236}">
                  <a16:creationId xmlns:a16="http://schemas.microsoft.com/office/drawing/2014/main" id="{A66EAB34-75DD-F2FF-C209-CA4D202B92DD}"/>
                </a:ext>
              </a:extLst>
            </p:cNvPr>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a:extLst>
              <a:ext uri="{FF2B5EF4-FFF2-40B4-BE49-F238E27FC236}">
                <a16:creationId xmlns:a16="http://schemas.microsoft.com/office/drawing/2014/main" id="{67AC77D6-042F-C42B-F243-A5FDAD01AD91}"/>
              </a:ext>
            </a:extLst>
          </p:cNvPr>
          <p:cNvSpPr/>
          <p:nvPr/>
        </p:nvSpPr>
        <p:spPr>
          <a:xfrm>
            <a:off x="1382780" y="504846"/>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6" name="TextBox 66">
            <a:extLst>
              <a:ext uri="{FF2B5EF4-FFF2-40B4-BE49-F238E27FC236}">
                <a16:creationId xmlns:a16="http://schemas.microsoft.com/office/drawing/2014/main" id="{DA077EDC-DF7B-6A35-DB6D-507692A2FA73}"/>
              </a:ext>
            </a:extLst>
          </p:cNvPr>
          <p:cNvSpPr txBox="1"/>
          <p:nvPr/>
        </p:nvSpPr>
        <p:spPr>
          <a:xfrm>
            <a:off x="2295980" y="472637"/>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pic>
        <p:nvPicPr>
          <p:cNvPr id="15" name="Picture 14">
            <a:extLst>
              <a:ext uri="{FF2B5EF4-FFF2-40B4-BE49-F238E27FC236}">
                <a16:creationId xmlns:a16="http://schemas.microsoft.com/office/drawing/2014/main" id="{C5D24267-92E8-6477-C18B-BA8BB80346E9}"/>
              </a:ext>
            </a:extLst>
          </p:cNvPr>
          <p:cNvPicPr>
            <a:picLocks noChangeAspect="1"/>
          </p:cNvPicPr>
          <p:nvPr/>
        </p:nvPicPr>
        <p:blipFill>
          <a:blip r:embed="rId4"/>
          <a:stretch>
            <a:fillRect/>
          </a:stretch>
        </p:blipFill>
        <p:spPr>
          <a:xfrm>
            <a:off x="1029366" y="2322854"/>
            <a:ext cx="13296234" cy="7427193"/>
          </a:xfrm>
          <a:prstGeom prst="rect">
            <a:avLst/>
          </a:prstGeom>
        </p:spPr>
      </p:pic>
    </p:spTree>
    <p:extLst>
      <p:ext uri="{BB962C8B-B14F-4D97-AF65-F5344CB8AC3E}">
        <p14:creationId xmlns:p14="http://schemas.microsoft.com/office/powerpoint/2010/main" val="17170403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922672" y="-453259"/>
            <a:ext cx="13716000" cy="10287000"/>
            <a:chOff x="0" y="0"/>
            <a:chExt cx="812800" cy="609600"/>
          </a:xfrm>
        </p:grpSpPr>
        <p:sp>
          <p:nvSpPr>
            <p:cNvPr id="3" name="Freeform 3"/>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4" name="TextBox 4"/>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547945" y="9833741"/>
            <a:ext cx="13716000" cy="10287000"/>
            <a:chOff x="0" y="0"/>
            <a:chExt cx="812800" cy="609600"/>
          </a:xfrm>
        </p:grpSpPr>
        <p:sp>
          <p:nvSpPr>
            <p:cNvPr id="6" name="Freeform 6"/>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004F"/>
            </a:solidFill>
          </p:spPr>
        </p:sp>
        <p:sp>
          <p:nvSpPr>
            <p:cNvPr id="7" name="TextBox 7"/>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7168055" y="9833741"/>
            <a:ext cx="2046714" cy="1535036"/>
            <a:chOff x="0" y="0"/>
            <a:chExt cx="812800" cy="609600"/>
          </a:xfrm>
        </p:grpSpPr>
        <p:sp>
          <p:nvSpPr>
            <p:cNvPr id="9" name="Freeform 9"/>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BA97FC"/>
            </a:solidFill>
          </p:spPr>
        </p:sp>
        <p:sp>
          <p:nvSpPr>
            <p:cNvPr id="10" name="TextBox 10"/>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869999" y="9833741"/>
            <a:ext cx="2046714" cy="1535036"/>
            <a:chOff x="0" y="0"/>
            <a:chExt cx="812800" cy="609600"/>
          </a:xfrm>
        </p:grpSpPr>
        <p:sp>
          <p:nvSpPr>
            <p:cNvPr id="12" name="Freeform 12"/>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D1B9FF"/>
            </a:solidFill>
          </p:spPr>
        </p:sp>
        <p:sp>
          <p:nvSpPr>
            <p:cNvPr id="13" name="TextBox 13"/>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1640961" y="304912"/>
            <a:ext cx="11731896" cy="8798922"/>
            <a:chOff x="0" y="0"/>
            <a:chExt cx="812800" cy="609600"/>
          </a:xfrm>
        </p:grpSpPr>
        <p:sp>
          <p:nvSpPr>
            <p:cNvPr id="15" name="Freeform 15"/>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D1B9FF"/>
            </a:solidFill>
          </p:spPr>
        </p:sp>
        <p:sp>
          <p:nvSpPr>
            <p:cNvPr id="16" name="TextBox 16"/>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17" name="TextBox 17"/>
          <p:cNvSpPr txBox="1"/>
          <p:nvPr/>
        </p:nvSpPr>
        <p:spPr>
          <a:xfrm>
            <a:off x="1028700" y="2788330"/>
            <a:ext cx="12325987" cy="2712153"/>
          </a:xfrm>
          <a:prstGeom prst="rect">
            <a:avLst/>
          </a:prstGeom>
        </p:spPr>
        <p:txBody>
          <a:bodyPr wrap="square" lIns="0" tIns="0" rIns="0" bIns="0" rtlCol="0" anchor="t">
            <a:spAutoFit/>
          </a:bodyPr>
          <a:lstStyle/>
          <a:p>
            <a:pPr algn="ctr">
              <a:lnSpc>
                <a:spcPts val="11200"/>
              </a:lnSpc>
            </a:pPr>
            <a:r>
              <a:rPr lang="en-US" sz="6000" b="1">
                <a:solidFill>
                  <a:srgbClr val="5F0EFF"/>
                </a:solidFill>
                <a:latin typeface="Noto Sans Bold"/>
                <a:ea typeface="Noto Sans Bold"/>
                <a:cs typeface="Noto Sans Bold"/>
                <a:sym typeface="Noto Sans Bold"/>
              </a:rPr>
              <a:t>CẢM ƠN THẦY CÔ VÀ CÁC BẠN ĐÃ LẮNG NGHE</a:t>
            </a:r>
          </a:p>
        </p:txBody>
      </p:sp>
      <p:grpSp>
        <p:nvGrpSpPr>
          <p:cNvPr id="18" name="Group 18"/>
          <p:cNvGrpSpPr/>
          <p:nvPr/>
        </p:nvGrpSpPr>
        <p:grpSpPr>
          <a:xfrm>
            <a:off x="12069673" y="782942"/>
            <a:ext cx="11731896" cy="8798922"/>
            <a:chOff x="0" y="0"/>
            <a:chExt cx="812800" cy="609600"/>
          </a:xfrm>
        </p:grpSpPr>
        <p:sp>
          <p:nvSpPr>
            <p:cNvPr id="19" name="Freeform 19"/>
            <p:cNvSpPr/>
            <p:nvPr/>
          </p:nvSpPr>
          <p:spPr>
            <a:xfrm>
              <a:off x="18427" y="0"/>
              <a:ext cx="775946" cy="609600"/>
            </a:xfrm>
            <a:custGeom>
              <a:avLst/>
              <a:gdLst/>
              <a:ahLst/>
              <a:cxnLst/>
              <a:rect l="l" t="t" r="r" b="b"/>
              <a:pathLst>
                <a:path w="775946" h="609600">
                  <a:moveTo>
                    <a:pt x="250763" y="0"/>
                  </a:moveTo>
                  <a:lnTo>
                    <a:pt x="728383" y="0"/>
                  </a:lnTo>
                  <a:cubicBezTo>
                    <a:pt x="743671" y="0"/>
                    <a:pt x="758028" y="7350"/>
                    <a:pt x="766968" y="19752"/>
                  </a:cubicBezTo>
                  <a:cubicBezTo>
                    <a:pt x="775907" y="32155"/>
                    <a:pt x="778340" y="48100"/>
                    <a:pt x="773505" y="62604"/>
                  </a:cubicBezTo>
                  <a:lnTo>
                    <a:pt x="612041" y="546996"/>
                  </a:lnTo>
                  <a:cubicBezTo>
                    <a:pt x="599579" y="584382"/>
                    <a:pt x="564591" y="609600"/>
                    <a:pt x="525183" y="609600"/>
                  </a:cubicBezTo>
                  <a:lnTo>
                    <a:pt x="47563" y="609600"/>
                  </a:lnTo>
                  <a:cubicBezTo>
                    <a:pt x="32274" y="609600"/>
                    <a:pt x="17918" y="602250"/>
                    <a:pt x="8978" y="589848"/>
                  </a:cubicBezTo>
                  <a:cubicBezTo>
                    <a:pt x="39" y="577445"/>
                    <a:pt x="-2394" y="561500"/>
                    <a:pt x="2441" y="546996"/>
                  </a:cubicBezTo>
                  <a:lnTo>
                    <a:pt x="163905" y="62604"/>
                  </a:lnTo>
                  <a:cubicBezTo>
                    <a:pt x="176367" y="25217"/>
                    <a:pt x="211355" y="0"/>
                    <a:pt x="250763" y="0"/>
                  </a:cubicBezTo>
                  <a:close/>
                </a:path>
              </a:pathLst>
            </a:custGeom>
            <a:solidFill>
              <a:srgbClr val="FBF9FF"/>
            </a:solidFill>
          </p:spPr>
        </p:sp>
        <p:sp>
          <p:nvSpPr>
            <p:cNvPr id="20" name="TextBox 20"/>
            <p:cNvSpPr txBox="1"/>
            <p:nvPr/>
          </p:nvSpPr>
          <p:spPr>
            <a:xfrm>
              <a:off x="101600" y="-38100"/>
              <a:ext cx="609600" cy="647700"/>
            </a:xfrm>
            <a:prstGeom prst="rect">
              <a:avLst/>
            </a:prstGeom>
          </p:spPr>
          <p:txBody>
            <a:bodyPr lIns="50800" tIns="50800" rIns="50800" bIns="50800" rtlCol="0" anchor="ctr"/>
            <a:lstStyle/>
            <a:p>
              <a:pPr algn="ctr">
                <a:lnSpc>
                  <a:spcPts val="2786"/>
                </a:lnSpc>
              </a:pPr>
              <a:endParaRPr/>
            </a:p>
          </p:txBody>
        </p:sp>
      </p:grpSp>
      <p:sp>
        <p:nvSpPr>
          <p:cNvPr id="21" name="Freeform 21"/>
          <p:cNvSpPr/>
          <p:nvPr/>
        </p:nvSpPr>
        <p:spPr>
          <a:xfrm>
            <a:off x="13927134" y="3478466"/>
            <a:ext cx="4008487" cy="4231608"/>
          </a:xfrm>
          <a:custGeom>
            <a:avLst/>
            <a:gdLst/>
            <a:ahLst/>
            <a:cxnLst/>
            <a:rect l="l" t="t" r="r" b="b"/>
            <a:pathLst>
              <a:path w="4008487" h="4231608">
                <a:moveTo>
                  <a:pt x="0" y="0"/>
                </a:moveTo>
                <a:lnTo>
                  <a:pt x="4008487" y="0"/>
                </a:lnTo>
                <a:lnTo>
                  <a:pt x="4008487" y="4231608"/>
                </a:lnTo>
                <a:lnTo>
                  <a:pt x="0" y="42316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2" name="Freeform 22"/>
          <p:cNvSpPr/>
          <p:nvPr/>
        </p:nvSpPr>
        <p:spPr>
          <a:xfrm>
            <a:off x="11167195" y="4279920"/>
            <a:ext cx="13899030" cy="9956760"/>
          </a:xfrm>
          <a:custGeom>
            <a:avLst/>
            <a:gdLst/>
            <a:ahLst/>
            <a:cxnLst/>
            <a:rect l="l" t="t" r="r" b="b"/>
            <a:pathLst>
              <a:path w="13899030" h="9956760">
                <a:moveTo>
                  <a:pt x="0" y="0"/>
                </a:moveTo>
                <a:lnTo>
                  <a:pt x="13899030" y="0"/>
                </a:lnTo>
                <a:lnTo>
                  <a:pt x="13899030" y="9956760"/>
                </a:lnTo>
                <a:lnTo>
                  <a:pt x="0" y="9956760"/>
                </a:lnTo>
                <a:lnTo>
                  <a:pt x="0" y="0"/>
                </a:lnTo>
                <a:close/>
              </a:path>
            </a:pathLst>
          </a:custGeom>
          <a:blipFill>
            <a:blip r:embed="rId3">
              <a:alphaModFix amt="16000"/>
            </a:blip>
            <a:stretch>
              <a:fillRect/>
            </a:stretch>
          </a:blipFill>
        </p:spPr>
      </p:sp>
      <p:grpSp>
        <p:nvGrpSpPr>
          <p:cNvPr id="54" name="Group 54"/>
          <p:cNvGrpSpPr/>
          <p:nvPr/>
        </p:nvGrpSpPr>
        <p:grpSpPr>
          <a:xfrm>
            <a:off x="1028700" y="1051515"/>
            <a:ext cx="7162712" cy="649857"/>
            <a:chOff x="0" y="0"/>
            <a:chExt cx="1427911" cy="198470"/>
          </a:xfrm>
        </p:grpSpPr>
        <p:sp>
          <p:nvSpPr>
            <p:cNvPr id="55" name="Freeform 55"/>
            <p:cNvSpPr/>
            <p:nvPr/>
          </p:nvSpPr>
          <p:spPr>
            <a:xfrm>
              <a:off x="0" y="0"/>
              <a:ext cx="1427911" cy="198470"/>
            </a:xfrm>
            <a:custGeom>
              <a:avLst/>
              <a:gdLst/>
              <a:ahLst/>
              <a:cxnLst/>
              <a:rect l="l" t="t" r="r" b="b"/>
              <a:pathLst>
                <a:path w="1427911" h="198470">
                  <a:moveTo>
                    <a:pt x="99235" y="0"/>
                  </a:moveTo>
                  <a:lnTo>
                    <a:pt x="1328676" y="0"/>
                  </a:lnTo>
                  <a:cubicBezTo>
                    <a:pt x="1354995" y="0"/>
                    <a:pt x="1380235" y="10455"/>
                    <a:pt x="1398845" y="29065"/>
                  </a:cubicBezTo>
                  <a:cubicBezTo>
                    <a:pt x="1417456" y="47675"/>
                    <a:pt x="1427911" y="72916"/>
                    <a:pt x="1427911" y="99235"/>
                  </a:cubicBezTo>
                  <a:lnTo>
                    <a:pt x="1427911" y="99235"/>
                  </a:lnTo>
                  <a:cubicBezTo>
                    <a:pt x="1427911" y="154041"/>
                    <a:pt x="1383482" y="198470"/>
                    <a:pt x="1328676" y="198470"/>
                  </a:cubicBezTo>
                  <a:lnTo>
                    <a:pt x="99235" y="198470"/>
                  </a:lnTo>
                  <a:cubicBezTo>
                    <a:pt x="44429" y="198470"/>
                    <a:pt x="0" y="154041"/>
                    <a:pt x="0" y="99235"/>
                  </a:cubicBezTo>
                  <a:lnTo>
                    <a:pt x="0" y="99235"/>
                  </a:lnTo>
                  <a:cubicBezTo>
                    <a:pt x="0" y="44429"/>
                    <a:pt x="44429" y="0"/>
                    <a:pt x="99235" y="0"/>
                  </a:cubicBezTo>
                  <a:close/>
                </a:path>
              </a:pathLst>
            </a:custGeom>
            <a:solidFill>
              <a:srgbClr val="F0E9FF"/>
            </a:solidFill>
            <a:ln cap="rnd">
              <a:noFill/>
              <a:prstDash val="solid"/>
              <a:round/>
            </a:ln>
          </p:spPr>
        </p:sp>
        <p:sp>
          <p:nvSpPr>
            <p:cNvPr id="56" name="TextBox 56"/>
            <p:cNvSpPr txBox="1"/>
            <p:nvPr/>
          </p:nvSpPr>
          <p:spPr>
            <a:xfrm>
              <a:off x="0" y="-38100"/>
              <a:ext cx="1427911" cy="236570"/>
            </a:xfrm>
            <a:prstGeom prst="rect">
              <a:avLst/>
            </a:prstGeom>
          </p:spPr>
          <p:txBody>
            <a:bodyPr lIns="50800" tIns="50800" rIns="50800" bIns="50800" rtlCol="0" anchor="ctr"/>
            <a:lstStyle/>
            <a:p>
              <a:pPr algn="ctr">
                <a:lnSpc>
                  <a:spcPts val="2659"/>
                </a:lnSpc>
              </a:pPr>
              <a:endParaRPr/>
            </a:p>
          </p:txBody>
        </p:sp>
      </p:grpSp>
      <p:sp>
        <p:nvSpPr>
          <p:cNvPr id="57" name="Freeform 57"/>
          <p:cNvSpPr/>
          <p:nvPr/>
        </p:nvSpPr>
        <p:spPr>
          <a:xfrm>
            <a:off x="1382114" y="1173667"/>
            <a:ext cx="756082" cy="405553"/>
          </a:xfrm>
          <a:custGeom>
            <a:avLst/>
            <a:gdLst/>
            <a:ahLst/>
            <a:cxnLst/>
            <a:rect l="l" t="t" r="r" b="b"/>
            <a:pathLst>
              <a:path w="756082" h="405553">
                <a:moveTo>
                  <a:pt x="0" y="0"/>
                </a:moveTo>
                <a:lnTo>
                  <a:pt x="756081" y="0"/>
                </a:lnTo>
                <a:lnTo>
                  <a:pt x="756081" y="405553"/>
                </a:lnTo>
                <a:lnTo>
                  <a:pt x="0" y="40555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8" name="TextBox 58"/>
          <p:cNvSpPr txBox="1"/>
          <p:nvPr/>
        </p:nvSpPr>
        <p:spPr>
          <a:xfrm>
            <a:off x="2295314" y="1141458"/>
            <a:ext cx="5896098" cy="422345"/>
          </a:xfrm>
          <a:prstGeom prst="rect">
            <a:avLst/>
          </a:prstGeom>
        </p:spPr>
        <p:txBody>
          <a:bodyPr lIns="0" tIns="0" rIns="0" bIns="0" rtlCol="0" anchor="t">
            <a:spAutoFit/>
          </a:bodyPr>
          <a:lstStyle/>
          <a:p>
            <a:pPr algn="l">
              <a:lnSpc>
                <a:spcPts val="3496"/>
              </a:lnSpc>
            </a:pPr>
            <a:r>
              <a:rPr lang="en-US" sz="2497">
                <a:solidFill>
                  <a:srgbClr val="000000"/>
                </a:solidFill>
                <a:latin typeface="Noto Sans"/>
                <a:ea typeface="Noto Sans"/>
                <a:cs typeface="Noto Sans"/>
                <a:sym typeface="Noto Sans"/>
              </a:rPr>
              <a:t>TRƯỜNG ĐẠI HỌC SƯ PHẠM HÀ NỘI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231</TotalTime>
  <Words>2244</Words>
  <Application>Microsoft Office PowerPoint</Application>
  <PresentationFormat>Custom</PresentationFormat>
  <Paragraphs>233</Paragraphs>
  <Slides>44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Noto Sans Bold</vt:lpstr>
      <vt:lpstr>Noto Sans Italics</vt:lpstr>
      <vt:lpstr>Noto Sans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Bảo Vệ Khóa Luận Tốt Nghiệp Tím Trắng Hiện Đại</dc:title>
  <cp:lastModifiedBy>ADMIN</cp:lastModifiedBy>
  <cp:revision>7</cp:revision>
  <dcterms:created xsi:type="dcterms:W3CDTF">2006-08-16T00:00:00Z</dcterms:created>
  <dcterms:modified xsi:type="dcterms:W3CDTF">2026-10-05T18:29:45Z</dcterms:modified>
  <dc:identifier>DAHXJqkSX1w</dc:identifier>
</cp:coreProperties>
</file>